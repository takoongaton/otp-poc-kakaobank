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454" r:id="rId1"/>
  </p:sldMasterIdLst>
  <p:notesMasterIdLst>
    <p:notesMasterId r:id="rId21"/>
  </p:notesMasterIdLst>
  <p:handoutMasterIdLst>
    <p:handoutMasterId r:id="rId22"/>
  </p:handoutMasterIdLst>
  <p:sldIdLst>
    <p:sldId id="274" r:id="rId2"/>
    <p:sldId id="2039" r:id="rId3"/>
    <p:sldId id="2999" r:id="rId4"/>
    <p:sldId id="2918" r:id="rId5"/>
    <p:sldId id="2824" r:id="rId6"/>
    <p:sldId id="2927" r:id="rId7"/>
    <p:sldId id="3000" r:id="rId8"/>
    <p:sldId id="3022" r:id="rId9"/>
    <p:sldId id="3018" r:id="rId10"/>
    <p:sldId id="3021" r:id="rId11"/>
    <p:sldId id="3005" r:id="rId12"/>
    <p:sldId id="3006" r:id="rId13"/>
    <p:sldId id="3013" r:id="rId14"/>
    <p:sldId id="3016" r:id="rId15"/>
    <p:sldId id="3014" r:id="rId16"/>
    <p:sldId id="3010" r:id="rId17"/>
    <p:sldId id="3015" r:id="rId18"/>
    <p:sldId id="3023" r:id="rId19"/>
    <p:sldId id="3020" r:id="rId20"/>
  </p:sldIdLst>
  <p:sldSz cx="12192000" cy="6858000"/>
  <p:notesSz cx="6797675" cy="992663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600" b="1" kern="1200">
        <a:solidFill>
          <a:schemeClr val="tx2"/>
        </a:solidFill>
        <a:latin typeface="Arial" charset="0"/>
        <a:ea typeface="굴림" charset="-127"/>
        <a:cs typeface="+mn-cs"/>
      </a:defRPr>
    </a:lvl1pPr>
    <a:lvl2pPr marL="457189" algn="l" rtl="0" fontAlgn="base" latinLnBrk="1">
      <a:spcBef>
        <a:spcPct val="0"/>
      </a:spcBef>
      <a:spcAft>
        <a:spcPct val="0"/>
      </a:spcAft>
      <a:defRPr kumimoji="1" sz="1600" b="1" kern="1200">
        <a:solidFill>
          <a:schemeClr val="tx2"/>
        </a:solidFill>
        <a:latin typeface="Arial" charset="0"/>
        <a:ea typeface="굴림" charset="-127"/>
        <a:cs typeface="+mn-cs"/>
      </a:defRPr>
    </a:lvl2pPr>
    <a:lvl3pPr marL="914377" algn="l" rtl="0" fontAlgn="base" latinLnBrk="1">
      <a:spcBef>
        <a:spcPct val="0"/>
      </a:spcBef>
      <a:spcAft>
        <a:spcPct val="0"/>
      </a:spcAft>
      <a:defRPr kumimoji="1" sz="1600" b="1" kern="1200">
        <a:solidFill>
          <a:schemeClr val="tx2"/>
        </a:solidFill>
        <a:latin typeface="Arial" charset="0"/>
        <a:ea typeface="굴림" charset="-127"/>
        <a:cs typeface="+mn-cs"/>
      </a:defRPr>
    </a:lvl3pPr>
    <a:lvl4pPr marL="1371566" algn="l" rtl="0" fontAlgn="base" latinLnBrk="1">
      <a:spcBef>
        <a:spcPct val="0"/>
      </a:spcBef>
      <a:spcAft>
        <a:spcPct val="0"/>
      </a:spcAft>
      <a:defRPr kumimoji="1" sz="1600" b="1" kern="1200">
        <a:solidFill>
          <a:schemeClr val="tx2"/>
        </a:solidFill>
        <a:latin typeface="Arial" charset="0"/>
        <a:ea typeface="굴림" charset="-127"/>
        <a:cs typeface="+mn-cs"/>
      </a:defRPr>
    </a:lvl4pPr>
    <a:lvl5pPr marL="1828754" algn="l" rtl="0" fontAlgn="base" latinLnBrk="1">
      <a:spcBef>
        <a:spcPct val="0"/>
      </a:spcBef>
      <a:spcAft>
        <a:spcPct val="0"/>
      </a:spcAft>
      <a:defRPr kumimoji="1" sz="1600" b="1" kern="1200">
        <a:solidFill>
          <a:schemeClr val="tx2"/>
        </a:solidFill>
        <a:latin typeface="Arial" charset="0"/>
        <a:ea typeface="굴림" charset="-127"/>
        <a:cs typeface="+mn-cs"/>
      </a:defRPr>
    </a:lvl5pPr>
    <a:lvl6pPr marL="2285943" algn="l" defTabSz="914377" rtl="0" eaLnBrk="1" latinLnBrk="1" hangingPunct="1">
      <a:defRPr kumimoji="1" sz="1600" b="1" kern="1200">
        <a:solidFill>
          <a:schemeClr val="tx2"/>
        </a:solidFill>
        <a:latin typeface="Arial" charset="0"/>
        <a:ea typeface="굴림" charset="-127"/>
        <a:cs typeface="+mn-cs"/>
      </a:defRPr>
    </a:lvl6pPr>
    <a:lvl7pPr marL="2743131" algn="l" defTabSz="914377" rtl="0" eaLnBrk="1" latinLnBrk="1" hangingPunct="1">
      <a:defRPr kumimoji="1" sz="1600" b="1" kern="1200">
        <a:solidFill>
          <a:schemeClr val="tx2"/>
        </a:solidFill>
        <a:latin typeface="Arial" charset="0"/>
        <a:ea typeface="굴림" charset="-127"/>
        <a:cs typeface="+mn-cs"/>
      </a:defRPr>
    </a:lvl7pPr>
    <a:lvl8pPr marL="3200320" algn="l" defTabSz="914377" rtl="0" eaLnBrk="1" latinLnBrk="1" hangingPunct="1">
      <a:defRPr kumimoji="1" sz="1600" b="1" kern="1200">
        <a:solidFill>
          <a:schemeClr val="tx2"/>
        </a:solidFill>
        <a:latin typeface="Arial" charset="0"/>
        <a:ea typeface="굴림" charset="-127"/>
        <a:cs typeface="+mn-cs"/>
      </a:defRPr>
    </a:lvl8pPr>
    <a:lvl9pPr marL="3657509" algn="l" defTabSz="914377" rtl="0" eaLnBrk="1" latinLnBrk="1" hangingPunct="1">
      <a:defRPr kumimoji="1" sz="1600" b="1" kern="1200">
        <a:solidFill>
          <a:schemeClr val="tx2"/>
        </a:solidFill>
        <a:latin typeface="Arial" charset="0"/>
        <a:ea typeface="굴림" charset="-127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87356EF1-AB3A-49B6-AF0B-B3B7798A3A7C}">
          <p14:sldIdLst>
            <p14:sldId id="274"/>
          </p14:sldIdLst>
        </p14:section>
        <p14:section name="history" id="{9129599B-319A-4C09-B0F2-934D21FCCD9A}">
          <p14:sldIdLst>
            <p14:sldId id="2039"/>
          </p14:sldIdLst>
        </p14:section>
        <p14:section name="요건 정의" id="{FFCD61BF-50AB-470D-A592-B79562293E0F}">
          <p14:sldIdLst>
            <p14:sldId id="2999"/>
            <p14:sldId id="2918"/>
          </p14:sldIdLst>
        </p14:section>
        <p14:section name="1. LOGIN PAGE" id="{01950F72-AD89-4E00-A928-9AA11345AA1D}">
          <p14:sldIdLst>
            <p14:sldId id="2824"/>
          </p14:sldIdLst>
        </p14:section>
        <p14:section name="초기 페이지" id="{29D98791-98A5-4C5B-9E56-771C2524A9FD}">
          <p14:sldIdLst>
            <p14:sldId id="2927"/>
            <p14:sldId id="3000"/>
          </p14:sldIdLst>
        </p14:section>
        <p14:section name="화면흐름도" id="{613AC3A6-C4D2-4C2E-BCFA-96501C0B480B}">
          <p14:sldIdLst>
            <p14:sldId id="3022"/>
          </p14:sldIdLst>
        </p14:section>
        <p14:section name="1 OTP 발급 인증" id="{75E301C7-D9F5-48FF-A41E-F670F54053E6}">
          <p14:sldIdLst>
            <p14:sldId id="3018"/>
            <p14:sldId id="3021"/>
          </p14:sldIdLst>
        </p14:section>
        <p14:section name="2 임시 OTP PIN 인증" id="{6EECC0D3-639A-4CE3-8966-2DA76B126CCB}">
          <p14:sldIdLst>
            <p14:sldId id="3005"/>
            <p14:sldId id="3006"/>
            <p14:sldId id="3013"/>
            <p14:sldId id="3016"/>
            <p14:sldId id="3014"/>
            <p14:sldId id="3010"/>
            <p14:sldId id="3015"/>
            <p14:sldId id="3023"/>
            <p14:sldId id="3020"/>
          </p14:sldIdLst>
        </p14:section>
      </p14:sectionLst>
    </p:ext>
    <p:ext uri="{EFAFB233-063F-42B5-8137-9DF3F51BA10A}">
      <p15:sldGuideLst xmlns:p15="http://schemas.microsoft.com/office/powerpoint/2012/main">
        <p15:guide id="12" pos="60" userDrawn="1">
          <p15:clr>
            <a:srgbClr val="A4A3A4"/>
          </p15:clr>
        </p15:guide>
        <p15:guide id="13" orient="horz" pos="2160">
          <p15:clr>
            <a:srgbClr val="A4A3A4"/>
          </p15:clr>
        </p15:guide>
        <p15:guide id="14" pos="3840" userDrawn="1">
          <p15:clr>
            <a:srgbClr val="A4A3A4"/>
          </p15:clr>
        </p15:guide>
        <p15:guide id="15" pos="7620" userDrawn="1">
          <p15:clr>
            <a:srgbClr val="A4A3A4"/>
          </p15:clr>
        </p15:guide>
        <p15:guide id="17" pos="5862" userDrawn="1">
          <p15:clr>
            <a:srgbClr val="A4A3A4"/>
          </p15:clr>
        </p15:guide>
        <p15:guide id="18" pos="108" userDrawn="1">
          <p15:clr>
            <a:srgbClr val="A4A3A4"/>
          </p15:clr>
        </p15:guide>
        <p15:guide id="19" pos="1255" userDrawn="1">
          <p15:clr>
            <a:srgbClr val="A4A3A4"/>
          </p15:clr>
        </p15:guide>
        <p15:guide id="20" pos="297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6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70C0"/>
    <a:srgbClr val="92D050"/>
    <a:srgbClr val="FEE500"/>
    <a:srgbClr val="001F59"/>
    <a:srgbClr val="7F7F7F"/>
    <a:srgbClr val="F8F9FB"/>
    <a:srgbClr val="FFFFFF"/>
    <a:srgbClr val="F7F9FA"/>
    <a:srgbClr val="FFC000"/>
    <a:srgbClr val="F582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B9631B5-78F2-41C9-869B-9F39066F8104}" styleName="보통 스타일 3 - 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어두운 스타일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03447BB-5D67-496B-8E87-E561075AD55C}" styleName="어두운 스타일 1 - 강조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73" autoAdjust="0"/>
    <p:restoredTop sz="96173" autoAdjust="0"/>
  </p:normalViewPr>
  <p:slideViewPr>
    <p:cSldViewPr>
      <p:cViewPr varScale="1">
        <p:scale>
          <a:sx n="191" d="100"/>
          <a:sy n="191" d="100"/>
        </p:scale>
        <p:origin x="888" y="134"/>
      </p:cViewPr>
      <p:guideLst>
        <p:guide pos="60"/>
        <p:guide orient="horz" pos="2160"/>
        <p:guide pos="3840"/>
        <p:guide pos="7620"/>
        <p:guide pos="5862"/>
        <p:guide pos="108"/>
        <p:guide pos="1255"/>
        <p:guide pos="297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5194"/>
    </p:cViewPr>
  </p:sorterViewPr>
  <p:notesViewPr>
    <p:cSldViewPr>
      <p:cViewPr varScale="1">
        <p:scale>
          <a:sx n="77" d="100"/>
          <a:sy n="77" d="100"/>
        </p:scale>
        <p:origin x="3144" y="114"/>
      </p:cViewPr>
      <p:guideLst>
        <p:guide orient="horz" pos="3126"/>
        <p:guide pos="2141"/>
      </p:guideLst>
    </p:cSldViewPr>
  </p:notes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9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2945862" cy="4957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210" tIns="44105" rIns="88210" bIns="44105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809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0294" y="2"/>
            <a:ext cx="2945862" cy="4957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210" tIns="44105" rIns="88210" bIns="44105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A9DA9970-48ED-4E42-81EB-68F13E5D77B3}" type="datetimeFigureOut">
              <a:rPr lang="ko-KR" altLang="en-US"/>
              <a:pPr>
                <a:defRPr/>
              </a:pPr>
              <a:t>2025-12-12</a:t>
            </a:fld>
            <a:endParaRPr lang="en-US" altLang="ko-KR"/>
          </a:p>
        </p:txBody>
      </p:sp>
      <p:sp>
        <p:nvSpPr>
          <p:cNvPr id="3809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306"/>
            <a:ext cx="2945862" cy="4957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210" tIns="44105" rIns="88210" bIns="44105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 b="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809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0294" y="9429306"/>
            <a:ext cx="2945862" cy="4957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88210" tIns="44105" rIns="88210" bIns="44105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solidFill>
                  <a:schemeClr val="tx1"/>
                </a:solidFill>
                <a:latin typeface="굴림" charset="-127"/>
                <a:ea typeface="굴림" charset="-127"/>
              </a:defRPr>
            </a:lvl1pPr>
          </a:lstStyle>
          <a:p>
            <a:pPr>
              <a:defRPr/>
            </a:pPr>
            <a:fld id="{12562845-0ECB-4C54-8A81-C67C5D7B70B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2162849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2"/>
            <a:ext cx="2945862" cy="4957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5" rIns="95549" bIns="47775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3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0294" y="2"/>
            <a:ext cx="2945862" cy="4957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5" rIns="95549" bIns="47775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12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2075" y="744538"/>
            <a:ext cx="6613525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79465" y="4714653"/>
            <a:ext cx="5438748" cy="44667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5" rIns="95549" bIns="4777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306"/>
            <a:ext cx="2945862" cy="4957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5" rIns="95549" bIns="47775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3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0294" y="9429306"/>
            <a:ext cx="2945862" cy="4957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5" rIns="95549" bIns="47775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 b="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B25D5B6D-D6DD-4DE8-AE3F-B7A6E3FA97F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11323217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MS PGothic" pitchFamily="34" charset="-128"/>
        <a:cs typeface="굴림" charset="0"/>
      </a:defRPr>
    </a:lvl1pPr>
    <a:lvl2pPr marL="457189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굴림" charset="0"/>
      </a:defRPr>
    </a:lvl2pPr>
    <a:lvl3pPr marL="914377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굴림" charset="0"/>
      </a:defRPr>
    </a:lvl3pPr>
    <a:lvl4pPr marL="1371566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굴림" charset="0"/>
      </a:defRPr>
    </a:lvl4pPr>
    <a:lvl5pPr marL="1828754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charset="-127"/>
        <a:ea typeface="굴림" charset="-127"/>
        <a:cs typeface="굴림" charset="0"/>
      </a:defRPr>
    </a:lvl5pPr>
    <a:lvl6pPr marL="2285943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0488" y="744538"/>
            <a:ext cx="6616700" cy="3721100"/>
          </a:xfrm>
          <a:ln/>
        </p:spPr>
      </p:sp>
      <p:sp>
        <p:nvSpPr>
          <p:cNvPr id="14338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>
              <a:cs typeface="굴림" charset="-127"/>
            </a:endParaRPr>
          </a:p>
        </p:txBody>
      </p:sp>
      <p:sp>
        <p:nvSpPr>
          <p:cNvPr id="14339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E47B35-8824-43C5-AB0F-6DB848179E60}" type="slidenum">
              <a:rPr lang="en-US" altLang="ko-KR" smtClean="0">
                <a:latin typeface="굴림" charset="-127"/>
                <a:ea typeface="굴림" charset="-127"/>
              </a:rPr>
              <a:pPr/>
              <a:t>1</a:t>
            </a:fld>
            <a:endParaRPr lang="en-US" altLang="ko-KR">
              <a:latin typeface="굴림" charset="-127"/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103138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0488" y="744538"/>
            <a:ext cx="6616700" cy="3721100"/>
          </a:xfrm>
          <a:ln/>
        </p:spPr>
      </p:sp>
      <p:sp>
        <p:nvSpPr>
          <p:cNvPr id="14338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>
              <a:cs typeface="굴림" charset="-127"/>
            </a:endParaRPr>
          </a:p>
        </p:txBody>
      </p:sp>
      <p:sp>
        <p:nvSpPr>
          <p:cNvPr id="14339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39E47B35-8824-43C5-AB0F-6DB848179E60}" type="slidenum">
              <a:rPr lang="en-US" altLang="ko-KR" smtClean="0">
                <a:latin typeface="굴림" charset="-127"/>
                <a:ea typeface="굴림" charset="-127"/>
              </a:rPr>
              <a:pPr/>
              <a:t>5</a:t>
            </a:fld>
            <a:endParaRPr lang="en-US" altLang="ko-KR">
              <a:latin typeface="굴림" charset="-127"/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912742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63015-02E7-1CAF-FCB2-CA3D5C2942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5A7C873-256D-0B9C-D4CC-D8755C5E72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7580BE9-1F4F-2171-BE68-CDAC961D39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B87E43-1B46-6D0B-04A1-CB2ADD90F1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25D5B6D-D6DD-4DE8-AE3F-B7A6E3FA97F7}" type="slidenum">
              <a:rPr lang="en-US" altLang="ko-KR" smtClean="0"/>
              <a:pPr>
                <a:defRPr/>
              </a:pPr>
              <a:t>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060500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84E187-D45C-9949-735E-E28A8B11A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F9042E3-94B5-AF83-A0D6-18D74BF498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D7FB89C-F3F6-A9A7-D909-791D61EA12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36C757-6242-5A69-E8B2-5ED4505735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25D5B6D-D6DD-4DE8-AE3F-B7A6E3FA97F7}" type="slidenum">
              <a:rPr lang="en-US" altLang="ko-KR" smtClean="0"/>
              <a:pPr>
                <a:defRPr/>
              </a:pPr>
              <a:t>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750488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8968A-1EB3-E823-797C-4C25FC21B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94B09B9-D2FF-CD82-A610-8E0C61C19E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7D9F17-E14E-B1F2-3F42-70544893A9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6D501C-E22C-E1F9-C688-726C3A418F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25D5B6D-D6DD-4DE8-AE3F-B7A6E3FA97F7}" type="slidenum">
              <a:rPr lang="en-US" altLang="ko-KR" smtClean="0"/>
              <a:pPr>
                <a:defRPr/>
              </a:pPr>
              <a:t>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429770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9FBF2-C718-A85A-7CD7-082BD7F09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5191473-E5A7-657C-DE84-3BFC53A3B1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9FEAAD0-72A3-A514-E015-91BE8068C8D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1A8D269-E54B-78C8-C40E-4F958C9AB3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25D5B6D-D6DD-4DE8-AE3F-B7A6E3FA97F7}" type="slidenum">
              <a:rPr lang="en-US" altLang="ko-KR" smtClean="0"/>
              <a:pPr>
                <a:defRPr/>
              </a:pPr>
              <a:t>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8229370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A7EDFD-CE1F-671A-5809-59D910887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C3B8F7E-0F29-32B3-8668-2DF73BF48D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46FD9D1-5DDA-85FE-1C2D-8E4DB7809B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9A02A4D-9079-E9D6-03F7-A0F87336DE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25D5B6D-D6DD-4DE8-AE3F-B7A6E3FA97F7}" type="slidenum">
              <a:rPr lang="en-US" altLang="ko-KR" smtClean="0"/>
              <a:pPr>
                <a:defRPr/>
              </a:pPr>
              <a:t>10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949638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040FA7-8F3B-AF69-8AD3-CB089F649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CCB6F79-1A5C-722C-8540-422173553B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AD0B503-E21D-8B79-9DBA-558B37ACC8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6FEDF8-2C3B-8CAC-D900-5D75678D10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25D5B6D-D6DD-4DE8-AE3F-B7A6E3FA97F7}" type="slidenum">
              <a:rPr lang="en-US" altLang="ko-KR" smtClean="0"/>
              <a:pPr>
                <a:defRPr/>
              </a:pPr>
              <a:t>11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925476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1D91F-05B8-5C11-40DA-E149C2A5F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971A4FF-EF93-5499-6D97-3B0B562CDA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97F36B9-F487-B7E9-5236-D467CD1AAE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988332-185C-CA81-9E9C-00C1808573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25D5B6D-D6DD-4DE8-AE3F-B7A6E3FA97F7}" type="slidenum">
              <a:rPr lang="en-US" altLang="ko-KR" smtClean="0"/>
              <a:pPr>
                <a:defRPr/>
              </a:pPr>
              <a:t>12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677246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9C9BC-7169-6F1A-41A5-45CBC5513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00016D6-E47A-ADC6-AD10-C68C15EAA9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D1F118B-8338-4DB5-2C1D-4120F06369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91DC91-DAFE-F7F1-2095-301A3D010A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25D5B6D-D6DD-4DE8-AE3F-B7A6E3FA97F7}" type="slidenum">
              <a:rPr lang="en-US" altLang="ko-KR" smtClean="0"/>
              <a:pPr>
                <a:defRPr/>
              </a:pPr>
              <a:t>13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671081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71DB4-7F30-E196-6A50-7C84238BE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9D52E51-A6C5-2617-41B3-B69C984879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F7DEF50-81DE-F22F-F9C4-CBDBE4803C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D8709A7-08EE-E3BD-42D7-5C06C7FFF5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25D5B6D-D6DD-4DE8-AE3F-B7A6E3FA97F7}" type="slidenum">
              <a:rPr lang="en-US" altLang="ko-KR" smtClean="0"/>
              <a:pPr>
                <a:defRPr/>
              </a:pPr>
              <a:t>14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924862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3669A3-94A1-052F-85C7-BA17198C9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A1A69A2-3C2A-5252-A9F1-8E4D96385B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A2D872C-8020-B2E5-B11D-EBAF96F2EB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0D7CC9D-1D99-1052-2C97-CF76D29B45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25D5B6D-D6DD-4DE8-AE3F-B7A6E3FA97F7}" type="slidenum">
              <a:rPr lang="en-US" altLang="ko-KR" smtClean="0"/>
              <a:pPr>
                <a:defRPr/>
              </a:pPr>
              <a:t>15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8740965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324AA-704E-AFB9-C3BC-B936BC2D9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62324F5-0DC0-5946-9796-321E1B81C5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7B5816E-2C34-4845-813E-94FDDC76CB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DDF99B-482D-81A3-0053-E3031AF5B2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25D5B6D-D6DD-4DE8-AE3F-B7A6E3FA97F7}" type="slidenum">
              <a:rPr lang="en-US" altLang="ko-KR" smtClean="0"/>
              <a:pPr>
                <a:defRPr/>
              </a:pPr>
              <a:t>16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3136117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7AEB8-29CD-3E2F-D9CD-AA27D9A3CA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25CDD8E-EE38-3312-50D6-E3830E30B7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60C3BF6-9B82-DA74-8544-EB52F60641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C9AAE7-3D02-6D76-4621-D5F1050B2B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25D5B6D-D6DD-4DE8-AE3F-B7A6E3FA97F7}" type="slidenum">
              <a:rPr lang="en-US" altLang="ko-KR" smtClean="0"/>
              <a:pPr>
                <a:defRPr/>
              </a:pPr>
              <a:t>17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426844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2092C-DF86-60C6-7B9B-F5F94DC32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2E4B75C-4B0C-2496-8A33-ADD705F030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CE6ECCC-7C92-E066-EBD6-9F126066F8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4DDFC2-CAE0-988E-68F5-C52BEB98E5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25D5B6D-D6DD-4DE8-AE3F-B7A6E3FA97F7}" type="slidenum">
              <a:rPr lang="en-US" altLang="ko-KR" smtClean="0"/>
              <a:pPr>
                <a:defRPr/>
              </a:pPr>
              <a:t>18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91769575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1DA0D-116B-B61E-35EA-C95D8A5ACE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AF4201D-781F-F4A5-7638-8A13C8752C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E605E89-F8EE-2340-5361-D6F6B133DB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908D968-3537-83A7-2627-6EF411D11E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B25D5B6D-D6DD-4DE8-AE3F-B7A6E3FA97F7}" type="slidenum">
              <a:rPr lang="en-US" altLang="ko-KR" smtClean="0"/>
              <a:pPr>
                <a:defRPr/>
              </a:pPr>
              <a:t>19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697117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4809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" name="표 2">
            <a:extLst>
              <a:ext uri="{FF2B5EF4-FFF2-40B4-BE49-F238E27FC236}">
                <a16:creationId xmlns:a16="http://schemas.microsoft.com/office/drawing/2014/main" id="{B891A510-C4BB-4A96-B173-2C1CFE4D12B4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1" y="-253"/>
          <a:ext cx="12192006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094">
                  <a:extLst>
                    <a:ext uri="{9D8B030D-6E8A-4147-A177-3AD203B41FA5}">
                      <a16:colId xmlns:a16="http://schemas.microsoft.com/office/drawing/2014/main" val="3265325356"/>
                    </a:ext>
                  </a:extLst>
                </a:gridCol>
                <a:gridCol w="1175094">
                  <a:extLst>
                    <a:ext uri="{9D8B030D-6E8A-4147-A177-3AD203B41FA5}">
                      <a16:colId xmlns:a16="http://schemas.microsoft.com/office/drawing/2014/main" val="135697684"/>
                    </a:ext>
                  </a:extLst>
                </a:gridCol>
                <a:gridCol w="1175094">
                  <a:extLst>
                    <a:ext uri="{9D8B030D-6E8A-4147-A177-3AD203B41FA5}">
                      <a16:colId xmlns:a16="http://schemas.microsoft.com/office/drawing/2014/main" val="2966591689"/>
                    </a:ext>
                  </a:extLst>
                </a:gridCol>
                <a:gridCol w="1175094">
                  <a:extLst>
                    <a:ext uri="{9D8B030D-6E8A-4147-A177-3AD203B41FA5}">
                      <a16:colId xmlns:a16="http://schemas.microsoft.com/office/drawing/2014/main" val="3259380494"/>
                    </a:ext>
                  </a:extLst>
                </a:gridCol>
                <a:gridCol w="1175094">
                  <a:extLst>
                    <a:ext uri="{9D8B030D-6E8A-4147-A177-3AD203B41FA5}">
                      <a16:colId xmlns:a16="http://schemas.microsoft.com/office/drawing/2014/main" val="3977685915"/>
                    </a:ext>
                  </a:extLst>
                </a:gridCol>
                <a:gridCol w="1175094">
                  <a:extLst>
                    <a:ext uri="{9D8B030D-6E8A-4147-A177-3AD203B41FA5}">
                      <a16:colId xmlns:a16="http://schemas.microsoft.com/office/drawing/2014/main" val="771292187"/>
                    </a:ext>
                  </a:extLst>
                </a:gridCol>
                <a:gridCol w="1203881">
                  <a:extLst>
                    <a:ext uri="{9D8B030D-6E8A-4147-A177-3AD203B41FA5}">
                      <a16:colId xmlns:a16="http://schemas.microsoft.com/office/drawing/2014/main" val="3316796757"/>
                    </a:ext>
                  </a:extLst>
                </a:gridCol>
                <a:gridCol w="1203881">
                  <a:extLst>
                    <a:ext uri="{9D8B030D-6E8A-4147-A177-3AD203B41FA5}">
                      <a16:colId xmlns:a16="http://schemas.microsoft.com/office/drawing/2014/main" val="1792422436"/>
                    </a:ext>
                  </a:extLst>
                </a:gridCol>
                <a:gridCol w="1109033">
                  <a:extLst>
                    <a:ext uri="{9D8B030D-6E8A-4147-A177-3AD203B41FA5}">
                      <a16:colId xmlns:a16="http://schemas.microsoft.com/office/drawing/2014/main" val="1863140193"/>
                    </a:ext>
                  </a:extLst>
                </a:gridCol>
                <a:gridCol w="1183581">
                  <a:extLst>
                    <a:ext uri="{9D8B030D-6E8A-4147-A177-3AD203B41FA5}">
                      <a16:colId xmlns:a16="http://schemas.microsoft.com/office/drawing/2014/main" val="2530155138"/>
                    </a:ext>
                  </a:extLst>
                </a:gridCol>
                <a:gridCol w="441066">
                  <a:extLst>
                    <a:ext uri="{9D8B030D-6E8A-4147-A177-3AD203B41FA5}">
                      <a16:colId xmlns:a16="http://schemas.microsoft.com/office/drawing/2014/main" val="3823164663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>
                          <a:solidFill>
                            <a:schemeClr val="bg1"/>
                          </a:solidFill>
                        </a:rPr>
                        <a:t>Task</a:t>
                      </a:r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>
                          <a:solidFill>
                            <a:schemeClr val="bg1"/>
                          </a:solidFill>
                        </a:rPr>
                        <a:t>IA Depth</a:t>
                      </a:r>
                      <a:endParaRPr lang="ko-KR" altLang="en-US" sz="800" b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ko-KR" altLang="en-US" sz="800" b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3254155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Chapter</a:t>
                      </a:r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Screen ID</a:t>
                      </a:r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Screen Subject</a:t>
                      </a:r>
                      <a:endParaRPr lang="ko-KR" altLang="en-US" sz="800" b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Last Update</a:t>
                      </a:r>
                      <a:endParaRPr lang="ko-KR" altLang="en-US" sz="800" b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8248770"/>
                  </a:ext>
                </a:extLst>
              </a:tr>
            </a:tbl>
          </a:graphicData>
        </a:graphic>
      </p:graphicFrame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B2ADCC96-A8FC-4F8B-A9F3-5C75BB21ACBB}"/>
              </a:ext>
            </a:extLst>
          </p:cNvPr>
          <p:cNvCxnSpPr>
            <a:cxnSpLocks/>
          </p:cNvCxnSpPr>
          <p:nvPr userDrawn="1"/>
        </p:nvCxnSpPr>
        <p:spPr>
          <a:xfrm>
            <a:off x="0" y="513897"/>
            <a:ext cx="12192000" cy="0"/>
          </a:xfrm>
          <a:prstGeom prst="line">
            <a:avLst/>
          </a:prstGeom>
          <a:noFill/>
          <a:ln w="63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0" name="텍스트 개체 틀 28">
            <a:extLst>
              <a:ext uri="{FF2B5EF4-FFF2-40B4-BE49-F238E27FC236}">
                <a16:creationId xmlns:a16="http://schemas.microsoft.com/office/drawing/2014/main" id="{F688312C-4926-49B8-9498-A788526CCE0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25975" y="240424"/>
            <a:ext cx="2160000" cy="18000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800" baseline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71" name="텍스트 개체 틀 28">
            <a:extLst>
              <a:ext uri="{FF2B5EF4-FFF2-40B4-BE49-F238E27FC236}">
                <a16:creationId xmlns:a16="http://schemas.microsoft.com/office/drawing/2014/main" id="{434F5D69-9149-4FF5-8A0E-6F6E62FE5F2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41773" y="240424"/>
            <a:ext cx="1080000" cy="18000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800" baseline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72" name="텍스트 개체 틀 28">
            <a:extLst>
              <a:ext uri="{FF2B5EF4-FFF2-40B4-BE49-F238E27FC236}">
                <a16:creationId xmlns:a16="http://schemas.microsoft.com/office/drawing/2014/main" id="{526EA349-877F-47EA-A9E9-97483EEC462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079456" y="241200"/>
            <a:ext cx="2340000" cy="18000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800" baseline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73" name="텍스트 개체 틀 28">
            <a:extLst>
              <a:ext uri="{FF2B5EF4-FFF2-40B4-BE49-F238E27FC236}">
                <a16:creationId xmlns:a16="http://schemas.microsoft.com/office/drawing/2014/main" id="{30D7619E-6D97-499B-8C9B-0C3D7A4AF86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25975" y="20616"/>
            <a:ext cx="2160000" cy="18000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800" baseline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74" name="텍스트 개체 틀 28">
            <a:extLst>
              <a:ext uri="{FF2B5EF4-FFF2-40B4-BE49-F238E27FC236}">
                <a16:creationId xmlns:a16="http://schemas.microsoft.com/office/drawing/2014/main" id="{A2D7C35C-52D3-4424-9D11-7907C2FA5F4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612800" y="249216"/>
            <a:ext cx="1080000" cy="169777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800" baseline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85" name="Rectangle 13">
            <a:extLst>
              <a:ext uri="{FF2B5EF4-FFF2-40B4-BE49-F238E27FC236}">
                <a16:creationId xmlns:a16="http://schemas.microsoft.com/office/drawing/2014/main" id="{5B23D9BF-C871-4165-9569-807C77D6CFC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599113" y="223681"/>
            <a:ext cx="720969" cy="206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fld id="{5987F324-16EF-4D20-BF02-1723CE5780D3}" type="slidenum">
              <a:rPr lang="en-US" altLang="ko-KR" sz="800" b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pPr algn="ctr">
                <a:defRPr/>
              </a:pPr>
              <a:t>‹#›</a:t>
            </a:fld>
            <a:endParaRPr lang="en-US" altLang="ko-KR" sz="800" b="0">
              <a:solidFill>
                <a:schemeClr val="tx1">
                  <a:lumMod val="95000"/>
                  <a:lumOff val="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4ACC4386-1D64-40F4-BF0F-2FE29D2831A4}"/>
              </a:ext>
            </a:extLst>
          </p:cNvPr>
          <p:cNvCxnSpPr>
            <a:cxnSpLocks/>
          </p:cNvCxnSpPr>
          <p:nvPr userDrawn="1"/>
        </p:nvCxnSpPr>
        <p:spPr>
          <a:xfrm flipV="1">
            <a:off x="9460755" y="513897"/>
            <a:ext cx="0" cy="6344103"/>
          </a:xfrm>
          <a:prstGeom prst="line">
            <a:avLst/>
          </a:prstGeom>
          <a:noFill/>
          <a:ln w="63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23369231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545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" name="표 2">
            <a:extLst>
              <a:ext uri="{FF2B5EF4-FFF2-40B4-BE49-F238E27FC236}">
                <a16:creationId xmlns:a16="http://schemas.microsoft.com/office/drawing/2014/main" id="{B891A510-C4BB-4A96-B173-2C1CFE4D12B4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1" y="-253"/>
          <a:ext cx="12192006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094">
                  <a:extLst>
                    <a:ext uri="{9D8B030D-6E8A-4147-A177-3AD203B41FA5}">
                      <a16:colId xmlns:a16="http://schemas.microsoft.com/office/drawing/2014/main" val="3265325356"/>
                    </a:ext>
                  </a:extLst>
                </a:gridCol>
                <a:gridCol w="1175094">
                  <a:extLst>
                    <a:ext uri="{9D8B030D-6E8A-4147-A177-3AD203B41FA5}">
                      <a16:colId xmlns:a16="http://schemas.microsoft.com/office/drawing/2014/main" val="135697684"/>
                    </a:ext>
                  </a:extLst>
                </a:gridCol>
                <a:gridCol w="1175094">
                  <a:extLst>
                    <a:ext uri="{9D8B030D-6E8A-4147-A177-3AD203B41FA5}">
                      <a16:colId xmlns:a16="http://schemas.microsoft.com/office/drawing/2014/main" val="2966591689"/>
                    </a:ext>
                  </a:extLst>
                </a:gridCol>
                <a:gridCol w="1175094">
                  <a:extLst>
                    <a:ext uri="{9D8B030D-6E8A-4147-A177-3AD203B41FA5}">
                      <a16:colId xmlns:a16="http://schemas.microsoft.com/office/drawing/2014/main" val="3259380494"/>
                    </a:ext>
                  </a:extLst>
                </a:gridCol>
                <a:gridCol w="1175094">
                  <a:extLst>
                    <a:ext uri="{9D8B030D-6E8A-4147-A177-3AD203B41FA5}">
                      <a16:colId xmlns:a16="http://schemas.microsoft.com/office/drawing/2014/main" val="3977685915"/>
                    </a:ext>
                  </a:extLst>
                </a:gridCol>
                <a:gridCol w="1175094">
                  <a:extLst>
                    <a:ext uri="{9D8B030D-6E8A-4147-A177-3AD203B41FA5}">
                      <a16:colId xmlns:a16="http://schemas.microsoft.com/office/drawing/2014/main" val="771292187"/>
                    </a:ext>
                  </a:extLst>
                </a:gridCol>
                <a:gridCol w="1203881">
                  <a:extLst>
                    <a:ext uri="{9D8B030D-6E8A-4147-A177-3AD203B41FA5}">
                      <a16:colId xmlns:a16="http://schemas.microsoft.com/office/drawing/2014/main" val="3316796757"/>
                    </a:ext>
                  </a:extLst>
                </a:gridCol>
                <a:gridCol w="1203881">
                  <a:extLst>
                    <a:ext uri="{9D8B030D-6E8A-4147-A177-3AD203B41FA5}">
                      <a16:colId xmlns:a16="http://schemas.microsoft.com/office/drawing/2014/main" val="1792422436"/>
                    </a:ext>
                  </a:extLst>
                </a:gridCol>
                <a:gridCol w="1109033">
                  <a:extLst>
                    <a:ext uri="{9D8B030D-6E8A-4147-A177-3AD203B41FA5}">
                      <a16:colId xmlns:a16="http://schemas.microsoft.com/office/drawing/2014/main" val="1863140193"/>
                    </a:ext>
                  </a:extLst>
                </a:gridCol>
                <a:gridCol w="1183581">
                  <a:extLst>
                    <a:ext uri="{9D8B030D-6E8A-4147-A177-3AD203B41FA5}">
                      <a16:colId xmlns:a16="http://schemas.microsoft.com/office/drawing/2014/main" val="2530155138"/>
                    </a:ext>
                  </a:extLst>
                </a:gridCol>
                <a:gridCol w="441066">
                  <a:extLst>
                    <a:ext uri="{9D8B030D-6E8A-4147-A177-3AD203B41FA5}">
                      <a16:colId xmlns:a16="http://schemas.microsoft.com/office/drawing/2014/main" val="3823164663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>
                          <a:solidFill>
                            <a:schemeClr val="bg1"/>
                          </a:solidFill>
                        </a:rPr>
                        <a:t>Task</a:t>
                      </a:r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>
                          <a:solidFill>
                            <a:schemeClr val="bg1"/>
                          </a:solidFill>
                        </a:rPr>
                        <a:t>IA Depth</a:t>
                      </a:r>
                      <a:endParaRPr lang="ko-KR" altLang="en-US" sz="800" b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ko-KR" altLang="en-US" sz="800" b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3254155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Chapter</a:t>
                      </a:r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Screen ID</a:t>
                      </a:r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Screen Subject</a:t>
                      </a:r>
                      <a:endParaRPr lang="ko-KR" altLang="en-US" sz="800" b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Last Update</a:t>
                      </a:r>
                      <a:endParaRPr lang="ko-KR" altLang="en-US" sz="800" b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8248770"/>
                  </a:ext>
                </a:extLst>
              </a:tr>
            </a:tbl>
          </a:graphicData>
        </a:graphic>
      </p:graphicFrame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B2ADCC96-A8FC-4F8B-A9F3-5C75BB21ACBB}"/>
              </a:ext>
            </a:extLst>
          </p:cNvPr>
          <p:cNvCxnSpPr>
            <a:cxnSpLocks/>
          </p:cNvCxnSpPr>
          <p:nvPr userDrawn="1"/>
        </p:nvCxnSpPr>
        <p:spPr>
          <a:xfrm>
            <a:off x="0" y="513897"/>
            <a:ext cx="12192000" cy="0"/>
          </a:xfrm>
          <a:prstGeom prst="line">
            <a:avLst/>
          </a:prstGeom>
          <a:noFill/>
          <a:ln w="63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0" name="텍스트 개체 틀 28">
            <a:extLst>
              <a:ext uri="{FF2B5EF4-FFF2-40B4-BE49-F238E27FC236}">
                <a16:creationId xmlns:a16="http://schemas.microsoft.com/office/drawing/2014/main" id="{F688312C-4926-49B8-9498-A788526CCE0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25975" y="240424"/>
            <a:ext cx="2160000" cy="18000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800" baseline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71" name="텍스트 개체 틀 28">
            <a:extLst>
              <a:ext uri="{FF2B5EF4-FFF2-40B4-BE49-F238E27FC236}">
                <a16:creationId xmlns:a16="http://schemas.microsoft.com/office/drawing/2014/main" id="{434F5D69-9149-4FF5-8A0E-6F6E62FE5F2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41773" y="240424"/>
            <a:ext cx="1080000" cy="18000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800" baseline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72" name="텍스트 개체 틀 28">
            <a:extLst>
              <a:ext uri="{FF2B5EF4-FFF2-40B4-BE49-F238E27FC236}">
                <a16:creationId xmlns:a16="http://schemas.microsoft.com/office/drawing/2014/main" id="{526EA349-877F-47EA-A9E9-97483EEC462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079456" y="241200"/>
            <a:ext cx="2340000" cy="18000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800" baseline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73" name="텍스트 개체 틀 28">
            <a:extLst>
              <a:ext uri="{FF2B5EF4-FFF2-40B4-BE49-F238E27FC236}">
                <a16:creationId xmlns:a16="http://schemas.microsoft.com/office/drawing/2014/main" id="{30D7619E-6D97-499B-8C9B-0C3D7A4AF86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25975" y="20616"/>
            <a:ext cx="2160000" cy="18000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800" baseline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74" name="텍스트 개체 틀 28">
            <a:extLst>
              <a:ext uri="{FF2B5EF4-FFF2-40B4-BE49-F238E27FC236}">
                <a16:creationId xmlns:a16="http://schemas.microsoft.com/office/drawing/2014/main" id="{A2D7C35C-52D3-4424-9D11-7907C2FA5F4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612800" y="249216"/>
            <a:ext cx="1080000" cy="169777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800" baseline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85" name="Rectangle 13">
            <a:extLst>
              <a:ext uri="{FF2B5EF4-FFF2-40B4-BE49-F238E27FC236}">
                <a16:creationId xmlns:a16="http://schemas.microsoft.com/office/drawing/2014/main" id="{5B23D9BF-C871-4165-9569-807C77D6CFC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599113" y="223681"/>
            <a:ext cx="720969" cy="206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fld id="{5987F324-16EF-4D20-BF02-1723CE5780D3}" type="slidenum">
              <a:rPr lang="en-US" altLang="ko-KR" sz="800" b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pPr algn="ctr">
                <a:defRPr/>
              </a:pPr>
              <a:t>‹#›</a:t>
            </a:fld>
            <a:endParaRPr lang="en-US" altLang="ko-KR" sz="800" b="0">
              <a:solidFill>
                <a:schemeClr val="tx1">
                  <a:lumMod val="95000"/>
                  <a:lumOff val="5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931623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545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" name="표 2">
            <a:extLst>
              <a:ext uri="{FF2B5EF4-FFF2-40B4-BE49-F238E27FC236}">
                <a16:creationId xmlns:a16="http://schemas.microsoft.com/office/drawing/2014/main" id="{B891A510-C4BB-4A96-B173-2C1CFE4D12B4}"/>
              </a:ext>
            </a:extLst>
          </p:cNvPr>
          <p:cNvGraphicFramePr>
            <a:graphicFrameLocks noGrp="1"/>
          </p:cNvGraphicFramePr>
          <p:nvPr userDrawn="1"/>
        </p:nvGraphicFramePr>
        <p:xfrm>
          <a:off x="-1" y="-253"/>
          <a:ext cx="12192006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094">
                  <a:extLst>
                    <a:ext uri="{9D8B030D-6E8A-4147-A177-3AD203B41FA5}">
                      <a16:colId xmlns:a16="http://schemas.microsoft.com/office/drawing/2014/main" val="3265325356"/>
                    </a:ext>
                  </a:extLst>
                </a:gridCol>
                <a:gridCol w="1175094">
                  <a:extLst>
                    <a:ext uri="{9D8B030D-6E8A-4147-A177-3AD203B41FA5}">
                      <a16:colId xmlns:a16="http://schemas.microsoft.com/office/drawing/2014/main" val="135697684"/>
                    </a:ext>
                  </a:extLst>
                </a:gridCol>
                <a:gridCol w="1175094">
                  <a:extLst>
                    <a:ext uri="{9D8B030D-6E8A-4147-A177-3AD203B41FA5}">
                      <a16:colId xmlns:a16="http://schemas.microsoft.com/office/drawing/2014/main" val="2966591689"/>
                    </a:ext>
                  </a:extLst>
                </a:gridCol>
                <a:gridCol w="1175094">
                  <a:extLst>
                    <a:ext uri="{9D8B030D-6E8A-4147-A177-3AD203B41FA5}">
                      <a16:colId xmlns:a16="http://schemas.microsoft.com/office/drawing/2014/main" val="3259380494"/>
                    </a:ext>
                  </a:extLst>
                </a:gridCol>
                <a:gridCol w="1175094">
                  <a:extLst>
                    <a:ext uri="{9D8B030D-6E8A-4147-A177-3AD203B41FA5}">
                      <a16:colId xmlns:a16="http://schemas.microsoft.com/office/drawing/2014/main" val="3977685915"/>
                    </a:ext>
                  </a:extLst>
                </a:gridCol>
                <a:gridCol w="1175094">
                  <a:extLst>
                    <a:ext uri="{9D8B030D-6E8A-4147-A177-3AD203B41FA5}">
                      <a16:colId xmlns:a16="http://schemas.microsoft.com/office/drawing/2014/main" val="771292187"/>
                    </a:ext>
                  </a:extLst>
                </a:gridCol>
                <a:gridCol w="1203881">
                  <a:extLst>
                    <a:ext uri="{9D8B030D-6E8A-4147-A177-3AD203B41FA5}">
                      <a16:colId xmlns:a16="http://schemas.microsoft.com/office/drawing/2014/main" val="3316796757"/>
                    </a:ext>
                  </a:extLst>
                </a:gridCol>
                <a:gridCol w="1203881">
                  <a:extLst>
                    <a:ext uri="{9D8B030D-6E8A-4147-A177-3AD203B41FA5}">
                      <a16:colId xmlns:a16="http://schemas.microsoft.com/office/drawing/2014/main" val="1792422436"/>
                    </a:ext>
                  </a:extLst>
                </a:gridCol>
                <a:gridCol w="1109033">
                  <a:extLst>
                    <a:ext uri="{9D8B030D-6E8A-4147-A177-3AD203B41FA5}">
                      <a16:colId xmlns:a16="http://schemas.microsoft.com/office/drawing/2014/main" val="1863140193"/>
                    </a:ext>
                  </a:extLst>
                </a:gridCol>
                <a:gridCol w="1183581">
                  <a:extLst>
                    <a:ext uri="{9D8B030D-6E8A-4147-A177-3AD203B41FA5}">
                      <a16:colId xmlns:a16="http://schemas.microsoft.com/office/drawing/2014/main" val="2530155138"/>
                    </a:ext>
                  </a:extLst>
                </a:gridCol>
                <a:gridCol w="441066">
                  <a:extLst>
                    <a:ext uri="{9D8B030D-6E8A-4147-A177-3AD203B41FA5}">
                      <a16:colId xmlns:a16="http://schemas.microsoft.com/office/drawing/2014/main" val="3823164663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>
                          <a:solidFill>
                            <a:schemeClr val="bg1"/>
                          </a:solidFill>
                        </a:rPr>
                        <a:t>Task</a:t>
                      </a:r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>
                          <a:solidFill>
                            <a:schemeClr val="bg1"/>
                          </a:solidFill>
                        </a:rPr>
                        <a:t>IA Depth</a:t>
                      </a:r>
                      <a:endParaRPr lang="ko-KR" altLang="en-US" sz="800" b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ko-KR" altLang="en-US" sz="800" b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3254155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Chapter</a:t>
                      </a:r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Screen ID</a:t>
                      </a:r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Screen Subject</a:t>
                      </a:r>
                      <a:endParaRPr lang="ko-KR" altLang="en-US" sz="800" b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Last Update</a:t>
                      </a:r>
                      <a:endParaRPr lang="ko-KR" altLang="en-US" sz="800" b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8248770"/>
                  </a:ext>
                </a:extLst>
              </a:tr>
            </a:tbl>
          </a:graphicData>
        </a:graphic>
      </p:graphicFrame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B2ADCC96-A8FC-4F8B-A9F3-5C75BB21ACBB}"/>
              </a:ext>
            </a:extLst>
          </p:cNvPr>
          <p:cNvCxnSpPr>
            <a:cxnSpLocks/>
          </p:cNvCxnSpPr>
          <p:nvPr userDrawn="1"/>
        </p:nvCxnSpPr>
        <p:spPr>
          <a:xfrm>
            <a:off x="0" y="513897"/>
            <a:ext cx="12192000" cy="0"/>
          </a:xfrm>
          <a:prstGeom prst="line">
            <a:avLst/>
          </a:prstGeom>
          <a:noFill/>
          <a:ln w="63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D1DCCF03-394F-4284-BB8E-5B3BFCB3377E}"/>
              </a:ext>
            </a:extLst>
          </p:cNvPr>
          <p:cNvCxnSpPr>
            <a:cxnSpLocks/>
          </p:cNvCxnSpPr>
          <p:nvPr userDrawn="1"/>
        </p:nvCxnSpPr>
        <p:spPr>
          <a:xfrm>
            <a:off x="0" y="6431532"/>
            <a:ext cx="12191998" cy="0"/>
          </a:xfrm>
          <a:prstGeom prst="line">
            <a:avLst/>
          </a:prstGeom>
          <a:noFill/>
          <a:ln w="63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0" name="텍스트 개체 틀 28">
            <a:extLst>
              <a:ext uri="{FF2B5EF4-FFF2-40B4-BE49-F238E27FC236}">
                <a16:creationId xmlns:a16="http://schemas.microsoft.com/office/drawing/2014/main" id="{F688312C-4926-49B8-9498-A788526CCE0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25975" y="240424"/>
            <a:ext cx="2160000" cy="18000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800" baseline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71" name="텍스트 개체 틀 28">
            <a:extLst>
              <a:ext uri="{FF2B5EF4-FFF2-40B4-BE49-F238E27FC236}">
                <a16:creationId xmlns:a16="http://schemas.microsoft.com/office/drawing/2014/main" id="{434F5D69-9149-4FF5-8A0E-6F6E62FE5F2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41773" y="240424"/>
            <a:ext cx="1080000" cy="18000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800" baseline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72" name="텍스트 개체 틀 28">
            <a:extLst>
              <a:ext uri="{FF2B5EF4-FFF2-40B4-BE49-F238E27FC236}">
                <a16:creationId xmlns:a16="http://schemas.microsoft.com/office/drawing/2014/main" id="{526EA349-877F-47EA-A9E9-97483EEC462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079456" y="241200"/>
            <a:ext cx="2340000" cy="18000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800" baseline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73" name="텍스트 개체 틀 28">
            <a:extLst>
              <a:ext uri="{FF2B5EF4-FFF2-40B4-BE49-F238E27FC236}">
                <a16:creationId xmlns:a16="http://schemas.microsoft.com/office/drawing/2014/main" id="{30D7619E-6D97-499B-8C9B-0C3D7A4AF86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25975" y="20616"/>
            <a:ext cx="2160000" cy="18000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800" baseline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74" name="텍스트 개체 틀 28">
            <a:extLst>
              <a:ext uri="{FF2B5EF4-FFF2-40B4-BE49-F238E27FC236}">
                <a16:creationId xmlns:a16="http://schemas.microsoft.com/office/drawing/2014/main" id="{A2D7C35C-52D3-4424-9D11-7907C2FA5F4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612800" y="249216"/>
            <a:ext cx="1080000" cy="169777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800" baseline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85" name="Rectangle 13">
            <a:extLst>
              <a:ext uri="{FF2B5EF4-FFF2-40B4-BE49-F238E27FC236}">
                <a16:creationId xmlns:a16="http://schemas.microsoft.com/office/drawing/2014/main" id="{5B23D9BF-C871-4165-9569-807C77D6CFC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599113" y="223681"/>
            <a:ext cx="720969" cy="206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fld id="{5987F324-16EF-4D20-BF02-1723CE5780D3}" type="slidenum">
              <a:rPr lang="en-US" altLang="ko-KR" sz="800" b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pPr algn="ctr">
                <a:defRPr/>
              </a:pPr>
              <a:t>‹#›</a:t>
            </a:fld>
            <a:endParaRPr lang="en-US" altLang="ko-KR" sz="800" b="0">
              <a:solidFill>
                <a:schemeClr val="tx1">
                  <a:lumMod val="95000"/>
                  <a:lumOff val="5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554181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545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" name="표 2">
            <a:extLst>
              <a:ext uri="{FF2B5EF4-FFF2-40B4-BE49-F238E27FC236}">
                <a16:creationId xmlns:a16="http://schemas.microsoft.com/office/drawing/2014/main" id="{B891A510-C4BB-4A96-B173-2C1CFE4D12B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891836241"/>
              </p:ext>
            </p:extLst>
          </p:nvPr>
        </p:nvGraphicFramePr>
        <p:xfrm>
          <a:off x="-1" y="-253"/>
          <a:ext cx="12192006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094">
                  <a:extLst>
                    <a:ext uri="{9D8B030D-6E8A-4147-A177-3AD203B41FA5}">
                      <a16:colId xmlns:a16="http://schemas.microsoft.com/office/drawing/2014/main" val="3265325356"/>
                    </a:ext>
                  </a:extLst>
                </a:gridCol>
                <a:gridCol w="1175094">
                  <a:extLst>
                    <a:ext uri="{9D8B030D-6E8A-4147-A177-3AD203B41FA5}">
                      <a16:colId xmlns:a16="http://schemas.microsoft.com/office/drawing/2014/main" val="135697684"/>
                    </a:ext>
                  </a:extLst>
                </a:gridCol>
                <a:gridCol w="1175094">
                  <a:extLst>
                    <a:ext uri="{9D8B030D-6E8A-4147-A177-3AD203B41FA5}">
                      <a16:colId xmlns:a16="http://schemas.microsoft.com/office/drawing/2014/main" val="2966591689"/>
                    </a:ext>
                  </a:extLst>
                </a:gridCol>
                <a:gridCol w="1175094">
                  <a:extLst>
                    <a:ext uri="{9D8B030D-6E8A-4147-A177-3AD203B41FA5}">
                      <a16:colId xmlns:a16="http://schemas.microsoft.com/office/drawing/2014/main" val="3259380494"/>
                    </a:ext>
                  </a:extLst>
                </a:gridCol>
                <a:gridCol w="1175094">
                  <a:extLst>
                    <a:ext uri="{9D8B030D-6E8A-4147-A177-3AD203B41FA5}">
                      <a16:colId xmlns:a16="http://schemas.microsoft.com/office/drawing/2014/main" val="3977685915"/>
                    </a:ext>
                  </a:extLst>
                </a:gridCol>
                <a:gridCol w="1175094">
                  <a:extLst>
                    <a:ext uri="{9D8B030D-6E8A-4147-A177-3AD203B41FA5}">
                      <a16:colId xmlns:a16="http://schemas.microsoft.com/office/drawing/2014/main" val="771292187"/>
                    </a:ext>
                  </a:extLst>
                </a:gridCol>
                <a:gridCol w="1203881">
                  <a:extLst>
                    <a:ext uri="{9D8B030D-6E8A-4147-A177-3AD203B41FA5}">
                      <a16:colId xmlns:a16="http://schemas.microsoft.com/office/drawing/2014/main" val="3316796757"/>
                    </a:ext>
                  </a:extLst>
                </a:gridCol>
                <a:gridCol w="1203881">
                  <a:extLst>
                    <a:ext uri="{9D8B030D-6E8A-4147-A177-3AD203B41FA5}">
                      <a16:colId xmlns:a16="http://schemas.microsoft.com/office/drawing/2014/main" val="1792422436"/>
                    </a:ext>
                  </a:extLst>
                </a:gridCol>
                <a:gridCol w="1109033">
                  <a:extLst>
                    <a:ext uri="{9D8B030D-6E8A-4147-A177-3AD203B41FA5}">
                      <a16:colId xmlns:a16="http://schemas.microsoft.com/office/drawing/2014/main" val="1863140193"/>
                    </a:ext>
                  </a:extLst>
                </a:gridCol>
                <a:gridCol w="1183581">
                  <a:extLst>
                    <a:ext uri="{9D8B030D-6E8A-4147-A177-3AD203B41FA5}">
                      <a16:colId xmlns:a16="http://schemas.microsoft.com/office/drawing/2014/main" val="2530155138"/>
                    </a:ext>
                  </a:extLst>
                </a:gridCol>
                <a:gridCol w="441066">
                  <a:extLst>
                    <a:ext uri="{9D8B030D-6E8A-4147-A177-3AD203B41FA5}">
                      <a16:colId xmlns:a16="http://schemas.microsoft.com/office/drawing/2014/main" val="3823164663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>
                          <a:solidFill>
                            <a:schemeClr val="bg1"/>
                          </a:solidFill>
                        </a:rPr>
                        <a:t>Task</a:t>
                      </a:r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>
                          <a:solidFill>
                            <a:schemeClr val="bg1"/>
                          </a:solidFill>
                        </a:rPr>
                        <a:t>IA Depth</a:t>
                      </a:r>
                      <a:endParaRPr lang="ko-KR" altLang="en-US" sz="800" b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ko-KR" altLang="en-US" sz="800" b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3254155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Chapter</a:t>
                      </a:r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Screen ID</a:t>
                      </a:r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Screen Subject</a:t>
                      </a:r>
                      <a:endParaRPr lang="ko-KR" altLang="en-US" sz="800" b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Last Update</a:t>
                      </a:r>
                      <a:endParaRPr lang="ko-KR" altLang="en-US" sz="800" b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8248770"/>
                  </a:ext>
                </a:extLst>
              </a:tr>
            </a:tbl>
          </a:graphicData>
        </a:graphic>
      </p:graphicFrame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B2ADCC96-A8FC-4F8B-A9F3-5C75BB21ACBB}"/>
              </a:ext>
            </a:extLst>
          </p:cNvPr>
          <p:cNvCxnSpPr>
            <a:cxnSpLocks/>
          </p:cNvCxnSpPr>
          <p:nvPr userDrawn="1"/>
        </p:nvCxnSpPr>
        <p:spPr>
          <a:xfrm>
            <a:off x="0" y="513897"/>
            <a:ext cx="12192000" cy="0"/>
          </a:xfrm>
          <a:prstGeom prst="line">
            <a:avLst/>
          </a:prstGeom>
          <a:noFill/>
          <a:ln w="63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D1DCCF03-394F-4284-BB8E-5B3BFCB3377E}"/>
              </a:ext>
            </a:extLst>
          </p:cNvPr>
          <p:cNvCxnSpPr>
            <a:cxnSpLocks/>
          </p:cNvCxnSpPr>
          <p:nvPr userDrawn="1"/>
        </p:nvCxnSpPr>
        <p:spPr>
          <a:xfrm>
            <a:off x="0" y="6431532"/>
            <a:ext cx="9460755" cy="0"/>
          </a:xfrm>
          <a:prstGeom prst="line">
            <a:avLst/>
          </a:prstGeom>
          <a:noFill/>
          <a:ln w="63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317AE6B3-7147-4C6A-AD23-ACA2C80BA908}"/>
              </a:ext>
            </a:extLst>
          </p:cNvPr>
          <p:cNvCxnSpPr>
            <a:cxnSpLocks/>
          </p:cNvCxnSpPr>
          <p:nvPr userDrawn="1"/>
        </p:nvCxnSpPr>
        <p:spPr>
          <a:xfrm flipV="1">
            <a:off x="9460755" y="513897"/>
            <a:ext cx="0" cy="6344103"/>
          </a:xfrm>
          <a:prstGeom prst="line">
            <a:avLst/>
          </a:prstGeom>
          <a:noFill/>
          <a:ln w="63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0" name="텍스트 개체 틀 28">
            <a:extLst>
              <a:ext uri="{FF2B5EF4-FFF2-40B4-BE49-F238E27FC236}">
                <a16:creationId xmlns:a16="http://schemas.microsoft.com/office/drawing/2014/main" id="{F688312C-4926-49B8-9498-A788526CCE0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25975" y="240424"/>
            <a:ext cx="2160000" cy="18000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800" baseline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71" name="텍스트 개체 틀 28">
            <a:extLst>
              <a:ext uri="{FF2B5EF4-FFF2-40B4-BE49-F238E27FC236}">
                <a16:creationId xmlns:a16="http://schemas.microsoft.com/office/drawing/2014/main" id="{434F5D69-9149-4FF5-8A0E-6F6E62FE5F2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41773" y="240424"/>
            <a:ext cx="1080000" cy="18000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800" baseline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72" name="텍스트 개체 틀 28">
            <a:extLst>
              <a:ext uri="{FF2B5EF4-FFF2-40B4-BE49-F238E27FC236}">
                <a16:creationId xmlns:a16="http://schemas.microsoft.com/office/drawing/2014/main" id="{526EA349-877F-47EA-A9E9-97483EEC462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079456" y="241200"/>
            <a:ext cx="2340000" cy="18000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800" baseline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73" name="텍스트 개체 틀 28">
            <a:extLst>
              <a:ext uri="{FF2B5EF4-FFF2-40B4-BE49-F238E27FC236}">
                <a16:creationId xmlns:a16="http://schemas.microsoft.com/office/drawing/2014/main" id="{30D7619E-6D97-499B-8C9B-0C3D7A4AF86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25975" y="20616"/>
            <a:ext cx="2160000" cy="18000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800" baseline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74" name="텍스트 개체 틀 28">
            <a:extLst>
              <a:ext uri="{FF2B5EF4-FFF2-40B4-BE49-F238E27FC236}">
                <a16:creationId xmlns:a16="http://schemas.microsoft.com/office/drawing/2014/main" id="{A2D7C35C-52D3-4424-9D11-7907C2FA5F4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612800" y="249216"/>
            <a:ext cx="1080000" cy="169777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800" baseline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85" name="Rectangle 13">
            <a:extLst>
              <a:ext uri="{FF2B5EF4-FFF2-40B4-BE49-F238E27FC236}">
                <a16:creationId xmlns:a16="http://schemas.microsoft.com/office/drawing/2014/main" id="{5B23D9BF-C871-4165-9569-807C77D6CFC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599113" y="223681"/>
            <a:ext cx="720969" cy="206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fld id="{5987F324-16EF-4D20-BF02-1723CE5780D3}" type="slidenum">
              <a:rPr lang="en-US" altLang="ko-KR" sz="800" b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pPr algn="ctr">
                <a:defRPr/>
              </a:pPr>
              <a:t>‹#›</a:t>
            </a:fld>
            <a:endParaRPr lang="en-US" altLang="ko-KR" sz="800" b="0">
              <a:solidFill>
                <a:schemeClr val="tx1">
                  <a:lumMod val="95000"/>
                  <a:lumOff val="5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9049169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545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9" name="표 2">
            <a:extLst>
              <a:ext uri="{FF2B5EF4-FFF2-40B4-BE49-F238E27FC236}">
                <a16:creationId xmlns:a16="http://schemas.microsoft.com/office/drawing/2014/main" id="{B891A510-C4BB-4A96-B173-2C1CFE4D12B4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360918433"/>
              </p:ext>
            </p:extLst>
          </p:nvPr>
        </p:nvGraphicFramePr>
        <p:xfrm>
          <a:off x="-1" y="-253"/>
          <a:ext cx="12192006" cy="42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5094">
                  <a:extLst>
                    <a:ext uri="{9D8B030D-6E8A-4147-A177-3AD203B41FA5}">
                      <a16:colId xmlns:a16="http://schemas.microsoft.com/office/drawing/2014/main" val="3265325356"/>
                    </a:ext>
                  </a:extLst>
                </a:gridCol>
                <a:gridCol w="1175094">
                  <a:extLst>
                    <a:ext uri="{9D8B030D-6E8A-4147-A177-3AD203B41FA5}">
                      <a16:colId xmlns:a16="http://schemas.microsoft.com/office/drawing/2014/main" val="135697684"/>
                    </a:ext>
                  </a:extLst>
                </a:gridCol>
                <a:gridCol w="1175094">
                  <a:extLst>
                    <a:ext uri="{9D8B030D-6E8A-4147-A177-3AD203B41FA5}">
                      <a16:colId xmlns:a16="http://schemas.microsoft.com/office/drawing/2014/main" val="2966591689"/>
                    </a:ext>
                  </a:extLst>
                </a:gridCol>
                <a:gridCol w="1175094">
                  <a:extLst>
                    <a:ext uri="{9D8B030D-6E8A-4147-A177-3AD203B41FA5}">
                      <a16:colId xmlns:a16="http://schemas.microsoft.com/office/drawing/2014/main" val="3259380494"/>
                    </a:ext>
                  </a:extLst>
                </a:gridCol>
                <a:gridCol w="1175094">
                  <a:extLst>
                    <a:ext uri="{9D8B030D-6E8A-4147-A177-3AD203B41FA5}">
                      <a16:colId xmlns:a16="http://schemas.microsoft.com/office/drawing/2014/main" val="3977685915"/>
                    </a:ext>
                  </a:extLst>
                </a:gridCol>
                <a:gridCol w="1175094">
                  <a:extLst>
                    <a:ext uri="{9D8B030D-6E8A-4147-A177-3AD203B41FA5}">
                      <a16:colId xmlns:a16="http://schemas.microsoft.com/office/drawing/2014/main" val="771292187"/>
                    </a:ext>
                  </a:extLst>
                </a:gridCol>
                <a:gridCol w="1203881">
                  <a:extLst>
                    <a:ext uri="{9D8B030D-6E8A-4147-A177-3AD203B41FA5}">
                      <a16:colId xmlns:a16="http://schemas.microsoft.com/office/drawing/2014/main" val="3316796757"/>
                    </a:ext>
                  </a:extLst>
                </a:gridCol>
                <a:gridCol w="1203881">
                  <a:extLst>
                    <a:ext uri="{9D8B030D-6E8A-4147-A177-3AD203B41FA5}">
                      <a16:colId xmlns:a16="http://schemas.microsoft.com/office/drawing/2014/main" val="1792422436"/>
                    </a:ext>
                  </a:extLst>
                </a:gridCol>
                <a:gridCol w="1109033">
                  <a:extLst>
                    <a:ext uri="{9D8B030D-6E8A-4147-A177-3AD203B41FA5}">
                      <a16:colId xmlns:a16="http://schemas.microsoft.com/office/drawing/2014/main" val="1863140193"/>
                    </a:ext>
                  </a:extLst>
                </a:gridCol>
                <a:gridCol w="1183581">
                  <a:extLst>
                    <a:ext uri="{9D8B030D-6E8A-4147-A177-3AD203B41FA5}">
                      <a16:colId xmlns:a16="http://schemas.microsoft.com/office/drawing/2014/main" val="2530155138"/>
                    </a:ext>
                  </a:extLst>
                </a:gridCol>
                <a:gridCol w="441066">
                  <a:extLst>
                    <a:ext uri="{9D8B030D-6E8A-4147-A177-3AD203B41FA5}">
                      <a16:colId xmlns:a16="http://schemas.microsoft.com/office/drawing/2014/main" val="3823164663"/>
                    </a:ext>
                  </a:extLst>
                </a:gridCol>
              </a:tblGrid>
              <a:tr h="2124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>
                          <a:solidFill>
                            <a:schemeClr val="bg1"/>
                          </a:solidFill>
                        </a:rPr>
                        <a:t>Task</a:t>
                      </a:r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>
                          <a:solidFill>
                            <a:schemeClr val="bg1"/>
                          </a:solidFill>
                        </a:rPr>
                        <a:t>IA Depth</a:t>
                      </a:r>
                      <a:endParaRPr lang="ko-KR" altLang="en-US" sz="800" b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>
                          <a:solidFill>
                            <a:schemeClr val="bg1"/>
                          </a:solidFill>
                        </a:rPr>
                        <a:t>No.</a:t>
                      </a:r>
                      <a:endParaRPr lang="ko-KR" altLang="en-US" sz="800" b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3254155"/>
                  </a:ext>
                </a:extLst>
              </a:tr>
              <a:tr h="21240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Chapter</a:t>
                      </a:r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Screen ID</a:t>
                      </a:r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Screen Subject</a:t>
                      </a:r>
                      <a:endParaRPr lang="ko-KR" altLang="en-US" sz="800" b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>
                          <a:solidFill>
                            <a:schemeClr val="bg1"/>
                          </a:solidFill>
                          <a:latin typeface="+mn-ea"/>
                          <a:ea typeface="+mn-ea"/>
                        </a:rPr>
                        <a:t>Last Update</a:t>
                      </a:r>
                      <a:endParaRPr lang="ko-KR" altLang="en-US" sz="800" b="0">
                        <a:solidFill>
                          <a:schemeClr val="bg1"/>
                        </a:solidFill>
                        <a:latin typeface="+mn-ea"/>
                        <a:ea typeface="+mn-ea"/>
                      </a:endParaRPr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800"/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8248770"/>
                  </a:ext>
                </a:extLst>
              </a:tr>
            </a:tbl>
          </a:graphicData>
        </a:graphic>
      </p:graphicFrame>
      <p:cxnSp>
        <p:nvCxnSpPr>
          <p:cNvPr id="47" name="직선 연결선 46">
            <a:extLst>
              <a:ext uri="{FF2B5EF4-FFF2-40B4-BE49-F238E27FC236}">
                <a16:creationId xmlns:a16="http://schemas.microsoft.com/office/drawing/2014/main" id="{B2ADCC96-A8FC-4F8B-A9F3-5C75BB21ACBB}"/>
              </a:ext>
            </a:extLst>
          </p:cNvPr>
          <p:cNvCxnSpPr>
            <a:cxnSpLocks/>
          </p:cNvCxnSpPr>
          <p:nvPr userDrawn="1"/>
        </p:nvCxnSpPr>
        <p:spPr>
          <a:xfrm>
            <a:off x="0" y="513897"/>
            <a:ext cx="12192000" cy="0"/>
          </a:xfrm>
          <a:prstGeom prst="line">
            <a:avLst/>
          </a:prstGeom>
          <a:noFill/>
          <a:ln w="63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" name="직선 연결선 47">
            <a:extLst>
              <a:ext uri="{FF2B5EF4-FFF2-40B4-BE49-F238E27FC236}">
                <a16:creationId xmlns:a16="http://schemas.microsoft.com/office/drawing/2014/main" id="{D1DCCF03-394F-4284-BB8E-5B3BFCB3377E}"/>
              </a:ext>
            </a:extLst>
          </p:cNvPr>
          <p:cNvCxnSpPr>
            <a:cxnSpLocks/>
          </p:cNvCxnSpPr>
          <p:nvPr userDrawn="1"/>
        </p:nvCxnSpPr>
        <p:spPr>
          <a:xfrm>
            <a:off x="0" y="6431532"/>
            <a:ext cx="9460755" cy="0"/>
          </a:xfrm>
          <a:prstGeom prst="line">
            <a:avLst/>
          </a:prstGeom>
          <a:noFill/>
          <a:ln w="63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0" name="텍스트 개체 틀 28">
            <a:extLst>
              <a:ext uri="{FF2B5EF4-FFF2-40B4-BE49-F238E27FC236}">
                <a16:creationId xmlns:a16="http://schemas.microsoft.com/office/drawing/2014/main" id="{F688312C-4926-49B8-9498-A788526CCE0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25975" y="240424"/>
            <a:ext cx="2160000" cy="18000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800" baseline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71" name="텍스트 개체 틀 28">
            <a:extLst>
              <a:ext uri="{FF2B5EF4-FFF2-40B4-BE49-F238E27FC236}">
                <a16:creationId xmlns:a16="http://schemas.microsoft.com/office/drawing/2014/main" id="{434F5D69-9149-4FF5-8A0E-6F6E62FE5F2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741773" y="240424"/>
            <a:ext cx="1080000" cy="18000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800" baseline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72" name="텍스트 개체 틀 28">
            <a:extLst>
              <a:ext uri="{FF2B5EF4-FFF2-40B4-BE49-F238E27FC236}">
                <a16:creationId xmlns:a16="http://schemas.microsoft.com/office/drawing/2014/main" id="{526EA349-877F-47EA-A9E9-97483EEC462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079456" y="241200"/>
            <a:ext cx="2340000" cy="18000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800" baseline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73" name="텍스트 개체 틀 28">
            <a:extLst>
              <a:ext uri="{FF2B5EF4-FFF2-40B4-BE49-F238E27FC236}">
                <a16:creationId xmlns:a16="http://schemas.microsoft.com/office/drawing/2014/main" id="{30D7619E-6D97-499B-8C9B-0C3D7A4AF86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225975" y="20616"/>
            <a:ext cx="2160000" cy="180000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800" baseline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74" name="텍스트 개체 틀 28">
            <a:extLst>
              <a:ext uri="{FF2B5EF4-FFF2-40B4-BE49-F238E27FC236}">
                <a16:creationId xmlns:a16="http://schemas.microsoft.com/office/drawing/2014/main" id="{A2D7C35C-52D3-4424-9D11-7907C2FA5F4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612800" y="249216"/>
            <a:ext cx="1080000" cy="169777"/>
          </a:xfrm>
          <a:prstGeom prst="rect">
            <a:avLst/>
          </a:prstGeom>
        </p:spPr>
        <p:txBody>
          <a:bodyPr wrap="square" lIns="0" tIns="0" rIns="0" bIns="0" anchor="ctr" anchorCtr="0">
            <a:normAutofit/>
          </a:bodyPr>
          <a:lstStyle>
            <a:lvl1pPr marL="0" indent="0">
              <a:buNone/>
              <a:defRPr sz="800" baseline="0">
                <a:solidFill>
                  <a:schemeClr val="tx1"/>
                </a:solidFill>
                <a:latin typeface="+mn-ea"/>
                <a:ea typeface="+mn-ea"/>
              </a:defRPr>
            </a:lvl1pPr>
            <a:lvl2pPr>
              <a:buNone/>
              <a:defRPr sz="800"/>
            </a:lvl2pPr>
            <a:lvl3pPr>
              <a:buNone/>
              <a:defRPr sz="800"/>
            </a:lvl3pPr>
            <a:lvl4pPr>
              <a:buNone/>
              <a:defRPr sz="800"/>
            </a:lvl4pPr>
            <a:lvl5pPr>
              <a:buNone/>
              <a:defRPr sz="800"/>
            </a:lvl5pPr>
          </a:lstStyle>
          <a:p>
            <a:pPr lvl="0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85" name="Rectangle 13">
            <a:extLst>
              <a:ext uri="{FF2B5EF4-FFF2-40B4-BE49-F238E27FC236}">
                <a16:creationId xmlns:a16="http://schemas.microsoft.com/office/drawing/2014/main" id="{5B23D9BF-C871-4165-9569-807C77D6CFC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599113" y="223681"/>
            <a:ext cx="720969" cy="206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defRPr/>
            </a:pPr>
            <a:fld id="{5987F324-16EF-4D20-BF02-1723CE5780D3}" type="slidenum">
              <a:rPr lang="en-US" altLang="ko-KR" sz="800" b="0" smtClean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ea typeface="+mn-ea"/>
              </a:rPr>
              <a:pPr algn="ctr">
                <a:defRPr/>
              </a:pPr>
              <a:t>‹#›</a:t>
            </a:fld>
            <a:endParaRPr lang="en-US" altLang="ko-KR" sz="800" b="0">
              <a:solidFill>
                <a:schemeClr val="tx1">
                  <a:lumMod val="95000"/>
                  <a:lumOff val="5000"/>
                </a:schemeClr>
              </a:solidFill>
              <a:latin typeface="+mn-ea"/>
              <a:ea typeface="+mn-ea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93952FB1-F00F-4EF3-B606-C6206ED122D2}"/>
              </a:ext>
            </a:extLst>
          </p:cNvPr>
          <p:cNvCxnSpPr>
            <a:cxnSpLocks/>
          </p:cNvCxnSpPr>
          <p:nvPr userDrawn="1"/>
        </p:nvCxnSpPr>
        <p:spPr>
          <a:xfrm flipV="1">
            <a:off x="9460755" y="513897"/>
            <a:ext cx="0" cy="6344103"/>
          </a:xfrm>
          <a:prstGeom prst="line">
            <a:avLst/>
          </a:prstGeom>
          <a:noFill/>
          <a:ln w="635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42389159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54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C5F5488-C4EE-4383-8545-99D3E9F64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F520B6C-8EF4-43DB-A125-8F07C1460E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5712E7-2882-4EC3-8060-EA97FFCDE3C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D8D58A9-2412-4883-969F-D8448FE9FE2A}" type="datetimeFigureOut">
              <a:rPr kumimoji="0" lang="ko-KR" altLang="en-US" b="0" smtClean="0">
                <a:solidFill>
                  <a:prstClr val="black">
                    <a:tint val="75000"/>
                  </a:prstClr>
                </a:solidFill>
                <a:latin typeface="맑은 고딕" panose="020F0502020204030204"/>
                <a:ea typeface="맑은 고딕" panose="020B0503020000020004" pitchFamily="50" charset="-127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2025-12-12</a:t>
            </a:fld>
            <a:endParaRPr kumimoji="0" lang="ko-KR" altLang="en-US" b="0">
              <a:solidFill>
                <a:prstClr val="black">
                  <a:tint val="75000"/>
                </a:prstClr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556CA3-629C-4E9C-80A7-E5439444CA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3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kumimoji="0" lang="ko-KR" altLang="en-US" b="0">
              <a:solidFill>
                <a:prstClr val="black">
                  <a:tint val="75000"/>
                </a:prstClr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59A06D-46F5-4474-9B5D-D779591753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D348DD4B-A83F-468F-89B9-EAECCFCBAC58}" type="slidenum">
              <a:rPr kumimoji="0" lang="ko-KR" altLang="en-US" b="0" smtClean="0">
                <a:solidFill>
                  <a:prstClr val="black">
                    <a:tint val="75000"/>
                  </a:prstClr>
                </a:solidFill>
                <a:latin typeface="맑은 고딕" panose="020F0502020204030204"/>
                <a:ea typeface="맑은 고딕" panose="020B0503020000020004" pitchFamily="50" charset="-127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kumimoji="0" lang="ko-KR" altLang="en-US" b="0">
              <a:solidFill>
                <a:prstClr val="black">
                  <a:tint val="75000"/>
                </a:prstClr>
              </a:solidFill>
              <a:latin typeface="맑은 고딕" panose="020F0502020204030204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35713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80" r:id="rId1"/>
    <p:sldLayoutId id="2147484485" r:id="rId2"/>
    <p:sldLayoutId id="2147484484" r:id="rId3"/>
    <p:sldLayoutId id="2147484483" r:id="rId4"/>
    <p:sldLayoutId id="2147484472" r:id="rId5"/>
    <p:sldLayoutId id="2147484482" r:id="rId6"/>
  </p:sldLayoutIdLst>
  <p:txStyles>
    <p:titleStyle>
      <a:lvl1pPr algn="l" defTabSz="914411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2" indent="-228602" algn="l" defTabSz="914411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8" indent="-228602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4" indent="-228602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0" indent="-228602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6" indent="-228602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1" indent="-228602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7" indent="-228602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2" indent="-228602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8" indent="-228602" algn="l" defTabSz="914411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11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8" algn="l" defTabSz="914411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2" algn="l" defTabSz="914411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8" algn="l" defTabSz="914411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3" algn="l" defTabSz="914411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F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0F8BB87-9BCB-43A0-A0E4-76936F6AD658}"/>
              </a:ext>
            </a:extLst>
          </p:cNvPr>
          <p:cNvSpPr txBox="1"/>
          <p:nvPr/>
        </p:nvSpPr>
        <p:spPr>
          <a:xfrm>
            <a:off x="696000" y="1191457"/>
            <a:ext cx="9130903" cy="147732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ko-KR" sz="4800" dirty="0">
                <a:ln>
                  <a:solidFill>
                    <a:srgbClr val="00B0F0">
                      <a:alpha val="0"/>
                    </a:srgbClr>
                  </a:solidFill>
                </a:ln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ATON</a:t>
            </a:r>
          </a:p>
          <a:p>
            <a:r>
              <a:rPr lang="ko-KR" altLang="en-US" sz="4800">
                <a:ln>
                  <a:solidFill>
                    <a:srgbClr val="00B0F0">
                      <a:alpha val="0"/>
                    </a:srgbClr>
                  </a:solidFill>
                </a:ln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카카오뱅크 </a:t>
            </a:r>
            <a:r>
              <a:rPr lang="en-US" altLang="ko-KR" sz="4800">
                <a:ln>
                  <a:solidFill>
                    <a:srgbClr val="00B0F0">
                      <a:alpha val="0"/>
                    </a:srgbClr>
                  </a:solidFill>
                </a:ln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OTP POC SB</a:t>
            </a:r>
            <a:endParaRPr lang="ko-KR" altLang="en-US" sz="4800" dirty="0">
              <a:ln>
                <a:solidFill>
                  <a:srgbClr val="00B0F0">
                    <a:alpha val="0"/>
                  </a:srgbClr>
                </a:solidFill>
              </a:ln>
              <a:solidFill>
                <a:schemeClr val="bg1"/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3559A68-DC0E-4B31-8A86-37113563051F}"/>
              </a:ext>
            </a:extLst>
          </p:cNvPr>
          <p:cNvSpPr txBox="1"/>
          <p:nvPr/>
        </p:nvSpPr>
        <p:spPr>
          <a:xfrm>
            <a:off x="624000" y="5136396"/>
            <a:ext cx="3496453" cy="7882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8950">
              <a:lnSpc>
                <a:spcPct val="150000"/>
              </a:lnSpc>
            </a:pPr>
            <a:r>
              <a:rPr lang="en-US" altLang="ko-KR" sz="1050" b="0" err="1">
                <a:solidFill>
                  <a:schemeClr val="bg1"/>
                </a:solidFill>
                <a:latin typeface="+mn-ea"/>
                <a:ea typeface="+mn-ea"/>
              </a:rPr>
              <a:t>ver</a:t>
            </a:r>
            <a:r>
              <a:rPr lang="en-US" altLang="ko-KR" sz="1050" b="0">
                <a:solidFill>
                  <a:schemeClr val="bg1"/>
                </a:solidFill>
                <a:latin typeface="+mn-ea"/>
                <a:ea typeface="+mn-ea"/>
              </a:rPr>
              <a:t> 0.1</a:t>
            </a:r>
            <a:endParaRPr lang="en-US" altLang="ko-KR" sz="1050" b="0" dirty="0">
              <a:solidFill>
                <a:schemeClr val="bg1"/>
              </a:solidFill>
              <a:latin typeface="+mn-ea"/>
              <a:ea typeface="+mn-ea"/>
            </a:endParaRPr>
          </a:p>
          <a:p>
            <a:pPr marL="58950">
              <a:lnSpc>
                <a:spcPct val="150000"/>
              </a:lnSpc>
            </a:pPr>
            <a:r>
              <a:rPr lang="en-US" altLang="ko-KR" sz="1050" b="0" dirty="0">
                <a:solidFill>
                  <a:schemeClr val="bg1"/>
                </a:solidFill>
                <a:latin typeface="+mn-ea"/>
                <a:ea typeface="+mn-ea"/>
              </a:rPr>
              <a:t>Created by </a:t>
            </a:r>
            <a:r>
              <a:rPr lang="ko-KR" altLang="en-US" sz="1050" b="0" dirty="0">
                <a:solidFill>
                  <a:schemeClr val="bg1"/>
                </a:solidFill>
                <a:latin typeface="+mn-ea"/>
                <a:ea typeface="+mn-ea"/>
              </a:rPr>
              <a:t>스마트기획팀 </a:t>
            </a:r>
            <a:r>
              <a:rPr lang="ko-KR" altLang="en-US" sz="1050" b="0" dirty="0" err="1">
                <a:solidFill>
                  <a:schemeClr val="bg1"/>
                </a:solidFill>
                <a:latin typeface="+mn-ea"/>
                <a:ea typeface="+mn-ea"/>
              </a:rPr>
              <a:t>이복음</a:t>
            </a:r>
            <a:endParaRPr lang="en-US" altLang="ko-KR" sz="1050" b="0" dirty="0">
              <a:solidFill>
                <a:schemeClr val="bg1"/>
              </a:solidFill>
              <a:latin typeface="+mn-ea"/>
              <a:ea typeface="+mn-ea"/>
            </a:endParaRPr>
          </a:p>
          <a:p>
            <a:pPr marL="58950">
              <a:lnSpc>
                <a:spcPct val="150000"/>
              </a:lnSpc>
            </a:pPr>
            <a:r>
              <a:rPr lang="en-US" altLang="ko-KR" sz="1050" b="0">
                <a:solidFill>
                  <a:schemeClr val="bg1"/>
                </a:solidFill>
                <a:latin typeface="+mn-ea"/>
                <a:ea typeface="+mn-ea"/>
              </a:rPr>
              <a:t>2025.12.12</a:t>
            </a:r>
            <a:endParaRPr lang="en-US" altLang="ko-KR" sz="1050" b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3" name="TextBox 20">
            <a:extLst>
              <a:ext uri="{FF2B5EF4-FFF2-40B4-BE49-F238E27FC236}">
                <a16:creationId xmlns:a16="http://schemas.microsoft.com/office/drawing/2014/main" id="{89C00E19-FAAA-C4DD-2AB5-74F783A081E5}"/>
              </a:ext>
            </a:extLst>
          </p:cNvPr>
          <p:cNvSpPr txBox="1"/>
          <p:nvPr/>
        </p:nvSpPr>
        <p:spPr>
          <a:xfrm>
            <a:off x="8400000" y="5136396"/>
            <a:ext cx="3168000" cy="9694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sz="700" kern="1200" dirty="0">
              <a:solidFill>
                <a:schemeClr val="bg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ko-KR" altLang="en-US" sz="700" b="0" dirty="0">
                <a:solidFill>
                  <a:schemeClr val="bg1"/>
                </a:solidFill>
                <a:latin typeface="+mn-ea"/>
              </a:rPr>
              <a:t>서울시 영등포구 여의대로 </a:t>
            </a:r>
            <a:r>
              <a:rPr lang="en-US" altLang="ko-KR" sz="700" b="0" dirty="0">
                <a:solidFill>
                  <a:schemeClr val="bg1"/>
                </a:solidFill>
                <a:latin typeface="+mn-ea"/>
              </a:rPr>
              <a:t>108 </a:t>
            </a:r>
            <a:r>
              <a:rPr lang="ko-KR" altLang="en-US" sz="700" b="0" dirty="0" err="1">
                <a:solidFill>
                  <a:schemeClr val="bg1"/>
                </a:solidFill>
                <a:latin typeface="+mn-ea"/>
              </a:rPr>
              <a:t>파크원타워</a:t>
            </a:r>
            <a:r>
              <a:rPr lang="en-US" altLang="ko-KR" sz="700" b="0" dirty="0">
                <a:solidFill>
                  <a:schemeClr val="bg1"/>
                </a:solidFill>
                <a:latin typeface="+mn-ea"/>
              </a:rPr>
              <a:t>1 26</a:t>
            </a:r>
            <a:r>
              <a:rPr lang="ko-KR" altLang="en-US" sz="700" b="0" dirty="0">
                <a:solidFill>
                  <a:schemeClr val="bg1"/>
                </a:solidFill>
                <a:latin typeface="+mn-ea"/>
              </a:rPr>
              <a:t>층</a:t>
            </a:r>
            <a:endParaRPr lang="en-US" altLang="ko-KR" sz="700" b="0" dirty="0">
              <a:solidFill>
                <a:schemeClr val="bg1"/>
              </a:solidFill>
              <a:latin typeface="+mn-ea"/>
            </a:endParaRPr>
          </a:p>
          <a:p>
            <a:endParaRPr lang="en-US" altLang="ko-KR" sz="700" b="0" dirty="0">
              <a:solidFill>
                <a:schemeClr val="bg1"/>
              </a:solidFill>
              <a:latin typeface="+mn-ea"/>
            </a:endParaRPr>
          </a:p>
          <a:p>
            <a:r>
              <a:rPr lang="en-US" altLang="ko-KR" sz="700" b="0" dirty="0">
                <a:solidFill>
                  <a:schemeClr val="bg1"/>
                </a:solidFill>
                <a:latin typeface="+mn-ea"/>
              </a:rPr>
              <a:t>26F parc.1 Tower, 108, </a:t>
            </a:r>
            <a:r>
              <a:rPr lang="en-US" altLang="ko-KR" sz="700" b="0" dirty="0" err="1">
                <a:solidFill>
                  <a:schemeClr val="bg1"/>
                </a:solidFill>
                <a:latin typeface="+mn-ea"/>
              </a:rPr>
              <a:t>Yeoui-daero</a:t>
            </a:r>
            <a:r>
              <a:rPr lang="en-US" altLang="ko-KR" sz="700" b="0" dirty="0">
                <a:solidFill>
                  <a:schemeClr val="bg1"/>
                </a:solidFill>
                <a:latin typeface="+mn-ea"/>
              </a:rPr>
              <a:t>, </a:t>
            </a:r>
            <a:r>
              <a:rPr lang="en-US" altLang="ko-KR" sz="700" b="0" dirty="0" err="1">
                <a:solidFill>
                  <a:schemeClr val="bg1"/>
                </a:solidFill>
                <a:latin typeface="+mn-ea"/>
              </a:rPr>
              <a:t>Yeongdeungpo-gu</a:t>
            </a:r>
            <a:r>
              <a:rPr lang="en-US" altLang="ko-KR" sz="700" b="0" dirty="0">
                <a:solidFill>
                  <a:schemeClr val="bg1"/>
                </a:solidFill>
                <a:latin typeface="+mn-ea"/>
              </a:rPr>
              <a:t>, Seoul, 07335</a:t>
            </a:r>
          </a:p>
          <a:p>
            <a:br>
              <a:rPr lang="en-US" altLang="ko-KR" sz="700" b="0" dirty="0">
                <a:solidFill>
                  <a:schemeClr val="bg1"/>
                </a:solidFill>
                <a:latin typeface="+mn-ea"/>
              </a:rPr>
            </a:br>
            <a:r>
              <a:rPr lang="en-US" altLang="ko-KR" sz="700" b="0" dirty="0">
                <a:solidFill>
                  <a:schemeClr val="bg1"/>
                </a:solidFill>
                <a:latin typeface="+mn-ea"/>
              </a:rPr>
              <a:t>T 02-786-4273     </a:t>
            </a:r>
            <a:r>
              <a:rPr lang="ko-KR" altLang="en-US" sz="700" b="0" dirty="0" err="1">
                <a:solidFill>
                  <a:schemeClr val="bg1"/>
                </a:solidFill>
                <a:latin typeface="+mn-ea"/>
              </a:rPr>
              <a:t>ㅣ</a:t>
            </a:r>
            <a:r>
              <a:rPr lang="ko-KR" altLang="en-US" sz="700" b="0" dirty="0">
                <a:solidFill>
                  <a:schemeClr val="bg1"/>
                </a:solidFill>
                <a:latin typeface="+mn-ea"/>
              </a:rPr>
              <a:t>    </a:t>
            </a:r>
            <a:r>
              <a:rPr lang="en-US" altLang="ko-KR" sz="700" b="0" dirty="0">
                <a:solidFill>
                  <a:schemeClr val="bg1"/>
                </a:solidFill>
                <a:latin typeface="+mn-ea"/>
              </a:rPr>
              <a:t>F 02-786-4274</a:t>
            </a:r>
          </a:p>
          <a:p>
            <a:endParaRPr lang="en-US" altLang="ko-KR" sz="700" b="0" dirty="0">
              <a:solidFill>
                <a:schemeClr val="bg1"/>
              </a:solidFill>
              <a:latin typeface="+mn-ea"/>
            </a:endParaRPr>
          </a:p>
          <a:p>
            <a:r>
              <a:rPr lang="en-US" altLang="ko-KR" sz="700" b="0" dirty="0">
                <a:solidFill>
                  <a:schemeClr val="bg1"/>
                </a:solidFill>
                <a:latin typeface="+mn-ea"/>
              </a:rPr>
              <a:t>atoncorp.com</a:t>
            </a:r>
          </a:p>
          <a:p>
            <a:endParaRPr kumimoji="1" lang="ko-KR" altLang="en-US" sz="700" dirty="0">
              <a:solidFill>
                <a:schemeClr val="bg1"/>
              </a:solidFill>
            </a:endParaRPr>
          </a:p>
        </p:txBody>
      </p:sp>
      <p:cxnSp>
        <p:nvCxnSpPr>
          <p:cNvPr id="6" name="직선 연결선[R] 15">
            <a:extLst>
              <a:ext uri="{FF2B5EF4-FFF2-40B4-BE49-F238E27FC236}">
                <a16:creationId xmlns:a16="http://schemas.microsoft.com/office/drawing/2014/main" id="{BA7B5597-058A-D84E-A45E-5CA4FC7330AE}"/>
              </a:ext>
            </a:extLst>
          </p:cNvPr>
          <p:cNvCxnSpPr>
            <a:cxnSpLocks/>
          </p:cNvCxnSpPr>
          <p:nvPr/>
        </p:nvCxnSpPr>
        <p:spPr>
          <a:xfrm>
            <a:off x="8400000" y="5013000"/>
            <a:ext cx="2948116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직선 연결선[R] 16">
            <a:extLst>
              <a:ext uri="{FF2B5EF4-FFF2-40B4-BE49-F238E27FC236}">
                <a16:creationId xmlns:a16="http://schemas.microsoft.com/office/drawing/2014/main" id="{2DCAF791-E2EF-4FB2-7420-FB2D21EC3D1C}"/>
              </a:ext>
            </a:extLst>
          </p:cNvPr>
          <p:cNvCxnSpPr>
            <a:cxnSpLocks/>
          </p:cNvCxnSpPr>
          <p:nvPr/>
        </p:nvCxnSpPr>
        <p:spPr>
          <a:xfrm>
            <a:off x="624000" y="5013000"/>
            <a:ext cx="712800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텍스트 개체 틀 28">
            <a:extLst>
              <a:ext uri="{FF2B5EF4-FFF2-40B4-BE49-F238E27FC236}">
                <a16:creationId xmlns:a16="http://schemas.microsoft.com/office/drawing/2014/main" id="{2DC59409-A9D4-4D70-99C9-ECBD8BD81786}"/>
              </a:ext>
            </a:extLst>
          </p:cNvPr>
          <p:cNvSpPr txBox="1">
            <a:spLocks/>
          </p:cNvSpPr>
          <p:nvPr/>
        </p:nvSpPr>
        <p:spPr>
          <a:xfrm>
            <a:off x="1225975" y="20616"/>
            <a:ext cx="2160000" cy="180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[ATON] </a:t>
            </a:r>
            <a:r>
              <a:rPr lang="ko-KR" altLang="en-US"/>
              <a:t>카카오뱅크 </a:t>
            </a:r>
            <a:r>
              <a:rPr lang="en-US" altLang="ko-KR"/>
              <a:t>OTP POC</a:t>
            </a:r>
            <a:endParaRPr lang="ko-KR" altLang="en-US"/>
          </a:p>
        </p:txBody>
      </p:sp>
      <p:sp>
        <p:nvSpPr>
          <p:cNvPr id="214" name="텍스트 개체 틀 28">
            <a:extLst>
              <a:ext uri="{FF2B5EF4-FFF2-40B4-BE49-F238E27FC236}">
                <a16:creationId xmlns:a16="http://schemas.microsoft.com/office/drawing/2014/main" id="{E561644E-6DED-416B-A037-EDEDBEF0C687}"/>
              </a:ext>
            </a:extLst>
          </p:cNvPr>
          <p:cNvSpPr txBox="1">
            <a:spLocks/>
          </p:cNvSpPr>
          <p:nvPr/>
        </p:nvSpPr>
        <p:spPr>
          <a:xfrm>
            <a:off x="1235500" y="252000"/>
            <a:ext cx="2160000" cy="180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ko-KR" altLang="en-US" sz="800" b="0" i="0" u="none" strike="noStrike" cap="none" spc="-50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+mn-ea"/>
              </a:rPr>
              <a:t>문서 제 </a:t>
            </a:r>
            <a:r>
              <a:rPr kumimoji="0" lang="en-US" altLang="ko-KR" sz="800" b="0" i="0" u="none" strike="noStrike" cap="none" spc="-50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+mn-ea"/>
              </a:rPr>
              <a:t>· </a:t>
            </a:r>
            <a:r>
              <a:rPr kumimoji="0" lang="ko-KR" altLang="en-US" sz="800" b="0" i="0" u="none" strike="noStrike" cap="none" spc="-50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맑은 고딕" pitchFamily="50" charset="-127"/>
                <a:ea typeface="+mn-ea"/>
              </a:rPr>
              <a:t>개정 </a:t>
            </a:r>
            <a:r>
              <a:rPr kumimoji="1" lang="ko-KR" altLang="en-US" sz="800" b="0" dirty="0">
                <a:latin typeface="+mn-ea"/>
                <a:ea typeface="+mn-ea"/>
              </a:rPr>
              <a:t>이력</a:t>
            </a:r>
            <a:endParaRPr lang="en-US" altLang="ko-KR" b="0" dirty="0"/>
          </a:p>
        </p:txBody>
      </p:sp>
      <p:sp>
        <p:nvSpPr>
          <p:cNvPr id="228" name="텍스트 개체 틀 28">
            <a:extLst>
              <a:ext uri="{FF2B5EF4-FFF2-40B4-BE49-F238E27FC236}">
                <a16:creationId xmlns:a16="http://schemas.microsoft.com/office/drawing/2014/main" id="{D31E88FC-F766-4F7F-BC1A-0859D9651216}"/>
              </a:ext>
            </a:extLst>
          </p:cNvPr>
          <p:cNvSpPr txBox="1">
            <a:spLocks/>
          </p:cNvSpPr>
          <p:nvPr/>
        </p:nvSpPr>
        <p:spPr>
          <a:xfrm>
            <a:off x="4751298" y="252000"/>
            <a:ext cx="1080000" cy="180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b="0"/>
          </a:p>
        </p:txBody>
      </p:sp>
      <p:sp>
        <p:nvSpPr>
          <p:cNvPr id="235" name="텍스트 개체 틀 28">
            <a:extLst>
              <a:ext uri="{FF2B5EF4-FFF2-40B4-BE49-F238E27FC236}">
                <a16:creationId xmlns:a16="http://schemas.microsoft.com/office/drawing/2014/main" id="{7C919EEC-1992-4A94-B3F5-2D0B7E3731E8}"/>
              </a:ext>
            </a:extLst>
          </p:cNvPr>
          <p:cNvSpPr txBox="1">
            <a:spLocks/>
          </p:cNvSpPr>
          <p:nvPr/>
        </p:nvSpPr>
        <p:spPr>
          <a:xfrm>
            <a:off x="7088981" y="252000"/>
            <a:ext cx="2340000" cy="180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0"/>
              <a:t>Revision History</a:t>
            </a:r>
          </a:p>
        </p:txBody>
      </p:sp>
      <p:sp>
        <p:nvSpPr>
          <p:cNvPr id="236" name="텍스트 개체 틀 28">
            <a:extLst>
              <a:ext uri="{FF2B5EF4-FFF2-40B4-BE49-F238E27FC236}">
                <a16:creationId xmlns:a16="http://schemas.microsoft.com/office/drawing/2014/main" id="{8471F43E-DCBF-462B-9A46-A446A53BBD2A}"/>
              </a:ext>
            </a:extLst>
          </p:cNvPr>
          <p:cNvSpPr txBox="1">
            <a:spLocks/>
          </p:cNvSpPr>
          <p:nvPr/>
        </p:nvSpPr>
        <p:spPr>
          <a:xfrm>
            <a:off x="10612354" y="252000"/>
            <a:ext cx="1080000" cy="16977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altLang="ko-KR" b="0"/>
              <a:t>2025-12-12</a:t>
            </a:r>
            <a:endParaRPr lang="ko-KR" altLang="en-US" b="0" dirty="0"/>
          </a:p>
        </p:txBody>
      </p:sp>
      <p:graphicFrame>
        <p:nvGraphicFramePr>
          <p:cNvPr id="255" name="표 254">
            <a:extLst>
              <a:ext uri="{FF2B5EF4-FFF2-40B4-BE49-F238E27FC236}">
                <a16:creationId xmlns:a16="http://schemas.microsoft.com/office/drawing/2014/main" id="{66AAE767-1826-44AB-8D31-078ECAC134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681"/>
              </p:ext>
            </p:extLst>
          </p:nvPr>
        </p:nvGraphicFramePr>
        <p:xfrm>
          <a:off x="92944" y="631320"/>
          <a:ext cx="12006113" cy="3184220"/>
        </p:xfrm>
        <a:graphic>
          <a:graphicData uri="http://schemas.openxmlformats.org/drawingml/2006/table">
            <a:tbl>
              <a:tblPr/>
              <a:tblGrid>
                <a:gridCol w="624665">
                  <a:extLst>
                    <a:ext uri="{9D8B030D-6E8A-4147-A177-3AD203B41FA5}">
                      <a16:colId xmlns:a16="http://schemas.microsoft.com/office/drawing/2014/main" val="2334393115"/>
                    </a:ext>
                  </a:extLst>
                </a:gridCol>
                <a:gridCol w="1512000">
                  <a:extLst>
                    <a:ext uri="{9D8B030D-6E8A-4147-A177-3AD203B41FA5}">
                      <a16:colId xmlns:a16="http://schemas.microsoft.com/office/drawing/2014/main" val="108622808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1345863846"/>
                    </a:ext>
                  </a:extLst>
                </a:gridCol>
                <a:gridCol w="6014955">
                  <a:extLst>
                    <a:ext uri="{9D8B030D-6E8A-4147-A177-3AD203B41FA5}">
                      <a16:colId xmlns:a16="http://schemas.microsoft.com/office/drawing/2014/main" val="4148130091"/>
                    </a:ext>
                  </a:extLst>
                </a:gridCol>
                <a:gridCol w="1798854">
                  <a:extLst>
                    <a:ext uri="{9D8B030D-6E8A-4147-A177-3AD203B41FA5}">
                      <a16:colId xmlns:a16="http://schemas.microsoft.com/office/drawing/2014/main" val="1298642108"/>
                    </a:ext>
                  </a:extLst>
                </a:gridCol>
                <a:gridCol w="1047639">
                  <a:extLst>
                    <a:ext uri="{9D8B030D-6E8A-4147-A177-3AD203B41FA5}">
                      <a16:colId xmlns:a16="http://schemas.microsoft.com/office/drawing/2014/main" val="4117852319"/>
                    </a:ext>
                  </a:extLst>
                </a:gridCol>
              </a:tblGrid>
              <a:tr h="255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Version</a:t>
                      </a:r>
                      <a:endParaRPr kumimoji="0" lang="ko-KR" altLang="en-US" sz="6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Date Of Update</a:t>
                      </a:r>
                    </a:p>
                  </a:txBody>
                  <a:tcPr marL="53999" marR="53999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Type</a:t>
                      </a:r>
                      <a:endParaRPr kumimoji="0" lang="ko-KR" altLang="en-US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Updated Contents</a:t>
                      </a:r>
                    </a:p>
                  </a:txBody>
                  <a:tcPr marL="53999" marR="53999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Page</a:t>
                      </a:r>
                      <a:endParaRPr kumimoji="0" lang="ko-KR" altLang="en-US" sz="6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53999" marR="53999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Updated by</a:t>
                      </a:r>
                    </a:p>
                  </a:txBody>
                  <a:tcPr marL="53999" marR="53999" marT="0" marB="0" anchor="ctr" horzOverflow="overflow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8274224"/>
                  </a:ext>
                </a:extLst>
              </a:tr>
              <a:tr h="292862">
                <a:tc>
                  <a:txBody>
                    <a:bodyPr/>
                    <a:lstStyle/>
                    <a:p>
                      <a:pPr marL="0" marR="0" lvl="0" indent="0" algn="ctr" defTabSz="9572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0.0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+mj-lt"/>
                        <a:ea typeface="+mn-ea"/>
                      </a:endParaRPr>
                    </a:p>
                  </a:txBody>
                  <a:tcPr marL="71994" marR="35997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lvl="0" indent="-952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en-US" altLang="ko-KR" sz="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</a:rPr>
                        <a:t>2025-12-10</a:t>
                      </a:r>
                      <a:endParaRPr kumimoji="1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1994" marR="35997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0" lvl="0" indent="-1016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</a:rPr>
                        <a:t>신규</a:t>
                      </a:r>
                    </a:p>
                  </a:txBody>
                  <a:tcPr marL="71994" marR="35997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최초작성</a:t>
                      </a:r>
                      <a:endParaRPr kumimoji="0" lang="en-US" altLang="ko-KR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71994" marR="35997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1600" marR="0" lvl="0" indent="-101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1994" marR="35997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0" lvl="0" indent="-1016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</a:rPr>
                        <a:t>이복음</a:t>
                      </a: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1994" marR="35997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0406952"/>
                  </a:ext>
                </a:extLst>
              </a:tr>
              <a:tr h="292862">
                <a:tc>
                  <a:txBody>
                    <a:bodyPr/>
                    <a:lstStyle/>
                    <a:p>
                      <a:pPr marL="0" marR="0" lvl="0" indent="0" algn="ctr" defTabSz="9572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0.1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+mj-lt"/>
                        <a:ea typeface="+mn-ea"/>
                      </a:endParaRPr>
                    </a:p>
                  </a:txBody>
                  <a:tcPr marL="71994" marR="35997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lvl="0" indent="-952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en-US" altLang="ko-KR" sz="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</a:rPr>
                        <a:t>2025-12-11</a:t>
                      </a:r>
                      <a:endParaRPr kumimoji="1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1994" marR="35997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0" lvl="0" indent="-1016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</a:rPr>
                        <a:t>추가</a:t>
                      </a:r>
                      <a:r>
                        <a:rPr kumimoji="0" lang="en-US" altLang="ko-KR" sz="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</a:rPr>
                        <a:t>.</a:t>
                      </a:r>
                      <a:r>
                        <a:rPr kumimoji="0" lang="ko-KR" altLang="en-US" sz="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</a:rPr>
                        <a:t>보완</a:t>
                      </a: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1994" marR="35997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화면 흐름도 추가</a:t>
                      </a:r>
                      <a:endParaRPr kumimoji="0" lang="en-US" altLang="ko-KR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71994" marR="35997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1600" marR="0" lvl="0" indent="-101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1994" marR="35997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0" lvl="0" indent="-1016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이복음</a:t>
                      </a:r>
                    </a:p>
                  </a:txBody>
                  <a:tcPr marL="71994" marR="35997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9923260"/>
                  </a:ext>
                </a:extLst>
              </a:tr>
              <a:tr h="292862">
                <a:tc>
                  <a:txBody>
                    <a:bodyPr/>
                    <a:lstStyle/>
                    <a:p>
                      <a:pPr marL="0" marR="0" lvl="0" indent="0" algn="ctr" defTabSz="9572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600" b="0">
                          <a:solidFill>
                            <a:schemeClr val="tx1"/>
                          </a:solidFill>
                          <a:latin typeface="+mj-lt"/>
                          <a:ea typeface="+mn-ea"/>
                        </a:rPr>
                        <a:t>0.1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+mj-lt"/>
                        <a:ea typeface="+mn-ea"/>
                      </a:endParaRPr>
                    </a:p>
                  </a:txBody>
                  <a:tcPr marL="71994" marR="35997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lvl="0" indent="-952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en-US" altLang="ko-KR" sz="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</a:rPr>
                        <a:t>2025-12-12</a:t>
                      </a:r>
                      <a:endParaRPr kumimoji="1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1994" marR="35997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0" lvl="0" indent="-1016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</a:rPr>
                        <a:t>보완</a:t>
                      </a: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1994" marR="35997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디스크립션 작성</a:t>
                      </a:r>
                      <a:endParaRPr kumimoji="0" lang="en-US" altLang="ko-KR" sz="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6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lt"/>
                          <a:ea typeface="+mn-ea"/>
                          <a:cs typeface="+mn-cs"/>
                        </a:rPr>
                        <a:t>리뷰 후 변경 사항 반영</a:t>
                      </a:r>
                      <a:endParaRPr kumimoji="0" lang="en-US" altLang="ko-KR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71994" marR="35997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1600" marR="0" lvl="0" indent="-101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1994" marR="35997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0" lvl="0" indent="-1016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이복음</a:t>
                      </a:r>
                    </a:p>
                  </a:txBody>
                  <a:tcPr marL="71994" marR="35997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0086363"/>
                  </a:ext>
                </a:extLst>
              </a:tr>
              <a:tr h="292862">
                <a:tc>
                  <a:txBody>
                    <a:bodyPr/>
                    <a:lstStyle/>
                    <a:p>
                      <a:pPr marL="0" marR="0" lvl="0" indent="0" algn="ctr" defTabSz="9572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b="0" dirty="0">
                        <a:solidFill>
                          <a:schemeClr val="tx1"/>
                        </a:solidFill>
                        <a:latin typeface="+mj-lt"/>
                        <a:ea typeface="+mn-ea"/>
                      </a:endParaRPr>
                    </a:p>
                  </a:txBody>
                  <a:tcPr marL="71994" marR="35997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lvl="0" indent="-952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1994" marR="35997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0" lvl="0" indent="-1016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1994" marR="35997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6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1994" marR="35997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1600" marR="0" lvl="0" indent="-101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1994" marR="35997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0" lvl="0" indent="-1016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ko-KR" altLang="en-US" sz="6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994" marR="35997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0875828"/>
                  </a:ext>
                </a:extLst>
              </a:tr>
              <a:tr h="292862">
                <a:tc>
                  <a:txBody>
                    <a:bodyPr/>
                    <a:lstStyle/>
                    <a:p>
                      <a:pPr marL="0" marR="0" lvl="0" indent="0" algn="ctr" defTabSz="9572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b="0" dirty="0">
                        <a:solidFill>
                          <a:schemeClr val="tx1"/>
                        </a:solidFill>
                        <a:latin typeface="+mj-lt"/>
                        <a:ea typeface="+mn-ea"/>
                      </a:endParaRPr>
                    </a:p>
                  </a:txBody>
                  <a:tcPr marL="71994" marR="35997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lvl="0" indent="-952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1994" marR="35997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0" lvl="0" indent="-1016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1994" marR="35997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6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1994" marR="35997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1600" marR="0" lvl="0" indent="-101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1994" marR="35997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0" lvl="0" indent="-1016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ko-KR" altLang="en-US" sz="6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1994" marR="35997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914670"/>
                  </a:ext>
                </a:extLst>
              </a:tr>
              <a:tr h="292862">
                <a:tc>
                  <a:txBody>
                    <a:bodyPr/>
                    <a:lstStyle/>
                    <a:p>
                      <a:pPr marL="0" marR="0" lvl="0" indent="0" algn="ctr" defTabSz="9572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b="0" dirty="0">
                        <a:solidFill>
                          <a:schemeClr val="tx1"/>
                        </a:solidFill>
                        <a:latin typeface="+mj-lt"/>
                        <a:ea typeface="+mn-ea"/>
                      </a:endParaRPr>
                    </a:p>
                  </a:txBody>
                  <a:tcPr marL="71994" marR="35997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lvl="0" indent="-952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1994" marR="35997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0" lvl="0" indent="-1016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1994" marR="35997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6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71994" marR="35997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1600" marR="0" lvl="0" indent="-101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1994" marR="35997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0" lvl="0" indent="-1016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1994" marR="35997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5893424"/>
                  </a:ext>
                </a:extLst>
              </a:tr>
              <a:tr h="292862">
                <a:tc>
                  <a:txBody>
                    <a:bodyPr/>
                    <a:lstStyle/>
                    <a:p>
                      <a:pPr marL="0" marR="0" lvl="0" indent="0" algn="ctr" defTabSz="9572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b="0">
                        <a:solidFill>
                          <a:schemeClr val="tx1"/>
                        </a:solidFill>
                        <a:latin typeface="+mj-lt"/>
                        <a:ea typeface="+mn-ea"/>
                      </a:endParaRPr>
                    </a:p>
                  </a:txBody>
                  <a:tcPr marL="71994" marR="35997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lvl="0" indent="-952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1994" marR="35997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0" lvl="0" indent="-1016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1994" marR="35997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맑은 고딕" panose="020B0503020000020004" pitchFamily="50" charset="-127"/>
                        <a:buChar char="-"/>
                        <a:tabLst/>
                        <a:defRPr/>
                      </a:pP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71994" marR="35997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1600" marR="0" lvl="0" indent="-101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1994" marR="35997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0" lvl="0" indent="-1016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prstClr val="black"/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ko-KR" altLang="en-US" sz="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F0502020204030204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71994" marR="35997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0865659"/>
                  </a:ext>
                </a:extLst>
              </a:tr>
              <a:tr h="292862">
                <a:tc>
                  <a:txBody>
                    <a:bodyPr/>
                    <a:lstStyle/>
                    <a:p>
                      <a:pPr marL="0" marR="0" lvl="0" indent="0" algn="ctr" defTabSz="9572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b="0">
                        <a:solidFill>
                          <a:schemeClr val="tx1"/>
                        </a:solidFill>
                        <a:latin typeface="+mj-lt"/>
                        <a:ea typeface="+mn-ea"/>
                      </a:endParaRPr>
                    </a:p>
                  </a:txBody>
                  <a:tcPr marL="71994" marR="35997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lvl="0" indent="-952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1994" marR="35997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0" lvl="0" indent="-1016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1994" marR="35997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ko-KR" altLang="en-US" sz="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71994" marR="35997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1600" marR="0" lvl="0" indent="-101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6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71994" marR="35997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0" lvl="0" indent="-1016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1994" marR="35997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5367691"/>
                  </a:ext>
                </a:extLst>
              </a:tr>
              <a:tr h="292862">
                <a:tc>
                  <a:txBody>
                    <a:bodyPr/>
                    <a:lstStyle/>
                    <a:p>
                      <a:pPr marL="0" marR="0" lvl="0" indent="0" algn="ctr" defTabSz="9572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b="0">
                        <a:solidFill>
                          <a:schemeClr val="tx1"/>
                        </a:solidFill>
                        <a:latin typeface="+mj-lt"/>
                        <a:ea typeface="+mn-ea"/>
                      </a:endParaRPr>
                    </a:p>
                  </a:txBody>
                  <a:tcPr marL="71994" marR="35997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lvl="0" indent="-952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1994" marR="35997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0" lvl="0" indent="-1016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1994" marR="35997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kumimoji="0" lang="ko-KR" altLang="en-US" sz="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71994" marR="35997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1600" marR="0" lvl="0" indent="-101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6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71994" marR="35997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0" lvl="0" indent="-1016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1994" marR="35997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9310080"/>
                  </a:ext>
                </a:extLst>
              </a:tr>
              <a:tr h="292862">
                <a:tc>
                  <a:txBody>
                    <a:bodyPr/>
                    <a:lstStyle/>
                    <a:p>
                      <a:pPr marL="0" marR="0" lvl="0" indent="0" algn="ctr" defTabSz="95726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600" b="0" dirty="0">
                        <a:solidFill>
                          <a:schemeClr val="tx1"/>
                        </a:solidFill>
                        <a:latin typeface="+mj-lt"/>
                        <a:ea typeface="+mn-ea"/>
                      </a:endParaRPr>
                    </a:p>
                  </a:txBody>
                  <a:tcPr marL="71994" marR="35997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95250" marR="0" lvl="0" indent="-9525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1" lang="en-US" altLang="ko-KR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1994" marR="35997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0" lvl="0" indent="-1016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ko-KR" altLang="en-US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1994" marR="35997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 latinLnBrk="1">
                        <a:buFont typeface="Arial" panose="020B0604020202020204" pitchFamily="34" charset="0"/>
                        <a:buChar char="•"/>
                      </a:pPr>
                      <a:endParaRPr kumimoji="0" lang="ko-KR" altLang="en-US" sz="6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71994" marR="35997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01600" marR="0" lvl="0" indent="-1016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altLang="ko-KR" sz="6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71994" marR="35997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01600" marR="0" lvl="0" indent="-1016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kumimoji="0" lang="ko-KR" altLang="en-US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71994" marR="35997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7942462"/>
                  </a:ext>
                </a:extLst>
              </a:tr>
            </a:tbl>
          </a:graphicData>
        </a:graphic>
      </p:graphicFrame>
      <p:sp>
        <p:nvSpPr>
          <p:cNvPr id="8" name="직사각형 7">
            <a:extLst>
              <a:ext uri="{FF2B5EF4-FFF2-40B4-BE49-F238E27FC236}">
                <a16:creationId xmlns:a16="http://schemas.microsoft.com/office/drawing/2014/main" id="{96BE1D9B-3EFC-4763-BAF7-4D631E64512C}"/>
              </a:ext>
            </a:extLst>
          </p:cNvPr>
          <p:cNvSpPr/>
          <p:nvPr/>
        </p:nvSpPr>
        <p:spPr bwMode="auto">
          <a:xfrm>
            <a:off x="4712861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1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698FC46-4F4A-4239-A10D-BEDFDB55DD4B}"/>
              </a:ext>
            </a:extLst>
          </p:cNvPr>
          <p:cNvSpPr/>
          <p:nvPr/>
        </p:nvSpPr>
        <p:spPr bwMode="auto">
          <a:xfrm>
            <a:off x="5927042" y="0"/>
            <a:ext cx="294701" cy="21938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2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1ADA4A8-32E0-4810-A08B-1A56EAFA62BE}"/>
              </a:ext>
            </a:extLst>
          </p:cNvPr>
          <p:cNvSpPr/>
          <p:nvPr/>
        </p:nvSpPr>
        <p:spPr bwMode="auto">
          <a:xfrm>
            <a:off x="7059464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3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0143320-2E73-42F6-BBBD-BF6C12D50289}"/>
              </a:ext>
            </a:extLst>
          </p:cNvPr>
          <p:cNvSpPr/>
          <p:nvPr/>
        </p:nvSpPr>
        <p:spPr bwMode="auto">
          <a:xfrm>
            <a:off x="8264807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4</a:t>
            </a:r>
            <a:r>
              <a:rPr kumimoji="1" lang="en-US" altLang="ko-KR" sz="6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</a:t>
            </a: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DCC3B62-A048-4ED0-A0AB-EE45055CB175}"/>
              </a:ext>
            </a:extLst>
          </p:cNvPr>
          <p:cNvSpPr/>
          <p:nvPr/>
        </p:nvSpPr>
        <p:spPr bwMode="auto">
          <a:xfrm>
            <a:off x="9467081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5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6DE3B40A-5F2C-4E80-85C4-25583465C037}"/>
              </a:ext>
            </a:extLst>
          </p:cNvPr>
          <p:cNvSpPr/>
          <p:nvPr/>
        </p:nvSpPr>
        <p:spPr bwMode="auto">
          <a:xfrm>
            <a:off x="10574936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6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025566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F8D86-1299-1A8C-15C8-98DA01C60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텍스트 개체 틀 28">
            <a:extLst>
              <a:ext uri="{FF2B5EF4-FFF2-40B4-BE49-F238E27FC236}">
                <a16:creationId xmlns:a16="http://schemas.microsoft.com/office/drawing/2014/main" id="{F5B0EFE0-CE7F-D988-FFBB-B2B80F803A92}"/>
              </a:ext>
            </a:extLst>
          </p:cNvPr>
          <p:cNvSpPr txBox="1">
            <a:spLocks/>
          </p:cNvSpPr>
          <p:nvPr/>
        </p:nvSpPr>
        <p:spPr>
          <a:xfrm>
            <a:off x="4751298" y="252000"/>
            <a:ext cx="1080000" cy="180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b="0"/>
          </a:p>
        </p:txBody>
      </p:sp>
      <p:sp>
        <p:nvSpPr>
          <p:cNvPr id="235" name="텍스트 개체 틀 28">
            <a:extLst>
              <a:ext uri="{FF2B5EF4-FFF2-40B4-BE49-F238E27FC236}">
                <a16:creationId xmlns:a16="http://schemas.microsoft.com/office/drawing/2014/main" id="{4AD1BD9A-662C-F489-A42F-F0B80677F740}"/>
              </a:ext>
            </a:extLst>
          </p:cNvPr>
          <p:cNvSpPr txBox="1">
            <a:spLocks/>
          </p:cNvSpPr>
          <p:nvPr/>
        </p:nvSpPr>
        <p:spPr>
          <a:xfrm>
            <a:off x="7059464" y="252000"/>
            <a:ext cx="2340000" cy="180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b="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EF527FE-7EEC-BBCC-1BED-986300ED5C73}"/>
              </a:ext>
            </a:extLst>
          </p:cNvPr>
          <p:cNvSpPr/>
          <p:nvPr/>
        </p:nvSpPr>
        <p:spPr bwMode="auto">
          <a:xfrm>
            <a:off x="4712861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1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60BB39C-03A6-D497-FC8A-27F95519EE6D}"/>
              </a:ext>
            </a:extLst>
          </p:cNvPr>
          <p:cNvSpPr/>
          <p:nvPr/>
        </p:nvSpPr>
        <p:spPr bwMode="auto">
          <a:xfrm>
            <a:off x="5927042" y="0"/>
            <a:ext cx="294701" cy="21938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2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C43D840-A032-1615-978B-8A584ED1CEE0}"/>
              </a:ext>
            </a:extLst>
          </p:cNvPr>
          <p:cNvSpPr/>
          <p:nvPr/>
        </p:nvSpPr>
        <p:spPr bwMode="auto">
          <a:xfrm>
            <a:off x="7059464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3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E06C0A5-7360-A611-F18C-DCD874B6FB21}"/>
              </a:ext>
            </a:extLst>
          </p:cNvPr>
          <p:cNvSpPr/>
          <p:nvPr/>
        </p:nvSpPr>
        <p:spPr bwMode="auto">
          <a:xfrm>
            <a:off x="8264807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4</a:t>
            </a:r>
            <a:r>
              <a:rPr kumimoji="1" lang="en-US" altLang="ko-KR" sz="6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</a:t>
            </a: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B132E1DD-2B11-CFDF-CA17-A82046EFDB9F}"/>
              </a:ext>
            </a:extLst>
          </p:cNvPr>
          <p:cNvSpPr/>
          <p:nvPr/>
        </p:nvSpPr>
        <p:spPr bwMode="auto">
          <a:xfrm>
            <a:off x="9467081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5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FFE6BD5-B2E7-79E5-343A-13B836E95A70}"/>
              </a:ext>
            </a:extLst>
          </p:cNvPr>
          <p:cNvSpPr/>
          <p:nvPr/>
        </p:nvSpPr>
        <p:spPr bwMode="auto">
          <a:xfrm>
            <a:off x="10574936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6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6F9F276-7208-831E-6C2F-37855629A8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5908429"/>
              </p:ext>
            </p:extLst>
          </p:nvPr>
        </p:nvGraphicFramePr>
        <p:xfrm>
          <a:off x="84000" y="549000"/>
          <a:ext cx="12024000" cy="6192199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785587606"/>
                    </a:ext>
                  </a:extLst>
                </a:gridCol>
                <a:gridCol w="415155">
                  <a:extLst>
                    <a:ext uri="{9D8B030D-6E8A-4147-A177-3AD203B41FA5}">
                      <a16:colId xmlns:a16="http://schemas.microsoft.com/office/drawing/2014/main" val="1149639136"/>
                    </a:ext>
                  </a:extLst>
                </a:gridCol>
                <a:gridCol w="270000">
                  <a:extLst>
                    <a:ext uri="{9D8B030D-6E8A-4147-A177-3AD203B41FA5}">
                      <a16:colId xmlns:a16="http://schemas.microsoft.com/office/drawing/2014/main" val="3854428740"/>
                    </a:ext>
                  </a:extLst>
                </a:gridCol>
                <a:gridCol w="270000">
                  <a:extLst>
                    <a:ext uri="{9D8B030D-6E8A-4147-A177-3AD203B41FA5}">
                      <a16:colId xmlns:a16="http://schemas.microsoft.com/office/drawing/2014/main" val="3774757654"/>
                    </a:ext>
                  </a:extLst>
                </a:gridCol>
                <a:gridCol w="270000">
                  <a:extLst>
                    <a:ext uri="{9D8B030D-6E8A-4147-A177-3AD203B41FA5}">
                      <a16:colId xmlns:a16="http://schemas.microsoft.com/office/drawing/2014/main" val="2496836214"/>
                    </a:ext>
                  </a:extLst>
                </a:gridCol>
                <a:gridCol w="270000">
                  <a:extLst>
                    <a:ext uri="{9D8B030D-6E8A-4147-A177-3AD203B41FA5}">
                      <a16:colId xmlns:a16="http://schemas.microsoft.com/office/drawing/2014/main" val="2646333254"/>
                    </a:ext>
                  </a:extLst>
                </a:gridCol>
                <a:gridCol w="808845">
                  <a:extLst>
                    <a:ext uri="{9D8B030D-6E8A-4147-A177-3AD203B41FA5}">
                      <a16:colId xmlns:a16="http://schemas.microsoft.com/office/drawing/2014/main" val="3328232274"/>
                    </a:ext>
                  </a:extLst>
                </a:gridCol>
                <a:gridCol w="1601743">
                  <a:extLst>
                    <a:ext uri="{9D8B030D-6E8A-4147-A177-3AD203B41FA5}">
                      <a16:colId xmlns:a16="http://schemas.microsoft.com/office/drawing/2014/main" val="2903271911"/>
                    </a:ext>
                  </a:extLst>
                </a:gridCol>
                <a:gridCol w="3456164">
                  <a:extLst>
                    <a:ext uri="{9D8B030D-6E8A-4147-A177-3AD203B41FA5}">
                      <a16:colId xmlns:a16="http://schemas.microsoft.com/office/drawing/2014/main" val="3325729675"/>
                    </a:ext>
                  </a:extLst>
                </a:gridCol>
                <a:gridCol w="1405248">
                  <a:extLst>
                    <a:ext uri="{9D8B030D-6E8A-4147-A177-3AD203B41FA5}">
                      <a16:colId xmlns:a16="http://schemas.microsoft.com/office/drawing/2014/main" val="3585670676"/>
                    </a:ext>
                  </a:extLst>
                </a:gridCol>
                <a:gridCol w="1204845">
                  <a:extLst>
                    <a:ext uri="{9D8B030D-6E8A-4147-A177-3AD203B41FA5}">
                      <a16:colId xmlns:a16="http://schemas.microsoft.com/office/drawing/2014/main" val="3671479926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11593750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403771198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609344716"/>
                    </a:ext>
                  </a:extLst>
                </a:gridCol>
              </a:tblGrid>
              <a:tr h="26227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항목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필수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솔루션 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</a:t>
                      </a:r>
                      <a:endParaRPr kumimoji="0" lang="ko-KR" altLang="en-US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POC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평가 방법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상세 기능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세부 내용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참고사항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ATON 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검토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POC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준비 사항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필수여부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POC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4716410"/>
                  </a:ext>
                </a:extLst>
              </a:tr>
              <a:tr h="269200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인사</a:t>
                      </a:r>
                      <a:endParaRPr lang="en-US" altLang="ko-KR" sz="6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연동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필수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△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△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당행시스템 연동 건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IAM API 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혹은 </a:t>
                      </a:r>
                      <a:r>
                        <a:rPr 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LDAPS 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연동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LDAPS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를 통한 연동 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업무망 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인터넷망 공통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SI 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영역으로 처리 가능 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기술미팅 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API </a:t>
                      </a: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명세서</a:t>
                      </a:r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 </a:t>
                      </a:r>
                      <a:endParaRPr lang="ko-KR" altLang="en-US" sz="6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필수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△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6260338"/>
                  </a:ext>
                </a:extLst>
              </a:tr>
              <a:tr h="269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필수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△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△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당행시스템 연동 건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사용자 정보 구분 및 적재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사용자 정보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(User Info):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사용자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ID,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이름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부서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ID, E-mail,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직급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재직구분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출입카드 정보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결재권자정보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영역으로 처리 가능 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기술미팅 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(API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명세서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endParaRPr lang="ko-KR" altLang="en-US" sz="6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필수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△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2192744"/>
                  </a:ext>
                </a:extLst>
              </a:tr>
              <a:tr h="269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필수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△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△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당행시스템 연동 건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부서 정보 구분 및 적재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부서 정보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(Dept Info):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계열사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ID,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부서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ID,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부서명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상위부서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ID,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부서경로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부서레벨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재직구분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영역으로 처리 가능 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기술미팅 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(API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명세서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endParaRPr lang="ko-KR" altLang="en-US" sz="6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필수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△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640935"/>
                  </a:ext>
                </a:extLst>
              </a:tr>
              <a:tr h="269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필수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△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△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당행시스템 연동 건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사용자의 겸직 처리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겸직에 따른 사용자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부서 처리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영역으로 처리 가능 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기술미팅 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(API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명세서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endParaRPr lang="ko-KR" altLang="en-US" sz="6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필수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△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2541792"/>
                  </a:ext>
                </a:extLst>
              </a:tr>
              <a:tr h="269200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결재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필수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△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△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당행시스템 연동 건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사내 결재 시스템 연동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당행 시스템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(Dash / SOS)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연동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영역으로 처리 가능 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기술미팅 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(API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명세서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endParaRPr lang="ko-KR" altLang="en-US" sz="6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필수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△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1622724"/>
                  </a:ext>
                </a:extLst>
              </a:tr>
              <a:tr h="269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우대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△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△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당행시스템 연동 건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수동 결재선 지원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기존 연동 결재 외 수동 결재 지원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영역으로 처리 가능 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기술미팅 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(API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명세서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endParaRPr lang="ko-KR" altLang="en-US" sz="6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우대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△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9959307"/>
                  </a:ext>
                </a:extLst>
              </a:tr>
              <a:tr h="269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우대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△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△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당행시스템 연동 건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겸직 결재선 지원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겸직 처리 및 결재 진행 시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사용자에 의한 결재자 선택 지원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영역으로 처리 가능 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기술미팅 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(API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명세서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endParaRPr lang="ko-KR" altLang="en-US" sz="6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우대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△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3383262"/>
                  </a:ext>
                </a:extLst>
              </a:tr>
              <a:tr h="269200">
                <a:tc row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6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인증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필수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검증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기본 인증 지원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(OTP)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OAUTH OTP (6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자리 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- 8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자리 일회용 비밀번호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인증방식은 업체별 제공 방식에 따름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OAUTH OTP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에 대한 설명이 필요 함  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자리 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필수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1982111"/>
                  </a:ext>
                </a:extLst>
              </a:tr>
              <a:tr h="269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필수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검증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기본 인증 지원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(FIDO)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생체 인증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OS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생체인증 사용 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OS BIO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사용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필수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4945545"/>
                  </a:ext>
                </a:extLst>
              </a:tr>
              <a:tr h="269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필수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검증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백업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비상 인증 지원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개인 휴대폰 부재 시 인증 방안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사용자 인증 수단으로 검증 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(PIN)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사용자 인증 수단으로 검증 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(PIN)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필수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7150065"/>
                  </a:ext>
                </a:extLst>
              </a:tr>
              <a:tr h="269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필수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검증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스마트폰 토큰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(iOS/Android)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기본적인 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App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형태 인증 수단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솔루션기능 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필수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3535588"/>
                  </a:ext>
                </a:extLst>
              </a:tr>
              <a:tr h="269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우대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△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검증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노트북 토큰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(TouchID,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지문인식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인증 수단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우대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△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6474455"/>
                  </a:ext>
                </a:extLst>
              </a:tr>
              <a:tr h="269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우대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△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검증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하드웨어 토큰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(OTP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카드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지문보안키 등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개별 인증 수단 지원 시 활용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우대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△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0358829"/>
                  </a:ext>
                </a:extLst>
              </a:tr>
              <a:tr h="276529"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5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사용자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필수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검증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Win Logon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Windows PC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로그인 시 인증 지원 여부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Windows PC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로그인 시 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OTP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업무 수행은 가능 하나 로그인 창 은 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영역으로 처리 필요  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필수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4422387"/>
                  </a:ext>
                </a:extLst>
              </a:tr>
              <a:tr h="269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우대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△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검증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Mac Logon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Mac PC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로그인 시 인증 지원 여부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Web to APP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처리 가능 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확인 필요 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우대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△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6897512"/>
                  </a:ext>
                </a:extLst>
              </a:tr>
              <a:tr h="269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우대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△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검증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Dell ThinOS Logon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Thin Client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를 통한 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Citrix VDI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접속 인증 지원 여부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확인 필요 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우대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△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9329075"/>
                  </a:ext>
                </a:extLst>
              </a:tr>
              <a:tr h="269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우대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△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△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검증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Win Passwordless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지문키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/App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등을 통한 인증 위임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사용의도 확인 필요 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협의 필요 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우대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△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87478"/>
                  </a:ext>
                </a:extLst>
              </a:tr>
              <a:tr h="269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우대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△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△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검증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Mac Passwordless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TouchID/App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등을 통한 인증 위임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사용의도 확인 필요 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협의 필요 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우대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△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3613661"/>
                  </a:ext>
                </a:extLst>
              </a:tr>
              <a:tr h="269200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연동</a:t>
                      </a:r>
                      <a:endParaRPr lang="en-US" altLang="ko-KR" sz="6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프로토콜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필수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검증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Radius / REST API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각각 연동된 기존시스템 대체 필요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REST API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필수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6764438"/>
                  </a:ext>
                </a:extLst>
              </a:tr>
              <a:tr h="269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필수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△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검증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OIDC / SAML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지원 여부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필수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767876"/>
                  </a:ext>
                </a:extLst>
              </a:tr>
              <a:tr h="269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필수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△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△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기술미팅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IDP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연계 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Keycloak, Okta, EntraID)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POC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확인 불가 시 기술미팅으로 대체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기술미팅 대체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필수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△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8867099"/>
                  </a:ext>
                </a:extLst>
              </a:tr>
              <a:tr h="2692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우대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△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기술미팅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PQC(Post-Quantum Cryptography)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양자 컴퓨팅 파워 증가에 따른 암호화 체계 보호 방안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솔루션기능 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우대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△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560851"/>
                  </a:ext>
                </a:extLst>
              </a:tr>
            </a:tbl>
          </a:graphicData>
        </a:graphic>
      </p:graphicFrame>
      <p:sp>
        <p:nvSpPr>
          <p:cNvPr id="19" name="텍스트 개체 틀 18">
            <a:extLst>
              <a:ext uri="{FF2B5EF4-FFF2-40B4-BE49-F238E27FC236}">
                <a16:creationId xmlns:a16="http://schemas.microsoft.com/office/drawing/2014/main" id="{9506B04D-4950-BC4B-EDC1-8BD94894E2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ko-KR" altLang="en-US"/>
              <a:t>요건 정의</a:t>
            </a:r>
          </a:p>
        </p:txBody>
      </p:sp>
      <p:sp>
        <p:nvSpPr>
          <p:cNvPr id="23" name="텍스트 개체 틀 22">
            <a:extLst>
              <a:ext uri="{FF2B5EF4-FFF2-40B4-BE49-F238E27FC236}">
                <a16:creationId xmlns:a16="http://schemas.microsoft.com/office/drawing/2014/main" id="{3FBDF733-DADF-8D49-704A-F1359BF8330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altLang="ko-KR" b="1"/>
              <a:t>[ATON] </a:t>
            </a:r>
            <a:r>
              <a:rPr lang="ko-KR" altLang="en-US" b="1"/>
              <a:t>카카오뱅크 </a:t>
            </a:r>
            <a:r>
              <a:rPr lang="en-US" altLang="ko-KR" b="1"/>
              <a:t>OTP POC</a:t>
            </a:r>
            <a:endParaRPr lang="ko-KR" altLang="en-US" b="1"/>
          </a:p>
        </p:txBody>
      </p:sp>
      <p:sp>
        <p:nvSpPr>
          <p:cNvPr id="22" name="텍스트 개체 틀 21">
            <a:extLst>
              <a:ext uri="{FF2B5EF4-FFF2-40B4-BE49-F238E27FC236}">
                <a16:creationId xmlns:a16="http://schemas.microsoft.com/office/drawing/2014/main" id="{012C0550-9E83-D97C-B66F-6965F0153A8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/>
              <a:t>2025-12-10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171676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A9357C-AA7B-CBC5-C650-AEA69395B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CDC15D1-1203-0625-8F27-432809FB17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2516336"/>
              </p:ext>
            </p:extLst>
          </p:nvPr>
        </p:nvGraphicFramePr>
        <p:xfrm>
          <a:off x="84000" y="573963"/>
          <a:ext cx="12024000" cy="6167036"/>
        </p:xfrm>
        <a:graphic>
          <a:graphicData uri="http://schemas.openxmlformats.org/drawingml/2006/table">
            <a:tbl>
              <a:tblPr/>
              <a:tblGrid>
                <a:gridCol w="180000">
                  <a:extLst>
                    <a:ext uri="{9D8B030D-6E8A-4147-A177-3AD203B41FA5}">
                      <a16:colId xmlns:a16="http://schemas.microsoft.com/office/drawing/2014/main" val="2785587606"/>
                    </a:ext>
                  </a:extLst>
                </a:gridCol>
                <a:gridCol w="415155">
                  <a:extLst>
                    <a:ext uri="{9D8B030D-6E8A-4147-A177-3AD203B41FA5}">
                      <a16:colId xmlns:a16="http://schemas.microsoft.com/office/drawing/2014/main" val="1149639136"/>
                    </a:ext>
                  </a:extLst>
                </a:gridCol>
                <a:gridCol w="270000">
                  <a:extLst>
                    <a:ext uri="{9D8B030D-6E8A-4147-A177-3AD203B41FA5}">
                      <a16:colId xmlns:a16="http://schemas.microsoft.com/office/drawing/2014/main" val="3854428740"/>
                    </a:ext>
                  </a:extLst>
                </a:gridCol>
                <a:gridCol w="270000">
                  <a:extLst>
                    <a:ext uri="{9D8B030D-6E8A-4147-A177-3AD203B41FA5}">
                      <a16:colId xmlns:a16="http://schemas.microsoft.com/office/drawing/2014/main" val="3774757654"/>
                    </a:ext>
                  </a:extLst>
                </a:gridCol>
                <a:gridCol w="270000">
                  <a:extLst>
                    <a:ext uri="{9D8B030D-6E8A-4147-A177-3AD203B41FA5}">
                      <a16:colId xmlns:a16="http://schemas.microsoft.com/office/drawing/2014/main" val="2496836214"/>
                    </a:ext>
                  </a:extLst>
                </a:gridCol>
                <a:gridCol w="270000">
                  <a:extLst>
                    <a:ext uri="{9D8B030D-6E8A-4147-A177-3AD203B41FA5}">
                      <a16:colId xmlns:a16="http://schemas.microsoft.com/office/drawing/2014/main" val="2646333254"/>
                    </a:ext>
                  </a:extLst>
                </a:gridCol>
                <a:gridCol w="700845">
                  <a:extLst>
                    <a:ext uri="{9D8B030D-6E8A-4147-A177-3AD203B41FA5}">
                      <a16:colId xmlns:a16="http://schemas.microsoft.com/office/drawing/2014/main" val="3328232274"/>
                    </a:ext>
                  </a:extLst>
                </a:gridCol>
                <a:gridCol w="1709743">
                  <a:extLst>
                    <a:ext uri="{9D8B030D-6E8A-4147-A177-3AD203B41FA5}">
                      <a16:colId xmlns:a16="http://schemas.microsoft.com/office/drawing/2014/main" val="2903271911"/>
                    </a:ext>
                  </a:extLst>
                </a:gridCol>
                <a:gridCol w="3438257">
                  <a:extLst>
                    <a:ext uri="{9D8B030D-6E8A-4147-A177-3AD203B41FA5}">
                      <a16:colId xmlns:a16="http://schemas.microsoft.com/office/drawing/2014/main" val="3325729675"/>
                    </a:ext>
                  </a:extLst>
                </a:gridCol>
                <a:gridCol w="1423155">
                  <a:extLst>
                    <a:ext uri="{9D8B030D-6E8A-4147-A177-3AD203B41FA5}">
                      <a16:colId xmlns:a16="http://schemas.microsoft.com/office/drawing/2014/main" val="3585670676"/>
                    </a:ext>
                  </a:extLst>
                </a:gridCol>
                <a:gridCol w="1204845">
                  <a:extLst>
                    <a:ext uri="{9D8B030D-6E8A-4147-A177-3AD203B41FA5}">
                      <a16:colId xmlns:a16="http://schemas.microsoft.com/office/drawing/2014/main" val="3671479926"/>
                    </a:ext>
                  </a:extLst>
                </a:gridCol>
                <a:gridCol w="1152000">
                  <a:extLst>
                    <a:ext uri="{9D8B030D-6E8A-4147-A177-3AD203B41FA5}">
                      <a16:colId xmlns:a16="http://schemas.microsoft.com/office/drawing/2014/main" val="115937508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4037711984"/>
                    </a:ext>
                  </a:extLst>
                </a:gridCol>
                <a:gridCol w="288000">
                  <a:extLst>
                    <a:ext uri="{9D8B030D-6E8A-4147-A177-3AD203B41FA5}">
                      <a16:colId xmlns:a16="http://schemas.microsoft.com/office/drawing/2014/main" val="609344716"/>
                    </a:ext>
                  </a:extLst>
                </a:gridCol>
              </a:tblGrid>
              <a:tr h="27342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항목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필수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솔루션 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</a:t>
                      </a:r>
                      <a:endParaRPr kumimoji="0" lang="ko-KR" altLang="en-US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POC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평가 방법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상세 기능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세부 내용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참고사항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ATON 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검토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kumimoji="0" 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POC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준비 사항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필수여부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kumimoji="0" 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POC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평가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4716410"/>
                  </a:ext>
                </a:extLst>
              </a:tr>
              <a:tr h="280648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커스터</a:t>
                      </a:r>
                      <a:endParaRPr lang="en-US" altLang="ko-KR" sz="6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마이징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필수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△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△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당행시스템 연동 건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당행 시스템 연동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인사연동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결재연동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위 인사연동 및 결재 연동과 동일 항목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기술미팅 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(API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명세서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endParaRPr lang="ko-KR" altLang="en-US" sz="6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필수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△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2554870"/>
                  </a:ext>
                </a:extLst>
              </a:tr>
              <a:tr h="280648"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개인화</a:t>
                      </a:r>
                      <a:endParaRPr lang="en-US" altLang="ko-KR" sz="6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페이지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필수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△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검증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SSO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인증 지원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개인화 페이지 로그인 기능 적용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SSO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연계 로그인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개인화 페이지 개발필요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필수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4294419"/>
                  </a:ext>
                </a:extLst>
              </a:tr>
              <a:tr h="2806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필수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검증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OTP/FIDO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신규 발급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사용자별 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OTP/FIDO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발급 가이드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FIDO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신규 발급 처리는 어떻게 되는지 확인 필요 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개인화 페이지 개발필요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필수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4939527"/>
                  </a:ext>
                </a:extLst>
              </a:tr>
              <a:tr h="2806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필수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검증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임시 </a:t>
                      </a: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OTP 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발급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임시 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OTP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토큰 발급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개인 스마트폰 미지참에 따른 건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사용자 인증 수단으로 검증 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(PIN)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개인화 페이지 개발필요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필수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8488105"/>
                  </a:ext>
                </a:extLst>
              </a:tr>
              <a:tr h="280648">
                <a:tc rowSpan="9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9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</a:t>
                      </a:r>
                      <a:endParaRPr lang="en-US" altLang="ko-KR" sz="600" b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콘솔페이지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필수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검증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사용자 관리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사용자 현황 및 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OTP/FIDO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발급 내역확인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솔루션기능 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필수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3909989"/>
                  </a:ext>
                </a:extLst>
              </a:tr>
              <a:tr h="2806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필수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검증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사용자 인증로그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사용자별 인증로그 확인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솔루션기능 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필수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740090"/>
                  </a:ext>
                </a:extLst>
              </a:tr>
              <a:tr h="2806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필수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검증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API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인증로그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연동된 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API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별 인증로그 확인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솔루션기능 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필수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060650"/>
                  </a:ext>
                </a:extLst>
              </a:tr>
              <a:tr h="2806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필수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검증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감사 로그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정책 변경 및 조회 이력에 대한 감사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솔루션기능 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필수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2405850"/>
                  </a:ext>
                </a:extLst>
              </a:tr>
              <a:tr h="2806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필수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검증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권한 분리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콘솔 접속 및 모니터링 계정에 따른 메뉴 권한 분리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솔루션기능 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필수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0823662"/>
                  </a:ext>
                </a:extLst>
              </a:tr>
              <a:tr h="2806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필수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검증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IP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접근 권한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페이지 접속에 대한 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IP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접근 제어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솔루션기능 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필수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0577753"/>
                  </a:ext>
                </a:extLst>
              </a:tr>
              <a:tr h="2806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필수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검증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감사관리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정책 변경 및 조회 이력에 대한 감사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다양한 목적에 따른 관리자 생성 및 권한분리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감사로그 생성 지원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개발 필요 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필수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5822059"/>
                  </a:ext>
                </a:extLst>
              </a:tr>
              <a:tr h="2806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필수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△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△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검증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환경설정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사용자 및 부서에 대한 결재자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결재선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대결자 확인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서버 접근제어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페이지 권한 분리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관리자 계정 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SSO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연동 및 권한 개별 부여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페이지 권한 분리 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필수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7072224"/>
                  </a:ext>
                </a:extLst>
              </a:tr>
              <a:tr h="2806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필수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검증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발생 로그 등 시스템 연동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뷰테이블 제공 혹은 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SIEM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연동 지원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뷰테이블 제공 가능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필수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3650741"/>
                  </a:ext>
                </a:extLst>
              </a:tr>
              <a:tr h="280648">
                <a:tc rowSpan="8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8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정책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필수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검증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고정 </a:t>
                      </a: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OTP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특정 기간동안 특정 사용자의 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OTP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인증에 대하여 고정 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OTP(ex. 111111)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를 추가 지원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사용자 인증 수단으로 검증 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(PIN)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필수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9807598"/>
                  </a:ext>
                </a:extLst>
              </a:tr>
              <a:tr h="2806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우대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△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△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검증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Radius / REST API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관리 편의성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당행 내 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OTP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연동 요청 서비스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시스템에 대해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관련 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API Key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를 제공하고 관리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결재 연동을 통해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완료 시 자동 등록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REST API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만가능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우대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△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9673704"/>
                  </a:ext>
                </a:extLst>
              </a:tr>
              <a:tr h="2806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우대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△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검증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OTP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토큰 회수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퇴사 사용자에 대한 식별 및 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OTP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토큰 회수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폐기 처리 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우대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△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6296628"/>
                  </a:ext>
                </a:extLst>
              </a:tr>
              <a:tr h="2806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우대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△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△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검증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OTP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발급 간소화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신규 입사 예정자에 대한 사전 할당 혹은 사용자 신청 시 발급 간소화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협의 필요 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우대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△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6775683"/>
                  </a:ext>
                </a:extLst>
              </a:tr>
              <a:tr h="2806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우대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△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검증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OTP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잠금 및 해제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회 이상 오류 시 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OTP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잠금 및 당행 내 결재 시스템 연동을 통해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사용자에 의한 잠금 해제 지원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솔루션기능 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우대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△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4038869"/>
                  </a:ext>
                </a:extLst>
              </a:tr>
              <a:tr h="2806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우대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△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검증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App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편의성 및 안정성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사용자 편의성 고려 여부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신규 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OS(Android, iOS)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출시에 따른 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zeroday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지원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지원가능 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우대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△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375148"/>
                  </a:ext>
                </a:extLst>
              </a:tr>
              <a:tr h="2806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우대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△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X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검증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토큰 재사용 지원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서로 다른 서버간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당행 환경상 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A, B, C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서로 다른 물리적 망분리로 서버가 구성됨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각 서버간 토큰 발급이후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실 사용자는 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개로 혼용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서로 다른 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OTP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입력 최소화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안되는 부분 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물리적으로 분리되어 불가 항목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우대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△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6818155"/>
                  </a:ext>
                </a:extLst>
              </a:tr>
              <a:tr h="2806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우대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△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검증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토큰 재사용 지원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하나의 서버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서로 다른 시스템간</a:t>
                      </a:r>
                      <a:r>
                        <a:rPr lang="en-US" altLang="ko-KR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토큰 만료 전 일정 시간 내 토큰 재사용 지원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　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폐기 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라이선스 제공 </a:t>
                      </a:r>
                    </a:p>
                  </a:txBody>
                  <a:tcPr marL="72000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우대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11" rtl="0" eaLnBrk="1" fontAlgn="ctr" latinLnBrk="1" hangingPunct="1">
                        <a:buNone/>
                      </a:pPr>
                      <a:r>
                        <a:rPr lang="ko-KR" altLang="en-US" sz="600" b="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△</a:t>
                      </a:r>
                    </a:p>
                  </a:txBody>
                  <a:tcPr marL="2404" marR="2404" marT="2404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520158"/>
                  </a:ext>
                </a:extLst>
              </a:tr>
            </a:tbl>
          </a:graphicData>
        </a:graphic>
      </p:graphicFrame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A17D5FE9-577B-5A9B-1ACA-1FE99B9CACE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ko-KR" altLang="en-US"/>
              <a:t>요건 정의</a:t>
            </a:r>
          </a:p>
        </p:txBody>
      </p:sp>
      <p:sp>
        <p:nvSpPr>
          <p:cNvPr id="18" name="텍스트 개체 틀 17">
            <a:extLst>
              <a:ext uri="{FF2B5EF4-FFF2-40B4-BE49-F238E27FC236}">
                <a16:creationId xmlns:a16="http://schemas.microsoft.com/office/drawing/2014/main" id="{5D88FA09-0E87-2D9A-93A9-8F28B095053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altLang="ko-KR" b="1"/>
              <a:t>[ATON] </a:t>
            </a:r>
            <a:r>
              <a:rPr lang="ko-KR" altLang="en-US" b="1"/>
              <a:t>카카오뱅크 </a:t>
            </a:r>
            <a:r>
              <a:rPr lang="en-US" altLang="ko-KR" b="1"/>
              <a:t>OTP POC</a:t>
            </a:r>
            <a:endParaRPr lang="ko-KR" altLang="en-US" b="1"/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E5F8A0C0-BCBF-B5EB-6327-A34CEEC6C49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ko-KR"/>
              <a:t>2025-12-10</a:t>
            </a:r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11B7360-6426-7068-8785-D6EBC226F1AA}"/>
              </a:ext>
            </a:extLst>
          </p:cNvPr>
          <p:cNvSpPr/>
          <p:nvPr/>
        </p:nvSpPr>
        <p:spPr bwMode="auto">
          <a:xfrm>
            <a:off x="4712861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1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9FEDE933-3F09-08E5-45FB-0A28FD54D2F1}"/>
              </a:ext>
            </a:extLst>
          </p:cNvPr>
          <p:cNvSpPr/>
          <p:nvPr/>
        </p:nvSpPr>
        <p:spPr bwMode="auto">
          <a:xfrm>
            <a:off x="5927042" y="0"/>
            <a:ext cx="294701" cy="21938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2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9CCA734-CD1D-2C46-DE7D-7E74FBFF4A61}"/>
              </a:ext>
            </a:extLst>
          </p:cNvPr>
          <p:cNvSpPr/>
          <p:nvPr/>
        </p:nvSpPr>
        <p:spPr bwMode="auto">
          <a:xfrm>
            <a:off x="7059464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3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906B3A14-D0B3-6B53-08E4-F106575F5121}"/>
              </a:ext>
            </a:extLst>
          </p:cNvPr>
          <p:cNvSpPr/>
          <p:nvPr/>
        </p:nvSpPr>
        <p:spPr bwMode="auto">
          <a:xfrm>
            <a:off x="8264807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4</a:t>
            </a:r>
            <a:r>
              <a:rPr kumimoji="1" lang="en-US" altLang="ko-KR" sz="6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</a:t>
            </a: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0F5B937-FC37-B60B-4E02-31BF04C2EA36}"/>
              </a:ext>
            </a:extLst>
          </p:cNvPr>
          <p:cNvSpPr/>
          <p:nvPr/>
        </p:nvSpPr>
        <p:spPr bwMode="auto">
          <a:xfrm>
            <a:off x="9467081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5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BB1DE87-B0D6-54DE-C1F3-1148BA71DEE8}"/>
              </a:ext>
            </a:extLst>
          </p:cNvPr>
          <p:cNvSpPr/>
          <p:nvPr/>
        </p:nvSpPr>
        <p:spPr bwMode="auto">
          <a:xfrm>
            <a:off x="10574936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6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488484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1F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FFA97E-4147-F175-F946-5F52E82B3ACD}"/>
              </a:ext>
            </a:extLst>
          </p:cNvPr>
          <p:cNvSpPr txBox="1"/>
          <p:nvPr/>
        </p:nvSpPr>
        <p:spPr>
          <a:xfrm>
            <a:off x="738548" y="1813173"/>
            <a:ext cx="1071490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6000" b="0" spc="-130">
                <a:solidFill>
                  <a:schemeClr val="bg1"/>
                </a:solidFill>
                <a:latin typeface="+mn-ea"/>
                <a:ea typeface="+mn-ea"/>
                <a:cs typeface="Arial" panose="020B0604020202020204" pitchFamily="34" charset="0"/>
              </a:rPr>
              <a:t>1. LOGIN PAGE</a:t>
            </a:r>
            <a:endParaRPr lang="en-US" altLang="ko-KR" sz="3600" u="sng" spc="-130">
              <a:solidFill>
                <a:schemeClr val="bg1"/>
              </a:solidFill>
              <a:latin typeface="+mn-ea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4210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B851E-8438-A8DE-B696-98B7A50B2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B513C35B-9915-62E0-F66B-1306A6C78048}"/>
              </a:ext>
            </a:extLst>
          </p:cNvPr>
          <p:cNvSpPr/>
          <p:nvPr/>
        </p:nvSpPr>
        <p:spPr>
          <a:xfrm>
            <a:off x="0" y="520961"/>
            <a:ext cx="9467081" cy="6337039"/>
          </a:xfrm>
          <a:prstGeom prst="rect">
            <a:avLst/>
          </a:prstGeom>
          <a:solidFill>
            <a:srgbClr val="FEE500"/>
          </a:solidFill>
        </p:spPr>
        <p:txBody>
          <a:bodyPr wrap="square" rtlCol="0" anchor="ctr">
            <a:noAutofit/>
          </a:bodyPr>
          <a:lstStyle/>
          <a:p>
            <a:pPr algn="l"/>
            <a:endParaRPr kumimoji="0" lang="ko-KR" altLang="en-US" sz="9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7" name="텍스트 개체 틀 28">
            <a:extLst>
              <a:ext uri="{FF2B5EF4-FFF2-40B4-BE49-F238E27FC236}">
                <a16:creationId xmlns:a16="http://schemas.microsoft.com/office/drawing/2014/main" id="{B2433189-D4A1-78CF-D5BC-5DBFFE8D7D82}"/>
              </a:ext>
            </a:extLst>
          </p:cNvPr>
          <p:cNvSpPr txBox="1">
            <a:spLocks/>
          </p:cNvSpPr>
          <p:nvPr/>
        </p:nvSpPr>
        <p:spPr>
          <a:xfrm>
            <a:off x="1225975" y="20616"/>
            <a:ext cx="2160000" cy="180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[ATON] </a:t>
            </a:r>
            <a:r>
              <a:rPr lang="ko-KR" altLang="en-US"/>
              <a:t>카카오뱅크 </a:t>
            </a:r>
            <a:r>
              <a:rPr lang="en-US" altLang="ko-KR"/>
              <a:t>OTP POC</a:t>
            </a:r>
            <a:endParaRPr lang="ko-KR" altLang="en-US"/>
          </a:p>
        </p:txBody>
      </p:sp>
      <p:sp>
        <p:nvSpPr>
          <p:cNvPr id="214" name="텍스트 개체 틀 28">
            <a:extLst>
              <a:ext uri="{FF2B5EF4-FFF2-40B4-BE49-F238E27FC236}">
                <a16:creationId xmlns:a16="http://schemas.microsoft.com/office/drawing/2014/main" id="{8095DFFD-1AC0-1151-1233-F8094B0CB3FE}"/>
              </a:ext>
            </a:extLst>
          </p:cNvPr>
          <p:cNvSpPr txBox="1">
            <a:spLocks/>
          </p:cNvSpPr>
          <p:nvPr/>
        </p:nvSpPr>
        <p:spPr>
          <a:xfrm>
            <a:off x="1235500" y="252000"/>
            <a:ext cx="2160000" cy="180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ko-KR" altLang="en-US" b="0"/>
              <a:t>개인화 페이지 초기 </a:t>
            </a:r>
            <a:r>
              <a:rPr kumimoji="0" lang="ko-KR" altLang="en-US" b="0" dirty="0"/>
              <a:t>화면</a:t>
            </a:r>
            <a:endParaRPr kumimoji="0" lang="en-US" altLang="ko-KR" b="0" dirty="0"/>
          </a:p>
        </p:txBody>
      </p:sp>
      <p:sp>
        <p:nvSpPr>
          <p:cNvPr id="228" name="텍스트 개체 틀 28">
            <a:extLst>
              <a:ext uri="{FF2B5EF4-FFF2-40B4-BE49-F238E27FC236}">
                <a16:creationId xmlns:a16="http://schemas.microsoft.com/office/drawing/2014/main" id="{65F32633-64BA-6747-A59B-2BAF4717DD48}"/>
              </a:ext>
            </a:extLst>
          </p:cNvPr>
          <p:cNvSpPr txBox="1">
            <a:spLocks/>
          </p:cNvSpPr>
          <p:nvPr/>
        </p:nvSpPr>
        <p:spPr>
          <a:xfrm>
            <a:off x="4751298" y="252000"/>
            <a:ext cx="1080000" cy="180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b="0" dirty="0">
              <a:solidFill>
                <a:srgbClr val="000000"/>
              </a:solidFill>
            </a:endParaRPr>
          </a:p>
        </p:txBody>
      </p:sp>
      <p:sp>
        <p:nvSpPr>
          <p:cNvPr id="235" name="텍스트 개체 틀 28">
            <a:extLst>
              <a:ext uri="{FF2B5EF4-FFF2-40B4-BE49-F238E27FC236}">
                <a16:creationId xmlns:a16="http://schemas.microsoft.com/office/drawing/2014/main" id="{0CABE9F1-B2D7-E285-8D99-B5EDC6EF665A}"/>
              </a:ext>
            </a:extLst>
          </p:cNvPr>
          <p:cNvSpPr txBox="1">
            <a:spLocks/>
          </p:cNvSpPr>
          <p:nvPr/>
        </p:nvSpPr>
        <p:spPr>
          <a:xfrm>
            <a:off x="7088981" y="252000"/>
            <a:ext cx="2340000" cy="180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b="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8E6E9A9-B3B7-8747-DCF2-A4E72D9B2EF9}"/>
              </a:ext>
            </a:extLst>
          </p:cNvPr>
          <p:cNvSpPr/>
          <p:nvPr/>
        </p:nvSpPr>
        <p:spPr bwMode="auto">
          <a:xfrm>
            <a:off x="4712861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1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8C292D2-2A09-7F55-9E85-DC1C6B5BF929}"/>
              </a:ext>
            </a:extLst>
          </p:cNvPr>
          <p:cNvSpPr/>
          <p:nvPr/>
        </p:nvSpPr>
        <p:spPr bwMode="auto">
          <a:xfrm>
            <a:off x="5927042" y="0"/>
            <a:ext cx="294701" cy="21938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2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91E0C16-A66C-1B20-D9B1-07D9A741EE0C}"/>
              </a:ext>
            </a:extLst>
          </p:cNvPr>
          <p:cNvSpPr/>
          <p:nvPr/>
        </p:nvSpPr>
        <p:spPr bwMode="auto">
          <a:xfrm>
            <a:off x="7059464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3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8C18BD4-3B3D-9652-792B-D22CA0547FD6}"/>
              </a:ext>
            </a:extLst>
          </p:cNvPr>
          <p:cNvSpPr/>
          <p:nvPr/>
        </p:nvSpPr>
        <p:spPr bwMode="auto">
          <a:xfrm>
            <a:off x="8264807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4</a:t>
            </a:r>
            <a:r>
              <a:rPr kumimoji="1" lang="en-US" altLang="ko-KR" sz="6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</a:t>
            </a: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30E8EEC-6C8D-AB8E-1EF0-D6ADF2B182C4}"/>
              </a:ext>
            </a:extLst>
          </p:cNvPr>
          <p:cNvSpPr/>
          <p:nvPr/>
        </p:nvSpPr>
        <p:spPr bwMode="auto">
          <a:xfrm>
            <a:off x="9467081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5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8133387-BD05-2F9C-A7DF-B99187C792DD}"/>
              </a:ext>
            </a:extLst>
          </p:cNvPr>
          <p:cNvSpPr/>
          <p:nvPr/>
        </p:nvSpPr>
        <p:spPr bwMode="auto">
          <a:xfrm>
            <a:off x="10574936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6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69" name="텍스트 개체 틀 28">
            <a:extLst>
              <a:ext uri="{FF2B5EF4-FFF2-40B4-BE49-F238E27FC236}">
                <a16:creationId xmlns:a16="http://schemas.microsoft.com/office/drawing/2014/main" id="{DDE738D6-C51E-20AB-604E-4B91691F70B9}"/>
              </a:ext>
            </a:extLst>
          </p:cNvPr>
          <p:cNvSpPr txBox="1">
            <a:spLocks/>
          </p:cNvSpPr>
          <p:nvPr/>
        </p:nvSpPr>
        <p:spPr>
          <a:xfrm>
            <a:off x="10612354" y="252000"/>
            <a:ext cx="1080000" cy="16977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0"/>
              <a:t>2025-12-10</a:t>
            </a:r>
            <a:endParaRPr lang="ko-KR" altLang="en-US" b="0"/>
          </a:p>
        </p:txBody>
      </p:sp>
      <p:graphicFrame>
        <p:nvGraphicFramePr>
          <p:cNvPr id="126" name="Group 87">
            <a:extLst>
              <a:ext uri="{FF2B5EF4-FFF2-40B4-BE49-F238E27FC236}">
                <a16:creationId xmlns:a16="http://schemas.microsoft.com/office/drawing/2014/main" id="{19F3B468-C276-4055-3504-778B9DC62F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5788590"/>
              </p:ext>
            </p:extLst>
          </p:nvPr>
        </p:nvGraphicFramePr>
        <p:xfrm>
          <a:off x="9491386" y="520961"/>
          <a:ext cx="2698234" cy="1966990"/>
        </p:xfrm>
        <a:graphic>
          <a:graphicData uri="http://schemas.openxmlformats.org/drawingml/2006/table">
            <a:tbl>
              <a:tblPr/>
              <a:tblGrid>
                <a:gridCol w="3486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5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No.</a:t>
                      </a:r>
                      <a:endParaRPr kumimoji="0" lang="ko-KR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Component</a:t>
                      </a:r>
                      <a:endParaRPr kumimoji="0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Descriptions</a:t>
                      </a:r>
                      <a:endParaRPr kumimoji="0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/>
                        <a:t>개인화 페이지 초기 화면</a:t>
                      </a:r>
                      <a:endParaRPr kumimoji="0" lang="en-US" altLang="ko-KR" sz="800" b="1"/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anose="020B0503020000020004" pitchFamily="50" charset="-127"/>
                        <a:buChar char="-"/>
                        <a:tabLst/>
                        <a:defRPr/>
                      </a:pPr>
                      <a:endParaRPr kumimoji="0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040752"/>
                  </a:ext>
                </a:extLst>
              </a:tr>
              <a:tr h="285223">
                <a:tc gridSpan="3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REMARK</a:t>
                      </a: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9557">
                <a:tc gridSpan="3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5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5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6896">
                <a:tc gridSpan="3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FEEDBACK</a:t>
                      </a:r>
                      <a:endParaRPr kumimoji="0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5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76000">
                <a:tc gridSpan="3">
                  <a:txBody>
                    <a:bodyPr/>
                    <a:lstStyle/>
                    <a:p>
                      <a:pPr marL="0" marR="0" lvl="0" indent="0" algn="l" defTabSz="852488" rtl="0" eaLnBrk="0" fontAlgn="base" latinLnBrk="1" hangingPunct="0">
                        <a:lnSpc>
                          <a:spcPct val="15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+mj-lt"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3864E4DB-EB53-D3FD-71AF-7D93ABCA9E25}"/>
              </a:ext>
            </a:extLst>
          </p:cNvPr>
          <p:cNvSpPr txBox="1"/>
          <p:nvPr/>
        </p:nvSpPr>
        <p:spPr bwMode="auto">
          <a:xfrm>
            <a:off x="3111471" y="878353"/>
            <a:ext cx="3161058" cy="33855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b="1" i="0">
                <a:solidFill>
                  <a:srgbClr val="11111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카카오뱅크 </a:t>
            </a:r>
            <a:r>
              <a:rPr lang="en-US" altLang="ko-KR" b="1" i="0">
                <a:solidFill>
                  <a:srgbClr val="11111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OTP POC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1440BC4-2EFF-D22A-B1E1-C4296DD4761C}"/>
              </a:ext>
            </a:extLst>
          </p:cNvPr>
          <p:cNvSpPr txBox="1"/>
          <p:nvPr/>
        </p:nvSpPr>
        <p:spPr bwMode="auto">
          <a:xfrm>
            <a:off x="2779560" y="1216907"/>
            <a:ext cx="3824880" cy="21544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8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PC</a:t>
            </a:r>
            <a:r>
              <a:rPr lang="en-US" altLang="ko-KR" sz="8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/ Mobile Web</a:t>
            </a:r>
            <a:r>
              <a:rPr lang="ko-KR" altLang="en-US" sz="8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에</a:t>
            </a:r>
            <a:r>
              <a:rPr lang="ko-KR" altLang="en-US" sz="8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서 </a:t>
            </a:r>
            <a:r>
              <a:rPr lang="en-US" altLang="ko-KR" sz="8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OTP </a:t>
            </a:r>
            <a:r>
              <a:rPr lang="ko-KR" altLang="en-US" sz="8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인증을 요청하는 상황을 가정합니다</a:t>
            </a:r>
            <a:r>
              <a:rPr lang="en-US" altLang="ko-KR" sz="8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800"/>
          </a:p>
        </p:txBody>
      </p:sp>
      <p:grpSp>
        <p:nvGrpSpPr>
          <p:cNvPr id="29" name="그룹 28">
            <a:extLst>
              <a:ext uri="{FF2B5EF4-FFF2-40B4-BE49-F238E27FC236}">
                <a16:creationId xmlns:a16="http://schemas.microsoft.com/office/drawing/2014/main" id="{B43E6A87-E665-1249-D4DC-B4526D43EB4B}"/>
              </a:ext>
            </a:extLst>
          </p:cNvPr>
          <p:cNvGrpSpPr/>
          <p:nvPr/>
        </p:nvGrpSpPr>
        <p:grpSpPr>
          <a:xfrm>
            <a:off x="3308861" y="5373000"/>
            <a:ext cx="2808000" cy="1485001"/>
            <a:chOff x="3308861" y="5373000"/>
            <a:chExt cx="2808000" cy="1485001"/>
          </a:xfrm>
        </p:grpSpPr>
        <p:sp>
          <p:nvSpPr>
            <p:cNvPr id="22" name="사각형: 둥근 모서리 21">
              <a:extLst>
                <a:ext uri="{FF2B5EF4-FFF2-40B4-BE49-F238E27FC236}">
                  <a16:creationId xmlns:a16="http://schemas.microsoft.com/office/drawing/2014/main" id="{F0554612-767E-DA5D-AF08-D573B0C0A072}"/>
                </a:ext>
              </a:extLst>
            </p:cNvPr>
            <p:cNvSpPr/>
            <p:nvPr/>
          </p:nvSpPr>
          <p:spPr>
            <a:xfrm>
              <a:off x="3308861" y="5373000"/>
              <a:ext cx="2808000" cy="1194745"/>
            </a:xfrm>
            <a:prstGeom prst="roundRect">
              <a:avLst>
                <a:gd name="adj" fmla="val 20592"/>
              </a:avLst>
            </a:prstGeom>
            <a:solidFill>
              <a:schemeClr val="bg1"/>
            </a:solidFill>
          </p:spPr>
          <p:txBody>
            <a:bodyPr wrap="square" rtlCol="0" anchor="ctr">
              <a:noAutofit/>
            </a:bodyPr>
            <a:lstStyle/>
            <a:p>
              <a:pPr algn="l"/>
              <a:endParaRPr kumimoji="0" lang="ko-KR" altLang="en-US" sz="9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70DC9756-7EE1-3DD9-A733-0FB57C910881}"/>
                </a:ext>
              </a:extLst>
            </p:cNvPr>
            <p:cNvSpPr/>
            <p:nvPr/>
          </p:nvSpPr>
          <p:spPr>
            <a:xfrm>
              <a:off x="3308861" y="5970373"/>
              <a:ext cx="2808000" cy="887628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</p:spPr>
          <p:txBody>
            <a:bodyPr wrap="square" rtlCol="0" anchor="ctr">
              <a:noAutofit/>
            </a:bodyPr>
            <a:lstStyle/>
            <a:p>
              <a:pPr algn="l"/>
              <a:endParaRPr kumimoji="0" lang="ko-KR" altLang="en-US" sz="9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5693BBA9-6DC7-D382-7FC1-66D108B5D446}"/>
              </a:ext>
            </a:extLst>
          </p:cNvPr>
          <p:cNvSpPr txBox="1"/>
          <p:nvPr/>
        </p:nvSpPr>
        <p:spPr bwMode="auto">
          <a:xfrm>
            <a:off x="3111471" y="6060188"/>
            <a:ext cx="3161058" cy="33855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i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경영 서비스</a:t>
            </a:r>
            <a:endParaRPr lang="en-US" altLang="ko-KR" i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4C7D2F4-9A6D-3518-A0A3-70CC36A909EB}"/>
              </a:ext>
            </a:extLst>
          </p:cNvPr>
          <p:cNvSpPr txBox="1"/>
          <p:nvPr/>
        </p:nvSpPr>
        <p:spPr bwMode="auto">
          <a:xfrm>
            <a:off x="2779560" y="6393096"/>
            <a:ext cx="3824880" cy="2308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내부 경영</a:t>
            </a:r>
            <a:r>
              <a:rPr lang="en-US" altLang="ko-KR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업무 지원 시스템 로그인</a:t>
            </a:r>
            <a:endParaRPr lang="ko-KR" altLang="en-US" sz="900"/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3F729D92-F5AF-D485-2108-E74E9B61D723}"/>
              </a:ext>
            </a:extLst>
          </p:cNvPr>
          <p:cNvGrpSpPr/>
          <p:nvPr/>
        </p:nvGrpSpPr>
        <p:grpSpPr>
          <a:xfrm>
            <a:off x="2779560" y="1604255"/>
            <a:ext cx="3824880" cy="3192745"/>
            <a:chOff x="2779560" y="1604255"/>
            <a:chExt cx="3824880" cy="3192745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A6344788-DE6D-038C-8341-D55B18128B0B}"/>
                </a:ext>
              </a:extLst>
            </p:cNvPr>
            <p:cNvSpPr/>
            <p:nvPr/>
          </p:nvSpPr>
          <p:spPr>
            <a:xfrm>
              <a:off x="3308861" y="1604255"/>
              <a:ext cx="2808000" cy="3192745"/>
            </a:xfrm>
            <a:prstGeom prst="roundRect">
              <a:avLst>
                <a:gd name="adj" fmla="val 8346"/>
              </a:avLst>
            </a:prstGeom>
            <a:solidFill>
              <a:schemeClr val="bg1"/>
            </a:solidFill>
          </p:spPr>
          <p:txBody>
            <a:bodyPr wrap="square" rtlCol="0" anchor="ctr">
              <a:noAutofit/>
            </a:bodyPr>
            <a:lstStyle/>
            <a:p>
              <a:pPr algn="l"/>
              <a:endParaRPr kumimoji="0" lang="ko-KR" altLang="en-US" sz="9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A64F3AE-6CE2-49CD-6F33-EB7F5BE85D18}"/>
                </a:ext>
              </a:extLst>
            </p:cNvPr>
            <p:cNvSpPr txBox="1"/>
            <p:nvPr/>
          </p:nvSpPr>
          <p:spPr bwMode="auto">
            <a:xfrm>
              <a:off x="3111471" y="1845058"/>
              <a:ext cx="3161058" cy="33855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algn="ctr">
                <a:buNone/>
              </a:pPr>
              <a:r>
                <a:rPr lang="ko-KR" altLang="en-US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금융 서비스</a:t>
              </a:r>
              <a:endParaRPr lang="en-US" altLang="ko-KR" i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8D73D21-1427-F0A3-8200-9C0F0EDECF92}"/>
                </a:ext>
              </a:extLst>
            </p:cNvPr>
            <p:cNvSpPr txBox="1"/>
            <p:nvPr/>
          </p:nvSpPr>
          <p:spPr bwMode="auto">
            <a:xfrm>
              <a:off x="2779560" y="2257214"/>
              <a:ext cx="3824880" cy="2308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900" b="0" i="0">
                  <a:solidFill>
                    <a:srgbClr val="333333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은행</a:t>
              </a:r>
              <a:r>
                <a:rPr lang="en-US" altLang="ko-KR" sz="900" b="0" i="0">
                  <a:solidFill>
                    <a:srgbClr val="333333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, </a:t>
              </a:r>
              <a:r>
                <a:rPr lang="ko-KR" altLang="en-US" sz="900" b="0" i="0">
                  <a:solidFill>
                    <a:srgbClr val="333333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증권 등 금융 </a:t>
              </a:r>
              <a:r>
                <a:rPr lang="ko-KR" altLang="en-US" sz="900" b="0">
                  <a:solidFill>
                    <a:srgbClr val="33333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시스템</a:t>
              </a:r>
              <a:r>
                <a:rPr lang="ko-KR" altLang="en-US" sz="900" b="0" i="0">
                  <a:solidFill>
                    <a:srgbClr val="333333"/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rPr>
                <a:t> 로그인</a:t>
              </a:r>
              <a:endParaRPr lang="ko-KR" altLang="en-US" sz="900"/>
            </a:p>
          </p:txBody>
        </p:sp>
        <p:sp>
          <p:nvSpPr>
            <p:cNvPr id="19" name="사각형: 둥근 모서리 18">
              <a:extLst>
                <a:ext uri="{FF2B5EF4-FFF2-40B4-BE49-F238E27FC236}">
                  <a16:creationId xmlns:a16="http://schemas.microsoft.com/office/drawing/2014/main" id="{A31CD5F5-39E2-F69E-93B9-47A5AF2D5084}"/>
                </a:ext>
              </a:extLst>
            </p:cNvPr>
            <p:cNvSpPr/>
            <p:nvPr/>
          </p:nvSpPr>
          <p:spPr>
            <a:xfrm>
              <a:off x="3828000" y="3203012"/>
              <a:ext cx="1728000" cy="398272"/>
            </a:xfrm>
            <a:prstGeom prst="roundRect">
              <a:avLst>
                <a:gd name="adj" fmla="val 30214"/>
              </a:avLst>
            </a:prstGeom>
            <a:solidFill>
              <a:srgbClr val="FEE500"/>
            </a:solidFill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en-US" altLang="ko-KR" sz="800">
                  <a:solidFill>
                    <a:srgbClr val="11111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PUSH</a:t>
              </a:r>
              <a:r>
                <a:rPr lang="ko-KR" altLang="en-US" sz="800">
                  <a:solidFill>
                    <a:srgbClr val="11111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인증 요청</a:t>
              </a:r>
              <a:endParaRPr lang="ko-KR" altLang="en-US" sz="800" dirty="0" err="1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62" name="사각형: 둥근 모서리 61">
              <a:extLst>
                <a:ext uri="{FF2B5EF4-FFF2-40B4-BE49-F238E27FC236}">
                  <a16:creationId xmlns:a16="http://schemas.microsoft.com/office/drawing/2014/main" id="{789516E0-ACAF-F830-0238-6F27927061E0}"/>
                </a:ext>
              </a:extLst>
            </p:cNvPr>
            <p:cNvSpPr/>
            <p:nvPr/>
          </p:nvSpPr>
          <p:spPr>
            <a:xfrm>
              <a:off x="3828000" y="2767498"/>
              <a:ext cx="1728000" cy="327273"/>
            </a:xfrm>
            <a:prstGeom prst="roundRect">
              <a:avLst>
                <a:gd name="adj" fmla="val 30214"/>
              </a:avLst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 anchor="ctr">
              <a:noAutofit/>
            </a:bodyPr>
            <a:lstStyle/>
            <a:p>
              <a:r>
                <a:rPr lang="ko-KR" altLang="en-US" sz="700" b="0">
                  <a:solidFill>
                    <a:schemeClr val="bg1">
                      <a:lumMod val="6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사번을 입력하세요</a:t>
              </a:r>
              <a:endParaRPr lang="ko-KR" altLang="en-US" sz="700" b="0" dirty="0" err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6208252D-9126-B7BC-56A4-89E600A180C3}"/>
                </a:ext>
              </a:extLst>
            </p:cNvPr>
            <p:cNvSpPr txBox="1"/>
            <p:nvPr/>
          </p:nvSpPr>
          <p:spPr bwMode="auto">
            <a:xfrm>
              <a:off x="3954671" y="4117405"/>
              <a:ext cx="1474657" cy="2154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800" u="sng">
                  <a:solidFill>
                    <a:srgbClr val="33333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다른 방식으로 본인인증 하기</a:t>
              </a:r>
              <a:endParaRPr lang="ko-KR" altLang="en-US" sz="800" u="sng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BFE11D88-B08C-5DFA-FED8-6BD04B2F4509}"/>
                </a:ext>
              </a:extLst>
            </p:cNvPr>
            <p:cNvSpPr txBox="1"/>
            <p:nvPr/>
          </p:nvSpPr>
          <p:spPr bwMode="auto">
            <a:xfrm>
              <a:off x="3710615" y="3922333"/>
              <a:ext cx="1962769" cy="21544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800" b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본인 명의에 휴대폰이 없으신가요</a:t>
              </a:r>
              <a:r>
                <a:rPr lang="en-US" altLang="ko-KR" sz="800" b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?</a:t>
              </a:r>
              <a:endParaRPr lang="ko-KR" altLang="en-US" sz="800" b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70" name="직사각형 69">
            <a:extLst>
              <a:ext uri="{FF2B5EF4-FFF2-40B4-BE49-F238E27FC236}">
                <a16:creationId xmlns:a16="http://schemas.microsoft.com/office/drawing/2014/main" id="{9B4AF4BC-DEB4-A86B-15E0-A69FE4A61C8B}"/>
              </a:ext>
            </a:extLst>
          </p:cNvPr>
          <p:cNvSpPr/>
          <p:nvPr/>
        </p:nvSpPr>
        <p:spPr>
          <a:xfrm>
            <a:off x="781597" y="1484999"/>
            <a:ext cx="7939402" cy="3519493"/>
          </a:xfrm>
          <a:prstGeom prst="rect">
            <a:avLst/>
          </a:prstGeom>
          <a:noFill/>
          <a:ln>
            <a:solidFill>
              <a:srgbClr val="00B050"/>
            </a:solidFill>
            <a:prstDash val="sysDot"/>
          </a:ln>
        </p:spPr>
        <p:txBody>
          <a:bodyPr wrap="square" rtlCol="0" anchor="ctr">
            <a:noAutofit/>
          </a:bodyPr>
          <a:lstStyle/>
          <a:p>
            <a:pPr algn="l"/>
            <a:endParaRPr kumimoji="0" lang="ko-KR" altLang="en-US" sz="9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1" name="모서리가 둥근 직사각형 209">
            <a:extLst>
              <a:ext uri="{FF2B5EF4-FFF2-40B4-BE49-F238E27FC236}">
                <a16:creationId xmlns:a16="http://schemas.microsoft.com/office/drawing/2014/main" id="{7ED61C39-7557-0670-B5E8-ABD06C71A973}"/>
              </a:ext>
            </a:extLst>
          </p:cNvPr>
          <p:cNvSpPr/>
          <p:nvPr/>
        </p:nvSpPr>
        <p:spPr>
          <a:xfrm>
            <a:off x="790097" y="1489013"/>
            <a:ext cx="913904" cy="1661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600" b="0">
                <a:latin typeface="+mn-ea"/>
              </a:rPr>
              <a:t>금융망</a:t>
            </a:r>
            <a:endParaRPr lang="ko-KR" altLang="en-US" sz="600" b="0" dirty="0">
              <a:latin typeface="+mn-ea"/>
            </a:endParaRPr>
          </a:p>
        </p:txBody>
      </p:sp>
      <p:sp>
        <p:nvSpPr>
          <p:cNvPr id="2" name="모서리가 둥근 직사각형 209">
            <a:extLst>
              <a:ext uri="{FF2B5EF4-FFF2-40B4-BE49-F238E27FC236}">
                <a16:creationId xmlns:a16="http://schemas.microsoft.com/office/drawing/2014/main" id="{B48B0DF2-EE8D-E46A-FDF1-F2BC87368A6F}"/>
              </a:ext>
            </a:extLst>
          </p:cNvPr>
          <p:cNvSpPr/>
          <p:nvPr/>
        </p:nvSpPr>
        <p:spPr>
          <a:xfrm>
            <a:off x="0" y="6691873"/>
            <a:ext cx="12189620" cy="16612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r"/>
            <a:r>
              <a:rPr lang="ko-KR" altLang="en-US" sz="600">
                <a:latin typeface="+mn-ea"/>
              </a:rPr>
              <a:t>다음페이지에 이어서</a:t>
            </a:r>
            <a:endParaRPr lang="ko-KR" altLang="en-US" sz="6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875459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7EDBD-A68F-543B-A099-8F77805C2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4BD77309-149C-A320-4A2D-2EAF8B7EB0B3}"/>
              </a:ext>
            </a:extLst>
          </p:cNvPr>
          <p:cNvSpPr/>
          <p:nvPr/>
        </p:nvSpPr>
        <p:spPr>
          <a:xfrm>
            <a:off x="0" y="520961"/>
            <a:ext cx="9467081" cy="6337039"/>
          </a:xfrm>
          <a:prstGeom prst="rect">
            <a:avLst/>
          </a:prstGeom>
          <a:solidFill>
            <a:srgbClr val="FEE500"/>
          </a:solidFill>
        </p:spPr>
        <p:txBody>
          <a:bodyPr wrap="square" rtlCol="0" anchor="ctr">
            <a:noAutofit/>
          </a:bodyPr>
          <a:lstStyle/>
          <a:p>
            <a:pPr algn="l"/>
            <a:endParaRPr kumimoji="0" lang="ko-KR" altLang="en-US" sz="9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7" name="텍스트 개체 틀 28">
            <a:extLst>
              <a:ext uri="{FF2B5EF4-FFF2-40B4-BE49-F238E27FC236}">
                <a16:creationId xmlns:a16="http://schemas.microsoft.com/office/drawing/2014/main" id="{024B108F-03CC-FCAB-19B4-F3C98439D4D9}"/>
              </a:ext>
            </a:extLst>
          </p:cNvPr>
          <p:cNvSpPr txBox="1">
            <a:spLocks/>
          </p:cNvSpPr>
          <p:nvPr/>
        </p:nvSpPr>
        <p:spPr>
          <a:xfrm>
            <a:off x="1225975" y="20616"/>
            <a:ext cx="2160000" cy="180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[ATON] </a:t>
            </a:r>
            <a:r>
              <a:rPr lang="ko-KR" altLang="en-US"/>
              <a:t>카카오뱅크 </a:t>
            </a:r>
            <a:r>
              <a:rPr lang="en-US" altLang="ko-KR"/>
              <a:t>OTP POC</a:t>
            </a:r>
            <a:endParaRPr lang="ko-KR" altLang="en-US"/>
          </a:p>
        </p:txBody>
      </p:sp>
      <p:sp>
        <p:nvSpPr>
          <p:cNvPr id="214" name="텍스트 개체 틀 28">
            <a:extLst>
              <a:ext uri="{FF2B5EF4-FFF2-40B4-BE49-F238E27FC236}">
                <a16:creationId xmlns:a16="http://schemas.microsoft.com/office/drawing/2014/main" id="{EAE62FE3-EE3E-3EE8-6993-30C6ED7BA5D8}"/>
              </a:ext>
            </a:extLst>
          </p:cNvPr>
          <p:cNvSpPr txBox="1">
            <a:spLocks/>
          </p:cNvSpPr>
          <p:nvPr/>
        </p:nvSpPr>
        <p:spPr>
          <a:xfrm>
            <a:off x="1235500" y="252000"/>
            <a:ext cx="2160000" cy="180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ko-KR" altLang="en-US" b="0"/>
              <a:t>개인화 페이지 초기 화면</a:t>
            </a:r>
            <a:endParaRPr kumimoji="0" lang="en-US" altLang="ko-KR" b="0" dirty="0"/>
          </a:p>
        </p:txBody>
      </p:sp>
      <p:sp>
        <p:nvSpPr>
          <p:cNvPr id="228" name="텍스트 개체 틀 28">
            <a:extLst>
              <a:ext uri="{FF2B5EF4-FFF2-40B4-BE49-F238E27FC236}">
                <a16:creationId xmlns:a16="http://schemas.microsoft.com/office/drawing/2014/main" id="{06E4C73F-2BF2-E277-9040-59ACA09C6757}"/>
              </a:ext>
            </a:extLst>
          </p:cNvPr>
          <p:cNvSpPr txBox="1">
            <a:spLocks/>
          </p:cNvSpPr>
          <p:nvPr/>
        </p:nvSpPr>
        <p:spPr>
          <a:xfrm>
            <a:off x="4751298" y="252000"/>
            <a:ext cx="1080000" cy="180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b="0" dirty="0">
              <a:solidFill>
                <a:srgbClr val="000000"/>
              </a:solidFill>
            </a:endParaRPr>
          </a:p>
        </p:txBody>
      </p:sp>
      <p:sp>
        <p:nvSpPr>
          <p:cNvPr id="235" name="텍스트 개체 틀 28">
            <a:extLst>
              <a:ext uri="{FF2B5EF4-FFF2-40B4-BE49-F238E27FC236}">
                <a16:creationId xmlns:a16="http://schemas.microsoft.com/office/drawing/2014/main" id="{1B11B4DF-8A97-03D8-3E3F-ED7B37227B40}"/>
              </a:ext>
            </a:extLst>
          </p:cNvPr>
          <p:cNvSpPr txBox="1">
            <a:spLocks/>
          </p:cNvSpPr>
          <p:nvPr/>
        </p:nvSpPr>
        <p:spPr>
          <a:xfrm>
            <a:off x="7088981" y="252000"/>
            <a:ext cx="2340000" cy="180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b="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8BAB6516-60D1-1D16-BF99-9E7DDF3A8BDA}"/>
              </a:ext>
            </a:extLst>
          </p:cNvPr>
          <p:cNvSpPr/>
          <p:nvPr/>
        </p:nvSpPr>
        <p:spPr bwMode="auto">
          <a:xfrm>
            <a:off x="4712861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1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6D59CB9-C70D-FE5E-2256-C90B9F633C33}"/>
              </a:ext>
            </a:extLst>
          </p:cNvPr>
          <p:cNvSpPr/>
          <p:nvPr/>
        </p:nvSpPr>
        <p:spPr bwMode="auto">
          <a:xfrm>
            <a:off x="5927042" y="0"/>
            <a:ext cx="294701" cy="21938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2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B9899E8-F93F-0949-3000-B9F615CC0B61}"/>
              </a:ext>
            </a:extLst>
          </p:cNvPr>
          <p:cNvSpPr/>
          <p:nvPr/>
        </p:nvSpPr>
        <p:spPr bwMode="auto">
          <a:xfrm>
            <a:off x="7059464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3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0BE6D99-870B-E706-5A8C-827D00370A1E}"/>
              </a:ext>
            </a:extLst>
          </p:cNvPr>
          <p:cNvSpPr/>
          <p:nvPr/>
        </p:nvSpPr>
        <p:spPr bwMode="auto">
          <a:xfrm>
            <a:off x="8264807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4</a:t>
            </a:r>
            <a:r>
              <a:rPr kumimoji="1" lang="en-US" altLang="ko-KR" sz="6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</a:t>
            </a: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9A1BACC-5264-79C5-B26F-DE23A4AB552F}"/>
              </a:ext>
            </a:extLst>
          </p:cNvPr>
          <p:cNvSpPr/>
          <p:nvPr/>
        </p:nvSpPr>
        <p:spPr bwMode="auto">
          <a:xfrm>
            <a:off x="9467081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5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E9A75E5D-103F-CC34-CE09-3B2940FE477C}"/>
              </a:ext>
            </a:extLst>
          </p:cNvPr>
          <p:cNvSpPr/>
          <p:nvPr/>
        </p:nvSpPr>
        <p:spPr bwMode="auto">
          <a:xfrm>
            <a:off x="10574936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6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69" name="텍스트 개체 틀 28">
            <a:extLst>
              <a:ext uri="{FF2B5EF4-FFF2-40B4-BE49-F238E27FC236}">
                <a16:creationId xmlns:a16="http://schemas.microsoft.com/office/drawing/2014/main" id="{9D46A058-40E6-AE6C-7B25-A0AB1EFAB714}"/>
              </a:ext>
            </a:extLst>
          </p:cNvPr>
          <p:cNvSpPr txBox="1">
            <a:spLocks/>
          </p:cNvSpPr>
          <p:nvPr/>
        </p:nvSpPr>
        <p:spPr>
          <a:xfrm>
            <a:off x="10612354" y="252000"/>
            <a:ext cx="1080000" cy="16977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0"/>
              <a:t>2025-12-10</a:t>
            </a:r>
            <a:endParaRPr lang="ko-KR" altLang="en-US" b="0"/>
          </a:p>
        </p:txBody>
      </p:sp>
      <p:graphicFrame>
        <p:nvGraphicFramePr>
          <p:cNvPr id="39" name="Group 87">
            <a:extLst>
              <a:ext uri="{FF2B5EF4-FFF2-40B4-BE49-F238E27FC236}">
                <a16:creationId xmlns:a16="http://schemas.microsoft.com/office/drawing/2014/main" id="{BF376D9A-964F-DD8A-A13E-75B4464E03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1115060"/>
              </p:ext>
            </p:extLst>
          </p:nvPr>
        </p:nvGraphicFramePr>
        <p:xfrm>
          <a:off x="9491386" y="520961"/>
          <a:ext cx="2698233" cy="1966990"/>
        </p:xfrm>
        <a:graphic>
          <a:graphicData uri="http://schemas.openxmlformats.org/drawingml/2006/table">
            <a:tbl>
              <a:tblPr/>
              <a:tblGrid>
                <a:gridCol w="3486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3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5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No.</a:t>
                      </a:r>
                      <a:endParaRPr kumimoji="0" lang="ko-KR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Component</a:t>
                      </a:r>
                      <a:endParaRPr kumimoji="0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Descriptions</a:t>
                      </a:r>
                      <a:endParaRPr kumimoji="0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 gridSpan="3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800" b="1"/>
                        <a:t>개인화 페이지 초기 화면</a:t>
                      </a:r>
                      <a:endParaRPr kumimoji="0" lang="en-US" altLang="ko-KR" sz="800" b="1"/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맑은 고딕" panose="020B0503020000020004" pitchFamily="50" charset="-127"/>
                        <a:buChar char="-"/>
                        <a:tabLst/>
                        <a:defRPr/>
                      </a:pPr>
                      <a:endParaRPr kumimoji="0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040752"/>
                  </a:ext>
                </a:extLst>
              </a:tr>
              <a:tr h="285223">
                <a:tc gridSpan="3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REMARK</a:t>
                      </a: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9557">
                <a:tc gridSpan="3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5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5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6896">
                <a:tc gridSpan="3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FEEDBACK</a:t>
                      </a:r>
                      <a:endParaRPr kumimoji="0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5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76000">
                <a:tc gridSpan="3">
                  <a:txBody>
                    <a:bodyPr/>
                    <a:lstStyle/>
                    <a:p>
                      <a:pPr marL="0" marR="0" lvl="0" indent="0" algn="l" defTabSz="852488" rtl="0" eaLnBrk="0" fontAlgn="base" latinLnBrk="1" hangingPunct="0">
                        <a:lnSpc>
                          <a:spcPct val="15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+mj-lt"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1" name="사각형: 둥근 모서리 40">
            <a:extLst>
              <a:ext uri="{FF2B5EF4-FFF2-40B4-BE49-F238E27FC236}">
                <a16:creationId xmlns:a16="http://schemas.microsoft.com/office/drawing/2014/main" id="{BB60CF8A-1221-48F5-AAD2-E790B1FD449C}"/>
              </a:ext>
            </a:extLst>
          </p:cNvPr>
          <p:cNvSpPr/>
          <p:nvPr/>
        </p:nvSpPr>
        <p:spPr>
          <a:xfrm>
            <a:off x="3308861" y="727339"/>
            <a:ext cx="2808000" cy="2902495"/>
          </a:xfrm>
          <a:prstGeom prst="roundRect">
            <a:avLst>
              <a:gd name="adj" fmla="val 8346"/>
            </a:avLst>
          </a:prstGeom>
          <a:solidFill>
            <a:schemeClr val="bg1"/>
          </a:solidFill>
        </p:spPr>
        <p:txBody>
          <a:bodyPr wrap="square" rtlCol="0" anchor="ctr">
            <a:noAutofit/>
          </a:bodyPr>
          <a:lstStyle/>
          <a:p>
            <a:pPr algn="l"/>
            <a:endParaRPr kumimoji="0" lang="ko-KR" altLang="en-US" sz="9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7FE144B-B5E7-84FA-BEFC-38FE80BB8037}"/>
              </a:ext>
            </a:extLst>
          </p:cNvPr>
          <p:cNvSpPr txBox="1"/>
          <p:nvPr/>
        </p:nvSpPr>
        <p:spPr bwMode="auto">
          <a:xfrm>
            <a:off x="3111471" y="988292"/>
            <a:ext cx="3161058" cy="33855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경영 서비스</a:t>
            </a:r>
            <a:endParaRPr lang="en-US" altLang="ko-KR">
              <a:solidFill>
                <a:schemeClr val="tx1">
                  <a:lumMod val="75000"/>
                  <a:lumOff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B8BA747-9DF5-B08B-AED3-24AD07940BDA}"/>
              </a:ext>
            </a:extLst>
          </p:cNvPr>
          <p:cNvSpPr txBox="1"/>
          <p:nvPr/>
        </p:nvSpPr>
        <p:spPr bwMode="auto">
          <a:xfrm>
            <a:off x="2779560" y="1400448"/>
            <a:ext cx="3824880" cy="2308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내부 경영</a:t>
            </a:r>
            <a:r>
              <a:rPr lang="en-US" altLang="ko-KR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업무 지원 시스템 로그인</a:t>
            </a:r>
            <a:endParaRPr lang="ko-KR" altLang="en-US" sz="900"/>
          </a:p>
        </p:txBody>
      </p: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726B5647-7CDB-FC02-DA23-C01DDB2B48F0}"/>
              </a:ext>
            </a:extLst>
          </p:cNvPr>
          <p:cNvSpPr/>
          <p:nvPr/>
        </p:nvSpPr>
        <p:spPr>
          <a:xfrm>
            <a:off x="3828000" y="2180971"/>
            <a:ext cx="1728000" cy="398272"/>
          </a:xfrm>
          <a:prstGeom prst="roundRect">
            <a:avLst>
              <a:gd name="adj" fmla="val 30214"/>
            </a:avLst>
          </a:prstGeom>
          <a:solidFill>
            <a:srgbClr val="FEE500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80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PUSH</a:t>
            </a:r>
            <a:r>
              <a:rPr lang="ko-KR" altLang="en-US" sz="80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인증 요청</a:t>
            </a:r>
            <a:endParaRPr lang="ko-KR" altLang="en-US" sz="800" dirty="0" err="1">
              <a:solidFill>
                <a:srgbClr val="11111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5" name="사각형: 둥근 모서리 44">
            <a:extLst>
              <a:ext uri="{FF2B5EF4-FFF2-40B4-BE49-F238E27FC236}">
                <a16:creationId xmlns:a16="http://schemas.microsoft.com/office/drawing/2014/main" id="{58FCEB77-BFDA-6DF4-F700-3DA93709AC9F}"/>
              </a:ext>
            </a:extLst>
          </p:cNvPr>
          <p:cNvSpPr/>
          <p:nvPr/>
        </p:nvSpPr>
        <p:spPr>
          <a:xfrm>
            <a:off x="3828000" y="1745457"/>
            <a:ext cx="1728000" cy="327273"/>
          </a:xfrm>
          <a:prstGeom prst="roundRect">
            <a:avLst>
              <a:gd name="adj" fmla="val 30214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ko-KR" altLang="en-US" sz="700" b="0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사번을 입력하세요</a:t>
            </a:r>
            <a:endParaRPr lang="ko-KR" altLang="en-US" sz="700" b="0" dirty="0" err="1">
              <a:solidFill>
                <a:schemeClr val="bg1">
                  <a:lumMod val="6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3ED15A3-B5A7-A42B-AB57-92414FDF75A6}"/>
              </a:ext>
            </a:extLst>
          </p:cNvPr>
          <p:cNvSpPr txBox="1"/>
          <p:nvPr/>
        </p:nvSpPr>
        <p:spPr bwMode="auto">
          <a:xfrm>
            <a:off x="3954671" y="2976974"/>
            <a:ext cx="1474657" cy="21544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800" u="sng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다른 수단으로 인증 요청하기</a:t>
            </a:r>
            <a:endParaRPr lang="ko-KR" altLang="en-US" sz="800" u="sng"/>
          </a:p>
        </p:txBody>
      </p:sp>
      <p:sp>
        <p:nvSpPr>
          <p:cNvPr id="48" name="사각형: 둥근 모서리 47">
            <a:extLst>
              <a:ext uri="{FF2B5EF4-FFF2-40B4-BE49-F238E27FC236}">
                <a16:creationId xmlns:a16="http://schemas.microsoft.com/office/drawing/2014/main" id="{CFF31A31-2239-7764-F253-CFF3E5097097}"/>
              </a:ext>
            </a:extLst>
          </p:cNvPr>
          <p:cNvSpPr/>
          <p:nvPr/>
        </p:nvSpPr>
        <p:spPr>
          <a:xfrm>
            <a:off x="3308861" y="3821059"/>
            <a:ext cx="2808000" cy="2902495"/>
          </a:xfrm>
          <a:prstGeom prst="roundRect">
            <a:avLst>
              <a:gd name="adj" fmla="val 8346"/>
            </a:avLst>
          </a:prstGeom>
          <a:solidFill>
            <a:schemeClr val="bg1"/>
          </a:solidFill>
        </p:spPr>
        <p:txBody>
          <a:bodyPr wrap="square" rtlCol="0" anchor="ctr">
            <a:noAutofit/>
          </a:bodyPr>
          <a:lstStyle/>
          <a:p>
            <a:pPr algn="l"/>
            <a:endParaRPr kumimoji="0" lang="ko-KR" altLang="en-US" sz="9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9D6C963-D616-2305-B4F2-C0F3F93A374A}"/>
              </a:ext>
            </a:extLst>
          </p:cNvPr>
          <p:cNvSpPr txBox="1"/>
          <p:nvPr/>
        </p:nvSpPr>
        <p:spPr bwMode="auto">
          <a:xfrm>
            <a:off x="3111471" y="4082012"/>
            <a:ext cx="3161058" cy="33855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altLang="ko-KR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DR </a:t>
            </a: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서비스</a:t>
            </a:r>
            <a:endParaRPr lang="en-US" altLang="ko-KR">
              <a:solidFill>
                <a:schemeClr val="tx1">
                  <a:lumMod val="75000"/>
                  <a:lumOff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44A9D6C9-2F68-0DDE-1171-ABFF93C991CA}"/>
              </a:ext>
            </a:extLst>
          </p:cNvPr>
          <p:cNvSpPr txBox="1"/>
          <p:nvPr/>
        </p:nvSpPr>
        <p:spPr bwMode="auto">
          <a:xfrm>
            <a:off x="2779560" y="4494168"/>
            <a:ext cx="3824880" cy="2308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DR </a:t>
            </a:r>
            <a:r>
              <a:rPr lang="ko-KR" altLang="en-US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시스템 로그인</a:t>
            </a:r>
            <a:endParaRPr lang="ko-KR" altLang="en-US" sz="900"/>
          </a:p>
        </p:txBody>
      </p:sp>
      <p:sp>
        <p:nvSpPr>
          <p:cNvPr id="51" name="사각형: 둥근 모서리 50">
            <a:extLst>
              <a:ext uri="{FF2B5EF4-FFF2-40B4-BE49-F238E27FC236}">
                <a16:creationId xmlns:a16="http://schemas.microsoft.com/office/drawing/2014/main" id="{14B41A4D-FD5F-0C6C-9FDB-8BA72AB50ADC}"/>
              </a:ext>
            </a:extLst>
          </p:cNvPr>
          <p:cNvSpPr/>
          <p:nvPr/>
        </p:nvSpPr>
        <p:spPr>
          <a:xfrm>
            <a:off x="3828000" y="5274691"/>
            <a:ext cx="1728000" cy="398272"/>
          </a:xfrm>
          <a:prstGeom prst="roundRect">
            <a:avLst>
              <a:gd name="adj" fmla="val 30214"/>
            </a:avLst>
          </a:prstGeom>
          <a:solidFill>
            <a:srgbClr val="FEE500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80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PUSH</a:t>
            </a:r>
            <a:r>
              <a:rPr lang="ko-KR" altLang="en-US" sz="80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인증 요청</a:t>
            </a:r>
            <a:endParaRPr lang="ko-KR" altLang="en-US" sz="800" dirty="0" err="1">
              <a:solidFill>
                <a:srgbClr val="11111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0834F45E-6CDB-888E-CA06-802065F00C2C}"/>
              </a:ext>
            </a:extLst>
          </p:cNvPr>
          <p:cNvSpPr/>
          <p:nvPr/>
        </p:nvSpPr>
        <p:spPr>
          <a:xfrm>
            <a:off x="3828000" y="4839177"/>
            <a:ext cx="1728000" cy="327273"/>
          </a:xfrm>
          <a:prstGeom prst="roundRect">
            <a:avLst>
              <a:gd name="adj" fmla="val 30214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ko-KR" altLang="en-US" sz="700" b="0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사번을 입력하세요</a:t>
            </a:r>
            <a:endParaRPr lang="ko-KR" altLang="en-US" sz="700" b="0" dirty="0" err="1">
              <a:solidFill>
                <a:schemeClr val="bg1">
                  <a:lumMod val="6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B343C93-04FE-1E7E-AC81-926B7F873459}"/>
              </a:ext>
            </a:extLst>
          </p:cNvPr>
          <p:cNvSpPr txBox="1"/>
          <p:nvPr/>
        </p:nvSpPr>
        <p:spPr bwMode="auto">
          <a:xfrm>
            <a:off x="3954671" y="6070694"/>
            <a:ext cx="1474657" cy="21544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800" u="sng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다른 수단으로 인증 요청하기</a:t>
            </a:r>
            <a:endParaRPr lang="ko-KR" altLang="en-US" sz="800" u="sng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CAC8617F-1191-27CF-E73C-D355A598BC32}"/>
              </a:ext>
            </a:extLst>
          </p:cNvPr>
          <p:cNvSpPr/>
          <p:nvPr/>
        </p:nvSpPr>
        <p:spPr>
          <a:xfrm>
            <a:off x="781597" y="649447"/>
            <a:ext cx="7939402" cy="3057436"/>
          </a:xfrm>
          <a:prstGeom prst="rect">
            <a:avLst/>
          </a:prstGeom>
          <a:noFill/>
          <a:ln>
            <a:solidFill>
              <a:srgbClr val="00B050"/>
            </a:solidFill>
            <a:prstDash val="sysDot"/>
          </a:ln>
        </p:spPr>
        <p:txBody>
          <a:bodyPr wrap="square" rtlCol="0" anchor="ctr">
            <a:noAutofit/>
          </a:bodyPr>
          <a:lstStyle/>
          <a:p>
            <a:pPr algn="l"/>
            <a:endParaRPr kumimoji="0" lang="ko-KR" altLang="en-US" sz="9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5" name="모서리가 둥근 직사각형 209">
            <a:extLst>
              <a:ext uri="{FF2B5EF4-FFF2-40B4-BE49-F238E27FC236}">
                <a16:creationId xmlns:a16="http://schemas.microsoft.com/office/drawing/2014/main" id="{0C7C6E0A-A197-EC35-FE2B-321138AF4382}"/>
              </a:ext>
            </a:extLst>
          </p:cNvPr>
          <p:cNvSpPr/>
          <p:nvPr/>
        </p:nvSpPr>
        <p:spPr>
          <a:xfrm>
            <a:off x="790097" y="653460"/>
            <a:ext cx="913904" cy="1661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ko-KR" altLang="en-US" sz="600" b="0">
                <a:latin typeface="+mn-ea"/>
              </a:rPr>
              <a:t>경명망</a:t>
            </a:r>
            <a:endParaRPr lang="ko-KR" altLang="en-US" sz="600" b="0" dirty="0">
              <a:latin typeface="+mn-ea"/>
            </a:endParaRPr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2F81517D-C69A-2F9B-8829-A56FAB836443}"/>
              </a:ext>
            </a:extLst>
          </p:cNvPr>
          <p:cNvSpPr/>
          <p:nvPr/>
        </p:nvSpPr>
        <p:spPr>
          <a:xfrm>
            <a:off x="781597" y="3764122"/>
            <a:ext cx="7939402" cy="3057436"/>
          </a:xfrm>
          <a:prstGeom prst="rect">
            <a:avLst/>
          </a:prstGeom>
          <a:noFill/>
          <a:ln>
            <a:solidFill>
              <a:srgbClr val="00B050"/>
            </a:solidFill>
            <a:prstDash val="sysDot"/>
          </a:ln>
        </p:spPr>
        <p:txBody>
          <a:bodyPr wrap="square" rtlCol="0" anchor="ctr">
            <a:noAutofit/>
          </a:bodyPr>
          <a:lstStyle/>
          <a:p>
            <a:pPr algn="l"/>
            <a:endParaRPr kumimoji="0" lang="ko-KR" altLang="en-US" sz="9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7" name="모서리가 둥근 직사각형 209">
            <a:extLst>
              <a:ext uri="{FF2B5EF4-FFF2-40B4-BE49-F238E27FC236}">
                <a16:creationId xmlns:a16="http://schemas.microsoft.com/office/drawing/2014/main" id="{F90CD1AA-B62D-C561-572E-7D51B1A43DCF}"/>
              </a:ext>
            </a:extLst>
          </p:cNvPr>
          <p:cNvSpPr/>
          <p:nvPr/>
        </p:nvSpPr>
        <p:spPr>
          <a:xfrm>
            <a:off x="790097" y="3768135"/>
            <a:ext cx="913904" cy="1661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600" b="0">
                <a:latin typeface="+mn-ea"/>
              </a:rPr>
              <a:t>DR</a:t>
            </a:r>
            <a:r>
              <a:rPr lang="ko-KR" altLang="en-US" sz="600" b="0">
                <a:latin typeface="+mn-ea"/>
              </a:rPr>
              <a:t>밍</a:t>
            </a:r>
            <a:endParaRPr lang="ko-KR" altLang="en-US" sz="600" b="0" dirty="0">
              <a:latin typeface="+mn-ea"/>
            </a:endParaRPr>
          </a:p>
        </p:txBody>
      </p:sp>
      <p:sp>
        <p:nvSpPr>
          <p:cNvPr id="2" name="모서리가 둥근 직사각형 209">
            <a:extLst>
              <a:ext uri="{FF2B5EF4-FFF2-40B4-BE49-F238E27FC236}">
                <a16:creationId xmlns:a16="http://schemas.microsoft.com/office/drawing/2014/main" id="{E5272D2F-434D-2F63-FD60-470772DD49BE}"/>
              </a:ext>
            </a:extLst>
          </p:cNvPr>
          <p:cNvSpPr/>
          <p:nvPr/>
        </p:nvSpPr>
        <p:spPr>
          <a:xfrm>
            <a:off x="0" y="6691873"/>
            <a:ext cx="12189620" cy="16612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r"/>
            <a:r>
              <a:rPr lang="ko-KR" altLang="en-US" sz="600">
                <a:latin typeface="+mn-ea"/>
              </a:rPr>
              <a:t>이전페이지에 이어서</a:t>
            </a:r>
            <a:endParaRPr lang="ko-KR" altLang="en-US" sz="6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06376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EA4221-66A9-A3B0-4FFC-6A4265959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0" name="표 269">
            <a:extLst>
              <a:ext uri="{FF2B5EF4-FFF2-40B4-BE49-F238E27FC236}">
                <a16:creationId xmlns:a16="http://schemas.microsoft.com/office/drawing/2014/main" id="{2D8D1231-F4B1-E001-9F1A-D29618C9F4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9235343"/>
              </p:ext>
            </p:extLst>
          </p:nvPr>
        </p:nvGraphicFramePr>
        <p:xfrm>
          <a:off x="60000" y="693000"/>
          <a:ext cx="12072000" cy="5832000"/>
        </p:xfrm>
        <a:graphic>
          <a:graphicData uri="http://schemas.openxmlformats.org/drawingml/2006/table">
            <a:tbl>
              <a:tblPr/>
              <a:tblGrid>
                <a:gridCol w="12072000">
                  <a:extLst>
                    <a:ext uri="{9D8B030D-6E8A-4147-A177-3AD203B41FA5}">
                      <a16:colId xmlns:a16="http://schemas.microsoft.com/office/drawing/2014/main" val="2223169216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PUSH </a:t>
                      </a:r>
                      <a:r>
                        <a:rPr kumimoji="0" lang="ko-KR" altLang="en-US" sz="6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 </a:t>
                      </a:r>
                      <a:r>
                        <a:rPr kumimoji="0" lang="en-US" altLang="ko-KR" sz="6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(OTP APP</a:t>
                      </a:r>
                      <a:r>
                        <a:rPr kumimoji="0" lang="ko-KR" altLang="en-US" sz="6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인증</a:t>
                      </a:r>
                      <a:r>
                        <a:rPr kumimoji="0" lang="en-US" altLang="ko-KR" sz="6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)</a:t>
                      </a:r>
                      <a:endParaRPr kumimoji="0" lang="ko-KR" altLang="en-US" sz="600" b="0" i="0" u="none" strike="noStrike" kern="1200" cap="none" normalizeH="0" baseline="0" noProof="0" dirty="0" err="1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7241172"/>
                  </a:ext>
                </a:extLst>
              </a:tr>
              <a:tr h="2700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 err="1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굴림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6598356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관리자 승인 인증 </a:t>
                      </a:r>
                      <a:r>
                        <a:rPr kumimoji="0" lang="en-US" altLang="ko-KR" sz="6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6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임시 </a:t>
                      </a:r>
                      <a:r>
                        <a:rPr kumimoji="0" lang="en-US" altLang="ko-KR" sz="6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OTP PIN </a:t>
                      </a:r>
                      <a:r>
                        <a:rPr kumimoji="0" lang="ko-KR" altLang="en-US" sz="6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</a:t>
                      </a:r>
                      <a:r>
                        <a:rPr kumimoji="0" lang="en-US" altLang="ko-KR" sz="600" b="0" i="0" u="none" strike="noStrike" kern="1200" cap="none" normalizeH="0" baseline="0" noProof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)</a:t>
                      </a:r>
                      <a:endParaRPr kumimoji="0" lang="ko-KR" altLang="en-US" sz="600" b="0" i="0" u="none" strike="noStrike" kern="1200" cap="none" normalizeH="0" baseline="0" noProof="0" dirty="0" err="1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9284665"/>
                  </a:ext>
                </a:extLst>
              </a:tr>
              <a:tr h="270000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700" b="0" i="0" u="none" strike="noStrike" kern="1200" cap="none" spc="0" normalizeH="0" baseline="0" noProof="0" dirty="0" err="1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맑은 고딕" pitchFamily="50" charset="-127"/>
                        <a:ea typeface="굴림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59518128"/>
                  </a:ext>
                </a:extLst>
              </a:tr>
            </a:tbl>
          </a:graphicData>
        </a:graphic>
      </p:graphicFrame>
      <p:sp>
        <p:nvSpPr>
          <p:cNvPr id="214" name="텍스트 개체 틀 28">
            <a:extLst>
              <a:ext uri="{FF2B5EF4-FFF2-40B4-BE49-F238E27FC236}">
                <a16:creationId xmlns:a16="http://schemas.microsoft.com/office/drawing/2014/main" id="{1386D039-D156-8A21-36F1-A747CA6A9671}"/>
              </a:ext>
            </a:extLst>
          </p:cNvPr>
          <p:cNvSpPr txBox="1">
            <a:spLocks/>
          </p:cNvSpPr>
          <p:nvPr/>
        </p:nvSpPr>
        <p:spPr>
          <a:xfrm>
            <a:off x="1235500" y="252000"/>
            <a:ext cx="2160000" cy="180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ko-KR" altLang="en-US" b="0"/>
              <a:t>화면 흐름도</a:t>
            </a:r>
            <a:endParaRPr kumimoji="0" lang="en-US" altLang="ko-KR" b="0" dirty="0"/>
          </a:p>
        </p:txBody>
      </p:sp>
      <p:sp>
        <p:nvSpPr>
          <p:cNvPr id="228" name="텍스트 개체 틀 28">
            <a:extLst>
              <a:ext uri="{FF2B5EF4-FFF2-40B4-BE49-F238E27FC236}">
                <a16:creationId xmlns:a16="http://schemas.microsoft.com/office/drawing/2014/main" id="{3E932EAE-F640-2276-C054-7C5AB20D4E36}"/>
              </a:ext>
            </a:extLst>
          </p:cNvPr>
          <p:cNvSpPr txBox="1">
            <a:spLocks/>
          </p:cNvSpPr>
          <p:nvPr/>
        </p:nvSpPr>
        <p:spPr>
          <a:xfrm>
            <a:off x="4751298" y="252000"/>
            <a:ext cx="1080000" cy="180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b="0" dirty="0">
              <a:solidFill>
                <a:srgbClr val="000000"/>
              </a:solidFill>
            </a:endParaRPr>
          </a:p>
        </p:txBody>
      </p:sp>
      <p:sp>
        <p:nvSpPr>
          <p:cNvPr id="235" name="텍스트 개체 틀 28">
            <a:extLst>
              <a:ext uri="{FF2B5EF4-FFF2-40B4-BE49-F238E27FC236}">
                <a16:creationId xmlns:a16="http://schemas.microsoft.com/office/drawing/2014/main" id="{A4CC3255-1E49-4A11-9DFE-16BA225D6215}"/>
              </a:ext>
            </a:extLst>
          </p:cNvPr>
          <p:cNvSpPr txBox="1">
            <a:spLocks/>
          </p:cNvSpPr>
          <p:nvPr/>
        </p:nvSpPr>
        <p:spPr>
          <a:xfrm>
            <a:off x="7088981" y="252000"/>
            <a:ext cx="2340000" cy="180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b="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8007FFE-961D-42E6-D4E6-92D7C0BE4EED}"/>
              </a:ext>
            </a:extLst>
          </p:cNvPr>
          <p:cNvSpPr/>
          <p:nvPr/>
        </p:nvSpPr>
        <p:spPr bwMode="auto">
          <a:xfrm>
            <a:off x="4712861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1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E69E680-5FC5-E13F-4E1F-8E610FC2DAB6}"/>
              </a:ext>
            </a:extLst>
          </p:cNvPr>
          <p:cNvSpPr/>
          <p:nvPr/>
        </p:nvSpPr>
        <p:spPr bwMode="auto">
          <a:xfrm>
            <a:off x="5927042" y="0"/>
            <a:ext cx="294701" cy="21938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2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F33A44B-206F-AA63-BA36-B209F8794384}"/>
              </a:ext>
            </a:extLst>
          </p:cNvPr>
          <p:cNvSpPr/>
          <p:nvPr/>
        </p:nvSpPr>
        <p:spPr bwMode="auto">
          <a:xfrm>
            <a:off x="7059464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3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88C8EB1-6C19-CD02-ADCD-36165883287E}"/>
              </a:ext>
            </a:extLst>
          </p:cNvPr>
          <p:cNvSpPr/>
          <p:nvPr/>
        </p:nvSpPr>
        <p:spPr bwMode="auto">
          <a:xfrm>
            <a:off x="8264807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4</a:t>
            </a:r>
            <a:r>
              <a:rPr kumimoji="1" lang="en-US" altLang="ko-KR" sz="6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</a:t>
            </a: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1E6A4D7-1F4A-197D-0C78-4DBA80EBCECE}"/>
              </a:ext>
            </a:extLst>
          </p:cNvPr>
          <p:cNvSpPr/>
          <p:nvPr/>
        </p:nvSpPr>
        <p:spPr bwMode="auto">
          <a:xfrm>
            <a:off x="9467081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5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A77A9EC-E207-2B6E-E041-0D8FCAE8C48B}"/>
              </a:ext>
            </a:extLst>
          </p:cNvPr>
          <p:cNvSpPr/>
          <p:nvPr/>
        </p:nvSpPr>
        <p:spPr bwMode="auto">
          <a:xfrm>
            <a:off x="10574936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6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69" name="텍스트 개체 틀 28">
            <a:extLst>
              <a:ext uri="{FF2B5EF4-FFF2-40B4-BE49-F238E27FC236}">
                <a16:creationId xmlns:a16="http://schemas.microsoft.com/office/drawing/2014/main" id="{14718A61-763A-F81F-63EA-6476BB772F51}"/>
              </a:ext>
            </a:extLst>
          </p:cNvPr>
          <p:cNvSpPr txBox="1">
            <a:spLocks/>
          </p:cNvSpPr>
          <p:nvPr/>
        </p:nvSpPr>
        <p:spPr>
          <a:xfrm>
            <a:off x="10612354" y="252000"/>
            <a:ext cx="1080000" cy="16977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0"/>
              <a:t>2025-12-12</a:t>
            </a:r>
            <a:endParaRPr lang="ko-KR" altLang="en-US" b="0"/>
          </a:p>
        </p:txBody>
      </p:sp>
      <p:sp>
        <p:nvSpPr>
          <p:cNvPr id="166" name="텍스트 개체 틀 165">
            <a:extLst>
              <a:ext uri="{FF2B5EF4-FFF2-40B4-BE49-F238E27FC236}">
                <a16:creationId xmlns:a16="http://schemas.microsoft.com/office/drawing/2014/main" id="{2EEA9195-B9EB-4583-39B9-B80F1C8C2C0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altLang="ko-KR" b="1"/>
              <a:t>[ATON] </a:t>
            </a:r>
            <a:r>
              <a:rPr lang="ko-KR" altLang="en-US" b="1"/>
              <a:t>카카오뱅크 </a:t>
            </a:r>
            <a:r>
              <a:rPr lang="en-US" altLang="ko-KR" b="1"/>
              <a:t>OTP POC</a:t>
            </a:r>
            <a:endParaRPr lang="ko-KR" altLang="en-US" b="1"/>
          </a:p>
        </p:txBody>
      </p:sp>
      <p:grpSp>
        <p:nvGrpSpPr>
          <p:cNvPr id="271" name="그룹 270">
            <a:extLst>
              <a:ext uri="{FF2B5EF4-FFF2-40B4-BE49-F238E27FC236}">
                <a16:creationId xmlns:a16="http://schemas.microsoft.com/office/drawing/2014/main" id="{00F61DD4-87E4-B34E-C050-343D8AB800D1}"/>
              </a:ext>
            </a:extLst>
          </p:cNvPr>
          <p:cNvGrpSpPr/>
          <p:nvPr/>
        </p:nvGrpSpPr>
        <p:grpSpPr>
          <a:xfrm>
            <a:off x="234564" y="1826991"/>
            <a:ext cx="11520823" cy="3809379"/>
            <a:chOff x="124377" y="1652756"/>
            <a:chExt cx="11520823" cy="3809379"/>
          </a:xfrm>
        </p:grpSpPr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DA6767C-E489-4E0A-7E76-52B4CE3C744E}"/>
                </a:ext>
              </a:extLst>
            </p:cNvPr>
            <p:cNvSpPr txBox="1"/>
            <p:nvPr/>
          </p:nvSpPr>
          <p:spPr>
            <a:xfrm>
              <a:off x="3692983" y="2033091"/>
              <a:ext cx="104740" cy="9792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lvl="0" algn="ctr">
                <a:defRPr/>
              </a:pPr>
              <a:r>
                <a:rPr kumimoji="1" lang="en-US" altLang="en-US" sz="700">
                  <a:solidFill>
                    <a:srgbClr val="C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N </a:t>
              </a:r>
              <a:endParaRPr kumimoji="1" lang="x-none" altLang="en-US" sz="700" dirty="0">
                <a:solidFill>
                  <a:srgbClr val="C00000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3" name="판단 41">
              <a:extLst>
                <a:ext uri="{FF2B5EF4-FFF2-40B4-BE49-F238E27FC236}">
                  <a16:creationId xmlns:a16="http://schemas.microsoft.com/office/drawing/2014/main" id="{D26421DB-AE84-36E8-9981-1DA515EBE62C}"/>
                </a:ext>
              </a:extLst>
            </p:cNvPr>
            <p:cNvSpPr/>
            <p:nvPr/>
          </p:nvSpPr>
          <p:spPr>
            <a:xfrm>
              <a:off x="2917136" y="2164794"/>
              <a:ext cx="1382674" cy="355904"/>
            </a:xfrm>
            <a:prstGeom prst="flowChartDecision">
              <a:avLst/>
            </a:prstGeom>
            <a:solidFill>
              <a:srgbClr val="C00000">
                <a:alpha val="14902"/>
              </a:srgb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65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rPr>
                <a:t>계정 존재 여부</a:t>
              </a:r>
              <a:endParaRPr kumimoji="1" lang="en-US" altLang="ko-KR" sz="65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65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(</a:t>
              </a:r>
              <a:r>
                <a:rPr lang="ko-KR" altLang="en-US" sz="65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사번 정보</a:t>
              </a:r>
              <a:r>
                <a:rPr lang="en-US" altLang="ko-KR" sz="65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)</a:t>
              </a:r>
              <a:endParaRPr kumimoji="1" lang="en-US" altLang="ko-KR" sz="65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74" name="직사각형 73">
              <a:extLst>
                <a:ext uri="{FF2B5EF4-FFF2-40B4-BE49-F238E27FC236}">
                  <a16:creationId xmlns:a16="http://schemas.microsoft.com/office/drawing/2014/main" id="{F58614A5-5874-1B65-A25F-93ABDE8754EB}"/>
                </a:ext>
              </a:extLst>
            </p:cNvPr>
            <p:cNvSpPr/>
            <p:nvPr/>
          </p:nvSpPr>
          <p:spPr>
            <a:xfrm>
              <a:off x="1578907" y="2164794"/>
              <a:ext cx="1095290" cy="35590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>
                <a:defRPr/>
              </a:pPr>
              <a:r>
                <a:rPr lang="en-US" altLang="ko-KR" sz="650">
                  <a:solidFill>
                    <a:srgbClr val="0070C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PUSH</a:t>
              </a:r>
              <a:r>
                <a:rPr lang="en-US" altLang="ko-KR" sz="65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 </a:t>
              </a:r>
              <a:r>
                <a:rPr lang="ko-KR" altLang="en-US" sz="65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로그인</a:t>
              </a:r>
              <a:r>
                <a:rPr lang="en-US" altLang="ko-KR" sz="65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(</a:t>
              </a:r>
              <a:r>
                <a:rPr lang="ko-KR" altLang="en-US" sz="65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인증</a:t>
              </a:r>
              <a:r>
                <a:rPr lang="en-US" altLang="ko-KR" sz="65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) </a:t>
              </a:r>
              <a:r>
                <a:rPr lang="ko-KR" altLang="en-US" sz="65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시도</a:t>
              </a:r>
              <a:endParaRPr lang="ko-KR" altLang="en-US" sz="65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29DF6B3F-3554-4744-A7C0-5602E14DC5AB}"/>
                </a:ext>
              </a:extLst>
            </p:cNvPr>
            <p:cNvSpPr/>
            <p:nvPr/>
          </p:nvSpPr>
          <p:spPr>
            <a:xfrm>
              <a:off x="208885" y="2164794"/>
              <a:ext cx="1095290" cy="355904"/>
            </a:xfrm>
            <a:prstGeom prst="rect">
              <a:avLst/>
            </a:prstGeom>
            <a:solidFill>
              <a:srgbClr val="0070C0">
                <a:alpha val="67059"/>
              </a:srgb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>
                <a:defRPr/>
              </a:pPr>
              <a:r>
                <a:rPr lang="en-US" altLang="ko-KR" sz="70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1. OTP </a:t>
              </a:r>
              <a:r>
                <a:rPr lang="ko-KR" altLang="en-US" sz="70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발급 인증</a:t>
              </a:r>
              <a:endParaRPr kumimoji="1" lang="ko-KR" altLang="en-US" sz="7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D8DFC2AF-97A2-9883-6743-F3AE45AD619C}"/>
                </a:ext>
              </a:extLst>
            </p:cNvPr>
            <p:cNvSpPr/>
            <p:nvPr/>
          </p:nvSpPr>
          <p:spPr>
            <a:xfrm>
              <a:off x="4558645" y="2164794"/>
              <a:ext cx="1095290" cy="35590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>
                <a:defRPr/>
              </a:pPr>
              <a:r>
                <a:rPr lang="en-US" altLang="ko-KR" sz="65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OTP </a:t>
              </a:r>
              <a:r>
                <a:rPr lang="ko-KR" altLang="en-US" sz="65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앱으로</a:t>
              </a:r>
              <a:endParaRPr lang="en-US" altLang="ko-KR" sz="65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  <a:p>
              <a:pPr lvl="0" algn="ctr">
                <a:defRPr/>
              </a:pPr>
              <a:r>
                <a:rPr lang="ko-KR" altLang="en-US" sz="65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인증 요청 메시지 발송</a:t>
              </a:r>
              <a:endParaRPr kumimoji="1" lang="ko-KR" altLang="en-US" sz="65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84" name="판단 41">
              <a:extLst>
                <a:ext uri="{FF2B5EF4-FFF2-40B4-BE49-F238E27FC236}">
                  <a16:creationId xmlns:a16="http://schemas.microsoft.com/office/drawing/2014/main" id="{4D85F2D8-CF7E-1520-3721-3F52BEF3719E}"/>
                </a:ext>
              </a:extLst>
            </p:cNvPr>
            <p:cNvSpPr/>
            <p:nvPr/>
          </p:nvSpPr>
          <p:spPr>
            <a:xfrm>
              <a:off x="5912771" y="2164794"/>
              <a:ext cx="1382674" cy="355904"/>
            </a:xfrm>
            <a:prstGeom prst="flowChartDecision">
              <a:avLst/>
            </a:prstGeom>
            <a:solidFill>
              <a:srgbClr val="C00000">
                <a:alpha val="14902"/>
              </a:srgb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650" b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발송 성공 여부</a:t>
              </a:r>
              <a:endParaRPr kumimoji="1" lang="en-US" altLang="ko-KR" sz="6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85" name="직사각형 84">
              <a:extLst>
                <a:ext uri="{FF2B5EF4-FFF2-40B4-BE49-F238E27FC236}">
                  <a16:creationId xmlns:a16="http://schemas.microsoft.com/office/drawing/2014/main" id="{77821EB5-50EF-298A-1E9E-3A88AD9B0C21}"/>
                </a:ext>
              </a:extLst>
            </p:cNvPr>
            <p:cNvSpPr/>
            <p:nvPr/>
          </p:nvSpPr>
          <p:spPr>
            <a:xfrm>
              <a:off x="7554279" y="2164794"/>
              <a:ext cx="1095290" cy="35590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>
                <a:defRPr/>
              </a:pPr>
              <a:r>
                <a:rPr lang="en-US" altLang="ko-KR" sz="65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OTP APP</a:t>
              </a:r>
              <a:r>
                <a:rPr lang="ko-KR" altLang="en-US" sz="65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 내</a:t>
              </a:r>
              <a:endParaRPr lang="en-US" altLang="ko-KR" sz="65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  <a:p>
              <a:pPr lvl="0" algn="ctr">
                <a:defRPr/>
              </a:pPr>
              <a:r>
                <a:rPr kumimoji="1" lang="ko-KR" altLang="en-US" sz="65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인증 검증 시도 </a:t>
              </a:r>
              <a:endParaRPr kumimoji="1" lang="ko-KR" altLang="en-US" sz="65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86" name="판단 41">
              <a:extLst>
                <a:ext uri="{FF2B5EF4-FFF2-40B4-BE49-F238E27FC236}">
                  <a16:creationId xmlns:a16="http://schemas.microsoft.com/office/drawing/2014/main" id="{474CAEDD-B875-8C99-32B1-4AE54B1DC17B}"/>
                </a:ext>
              </a:extLst>
            </p:cNvPr>
            <p:cNvSpPr/>
            <p:nvPr/>
          </p:nvSpPr>
          <p:spPr>
            <a:xfrm>
              <a:off x="8908406" y="2164794"/>
              <a:ext cx="1382674" cy="355904"/>
            </a:xfrm>
            <a:prstGeom prst="flowChartDecision">
              <a:avLst/>
            </a:prstGeom>
            <a:solidFill>
              <a:srgbClr val="C00000">
                <a:alpha val="14902"/>
              </a:srgb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650" b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인증 성공 여부</a:t>
              </a:r>
              <a:endParaRPr kumimoji="1" lang="en-US" altLang="ko-KR" sz="6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87" name="직사각형 86">
              <a:extLst>
                <a:ext uri="{FF2B5EF4-FFF2-40B4-BE49-F238E27FC236}">
                  <a16:creationId xmlns:a16="http://schemas.microsoft.com/office/drawing/2014/main" id="{D5AA9066-27BB-48A2-099D-4146D00AED94}"/>
                </a:ext>
              </a:extLst>
            </p:cNvPr>
            <p:cNvSpPr/>
            <p:nvPr/>
          </p:nvSpPr>
          <p:spPr>
            <a:xfrm>
              <a:off x="10549910" y="2164794"/>
              <a:ext cx="1095290" cy="355904"/>
            </a:xfrm>
            <a:prstGeom prst="rect">
              <a:avLst/>
            </a:prstGeom>
            <a:solidFill>
              <a:schemeClr val="accent2">
                <a:alpha val="67059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65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로그인</a:t>
              </a:r>
              <a:r>
                <a:rPr lang="en-US" altLang="ko-KR" sz="65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(</a:t>
              </a:r>
              <a:r>
                <a:rPr lang="ko-KR" altLang="en-US" sz="65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인증</a:t>
              </a:r>
              <a:r>
                <a:rPr lang="en-US" altLang="ko-KR" sz="65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) </a:t>
              </a:r>
              <a:r>
                <a:rPr lang="ko-KR" altLang="en-US" sz="65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성공</a:t>
              </a:r>
              <a:endParaRPr lang="ko-KR" altLang="en-US" sz="65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cxnSp>
          <p:nvCxnSpPr>
            <p:cNvPr id="91" name="직선 화살표 연결선 90">
              <a:extLst>
                <a:ext uri="{FF2B5EF4-FFF2-40B4-BE49-F238E27FC236}">
                  <a16:creationId xmlns:a16="http://schemas.microsoft.com/office/drawing/2014/main" id="{ABEE72A3-03D2-E8B8-4572-A3E170590530}"/>
                </a:ext>
              </a:extLst>
            </p:cNvPr>
            <p:cNvCxnSpPr>
              <a:cxnSpLocks/>
              <a:stCxn id="77" idx="3"/>
              <a:endCxn id="74" idx="1"/>
            </p:cNvCxnSpPr>
            <p:nvPr/>
          </p:nvCxnSpPr>
          <p:spPr>
            <a:xfrm>
              <a:off x="1304175" y="2342746"/>
              <a:ext cx="274732" cy="0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직선 화살표 연결선 92">
              <a:extLst>
                <a:ext uri="{FF2B5EF4-FFF2-40B4-BE49-F238E27FC236}">
                  <a16:creationId xmlns:a16="http://schemas.microsoft.com/office/drawing/2014/main" id="{F30B699B-D968-EB45-83D8-004546F73BCA}"/>
                </a:ext>
              </a:extLst>
            </p:cNvPr>
            <p:cNvCxnSpPr>
              <a:cxnSpLocks/>
              <a:stCxn id="74" idx="3"/>
              <a:endCxn id="73" idx="1"/>
            </p:cNvCxnSpPr>
            <p:nvPr/>
          </p:nvCxnSpPr>
          <p:spPr>
            <a:xfrm>
              <a:off x="2674197" y="2342746"/>
              <a:ext cx="242939" cy="0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직선 화살표 연결선 100">
              <a:extLst>
                <a:ext uri="{FF2B5EF4-FFF2-40B4-BE49-F238E27FC236}">
                  <a16:creationId xmlns:a16="http://schemas.microsoft.com/office/drawing/2014/main" id="{1D29F88A-B4FF-14A7-647B-6041567DA27E}"/>
                </a:ext>
              </a:extLst>
            </p:cNvPr>
            <p:cNvCxnSpPr>
              <a:cxnSpLocks/>
              <a:stCxn id="73" idx="0"/>
            </p:cNvCxnSpPr>
            <p:nvPr/>
          </p:nvCxnSpPr>
          <p:spPr>
            <a:xfrm flipV="1">
              <a:off x="3608474" y="1944388"/>
              <a:ext cx="0" cy="220406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직선 화살표 연결선 105">
              <a:extLst>
                <a:ext uri="{FF2B5EF4-FFF2-40B4-BE49-F238E27FC236}">
                  <a16:creationId xmlns:a16="http://schemas.microsoft.com/office/drawing/2014/main" id="{30F8ECAB-DF37-D9BD-CD44-4E97EB82AEAF}"/>
                </a:ext>
              </a:extLst>
            </p:cNvPr>
            <p:cNvCxnSpPr>
              <a:stCxn id="73" idx="3"/>
              <a:endCxn id="78" idx="1"/>
            </p:cNvCxnSpPr>
            <p:nvPr/>
          </p:nvCxnSpPr>
          <p:spPr>
            <a:xfrm>
              <a:off x="4299809" y="2342746"/>
              <a:ext cx="258836" cy="0"/>
            </a:xfrm>
            <a:prstGeom prst="straightConnector1">
              <a:avLst/>
            </a:prstGeom>
            <a:ln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직선 화살표 연결선 107">
              <a:extLst>
                <a:ext uri="{FF2B5EF4-FFF2-40B4-BE49-F238E27FC236}">
                  <a16:creationId xmlns:a16="http://schemas.microsoft.com/office/drawing/2014/main" id="{B378F1BE-EEB8-C3D0-EE60-864C2BBFDA58}"/>
                </a:ext>
              </a:extLst>
            </p:cNvPr>
            <p:cNvCxnSpPr>
              <a:stCxn id="78" idx="3"/>
              <a:endCxn id="84" idx="1"/>
            </p:cNvCxnSpPr>
            <p:nvPr/>
          </p:nvCxnSpPr>
          <p:spPr>
            <a:xfrm>
              <a:off x="5653935" y="2342746"/>
              <a:ext cx="258836" cy="0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직선 화살표 연결선 109">
              <a:extLst>
                <a:ext uri="{FF2B5EF4-FFF2-40B4-BE49-F238E27FC236}">
                  <a16:creationId xmlns:a16="http://schemas.microsoft.com/office/drawing/2014/main" id="{FA0DA68C-9C61-054A-CB43-3AFE4D643344}"/>
                </a:ext>
              </a:extLst>
            </p:cNvPr>
            <p:cNvCxnSpPr>
              <a:stCxn id="84" idx="3"/>
              <a:endCxn id="85" idx="1"/>
            </p:cNvCxnSpPr>
            <p:nvPr/>
          </p:nvCxnSpPr>
          <p:spPr>
            <a:xfrm>
              <a:off x="7295444" y="2342746"/>
              <a:ext cx="258836" cy="0"/>
            </a:xfrm>
            <a:prstGeom prst="straightConnector1">
              <a:avLst/>
            </a:prstGeom>
            <a:ln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직선 화살표 연결선 111">
              <a:extLst>
                <a:ext uri="{FF2B5EF4-FFF2-40B4-BE49-F238E27FC236}">
                  <a16:creationId xmlns:a16="http://schemas.microsoft.com/office/drawing/2014/main" id="{49EFB6E8-123A-5738-81BD-486CD6C9FE71}"/>
                </a:ext>
              </a:extLst>
            </p:cNvPr>
            <p:cNvCxnSpPr>
              <a:stCxn id="85" idx="3"/>
              <a:endCxn id="86" idx="1"/>
            </p:cNvCxnSpPr>
            <p:nvPr/>
          </p:nvCxnSpPr>
          <p:spPr>
            <a:xfrm>
              <a:off x="8649569" y="2342746"/>
              <a:ext cx="258836" cy="0"/>
            </a:xfrm>
            <a:prstGeom prst="straightConnector1">
              <a:avLst/>
            </a:prstGeom>
            <a:ln>
              <a:solidFill>
                <a:schemeClr val="tx1">
                  <a:lumMod val="85000"/>
                  <a:lumOff val="1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직선 화살표 연결선 115">
              <a:extLst>
                <a:ext uri="{FF2B5EF4-FFF2-40B4-BE49-F238E27FC236}">
                  <a16:creationId xmlns:a16="http://schemas.microsoft.com/office/drawing/2014/main" id="{5DEEA3CB-104C-E521-B830-93D33EFBD388}"/>
                </a:ext>
              </a:extLst>
            </p:cNvPr>
            <p:cNvCxnSpPr>
              <a:stCxn id="86" idx="3"/>
              <a:endCxn id="87" idx="1"/>
            </p:cNvCxnSpPr>
            <p:nvPr/>
          </p:nvCxnSpPr>
          <p:spPr>
            <a:xfrm>
              <a:off x="10291078" y="2342746"/>
              <a:ext cx="258832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직선 화살표 연결선 116">
              <a:extLst>
                <a:ext uri="{FF2B5EF4-FFF2-40B4-BE49-F238E27FC236}">
                  <a16:creationId xmlns:a16="http://schemas.microsoft.com/office/drawing/2014/main" id="{638BAC18-D345-5042-3C80-4E8999B42D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94882" y="1944388"/>
              <a:ext cx="0" cy="220406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직선 화살표 연결선 117">
              <a:extLst>
                <a:ext uri="{FF2B5EF4-FFF2-40B4-BE49-F238E27FC236}">
                  <a16:creationId xmlns:a16="http://schemas.microsoft.com/office/drawing/2014/main" id="{F03F1185-8E09-6754-BA18-72F3AE1235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591495" y="1944388"/>
              <a:ext cx="0" cy="220406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C52D546A-A8AF-7097-129A-267CE90BC7B6}"/>
                </a:ext>
              </a:extLst>
            </p:cNvPr>
            <p:cNvSpPr txBox="1"/>
            <p:nvPr/>
          </p:nvSpPr>
          <p:spPr>
            <a:xfrm>
              <a:off x="6686475" y="2033091"/>
              <a:ext cx="104740" cy="9792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lvl="0" algn="ctr">
                <a:defRPr/>
              </a:pPr>
              <a:r>
                <a:rPr kumimoji="1" lang="en-US" altLang="en-US" sz="700">
                  <a:solidFill>
                    <a:srgbClr val="C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N </a:t>
              </a:r>
              <a:endParaRPr kumimoji="1" lang="x-none" altLang="en-US" sz="700" dirty="0">
                <a:solidFill>
                  <a:srgbClr val="C00000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E0446974-9FFC-874A-78B8-FF8B0CA0E8AB}"/>
                </a:ext>
              </a:extLst>
            </p:cNvPr>
            <p:cNvSpPr txBox="1"/>
            <p:nvPr/>
          </p:nvSpPr>
          <p:spPr>
            <a:xfrm>
              <a:off x="9729141" y="2033091"/>
              <a:ext cx="104740" cy="9792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lvl="0" algn="ctr">
                <a:defRPr/>
              </a:pPr>
              <a:r>
                <a:rPr kumimoji="1" lang="en-US" altLang="en-US" sz="700">
                  <a:solidFill>
                    <a:srgbClr val="C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N </a:t>
              </a:r>
              <a:endParaRPr kumimoji="1" lang="x-none" altLang="en-US" sz="700" dirty="0">
                <a:solidFill>
                  <a:srgbClr val="C00000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22" name="직사각형 121">
              <a:extLst>
                <a:ext uri="{FF2B5EF4-FFF2-40B4-BE49-F238E27FC236}">
                  <a16:creationId xmlns:a16="http://schemas.microsoft.com/office/drawing/2014/main" id="{3CA93FF2-0FD2-D2B6-50E0-E6F6BAE9CACE}"/>
                </a:ext>
              </a:extLst>
            </p:cNvPr>
            <p:cNvSpPr/>
            <p:nvPr/>
          </p:nvSpPr>
          <p:spPr>
            <a:xfrm>
              <a:off x="3030900" y="1710110"/>
              <a:ext cx="1149053" cy="24229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EB491D">
                  <a:alpha val="50196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600" b="0" u="sng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없는 사번입니다</a:t>
              </a:r>
              <a:r>
                <a:rPr kumimoji="1" lang="en-US" altLang="ko-KR" sz="600" b="0" u="sng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.</a:t>
              </a:r>
            </a:p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600" b="0" u="sng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다시 확인해세요</a:t>
              </a:r>
              <a:r>
                <a:rPr kumimoji="1" lang="en-US" altLang="ko-KR" sz="600" b="0" u="sng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.</a:t>
              </a:r>
              <a:r>
                <a:rPr kumimoji="1" lang="en-US" altLang="ko-KR" sz="60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  Alert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4863D2F8-AD33-3755-0B94-950EAEA96DA9}"/>
                </a:ext>
              </a:extLst>
            </p:cNvPr>
            <p:cNvSpPr txBox="1"/>
            <p:nvPr/>
          </p:nvSpPr>
          <p:spPr>
            <a:xfrm>
              <a:off x="4361337" y="2397398"/>
              <a:ext cx="67889" cy="9792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lvl="0" algn="ctr">
                <a:defRPr/>
              </a:pPr>
              <a:r>
                <a:rPr kumimoji="1" lang="en-US" altLang="en-US" sz="700" dirty="0">
                  <a:solidFill>
                    <a:srgbClr val="0070C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Y</a:t>
              </a:r>
              <a:endParaRPr kumimoji="1" lang="x-none" altLang="en-US" sz="7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839F50AA-F081-647C-FB5B-5A77A05D0777}"/>
                </a:ext>
              </a:extLst>
            </p:cNvPr>
            <p:cNvSpPr txBox="1"/>
            <p:nvPr/>
          </p:nvSpPr>
          <p:spPr>
            <a:xfrm>
              <a:off x="10346294" y="2397398"/>
              <a:ext cx="67889" cy="9792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lvl="0" algn="ctr">
                <a:defRPr/>
              </a:pPr>
              <a:r>
                <a:rPr kumimoji="1" lang="en-US" altLang="en-US" sz="700" dirty="0">
                  <a:solidFill>
                    <a:srgbClr val="0070C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Y</a:t>
              </a:r>
              <a:endParaRPr kumimoji="1" lang="x-none" altLang="en-US" sz="7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329A0CE0-7EB6-DC98-0D44-94ED6AEF46D9}"/>
                </a:ext>
              </a:extLst>
            </p:cNvPr>
            <p:cNvSpPr txBox="1"/>
            <p:nvPr/>
          </p:nvSpPr>
          <p:spPr>
            <a:xfrm>
              <a:off x="7327835" y="2397398"/>
              <a:ext cx="67889" cy="9792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lvl="0" algn="ctr">
                <a:defRPr/>
              </a:pPr>
              <a:r>
                <a:rPr kumimoji="1" lang="en-US" altLang="en-US" sz="700" dirty="0">
                  <a:solidFill>
                    <a:srgbClr val="0070C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Y</a:t>
              </a:r>
              <a:endParaRPr kumimoji="1" lang="x-none" altLang="en-US" sz="7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cxnSp>
          <p:nvCxnSpPr>
            <p:cNvPr id="131" name="연결선: 꺾임 130">
              <a:extLst>
                <a:ext uri="{FF2B5EF4-FFF2-40B4-BE49-F238E27FC236}">
                  <a16:creationId xmlns:a16="http://schemas.microsoft.com/office/drawing/2014/main" id="{984BFFEF-1052-514E-B855-EC48C65C6A39}"/>
                </a:ext>
              </a:extLst>
            </p:cNvPr>
            <p:cNvCxnSpPr>
              <a:cxnSpLocks/>
              <a:stCxn id="122" idx="0"/>
              <a:endCxn id="74" idx="0"/>
            </p:cNvCxnSpPr>
            <p:nvPr/>
          </p:nvCxnSpPr>
          <p:spPr>
            <a:xfrm rot="16200000" flipH="1" flipV="1">
              <a:off x="2638648" y="1265235"/>
              <a:ext cx="454684" cy="1344432"/>
            </a:xfrm>
            <a:prstGeom prst="bentConnector3">
              <a:avLst>
                <a:gd name="adj1" fmla="val -24579"/>
              </a:avLst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3" name="직사각형 132">
              <a:extLst>
                <a:ext uri="{FF2B5EF4-FFF2-40B4-BE49-F238E27FC236}">
                  <a16:creationId xmlns:a16="http://schemas.microsoft.com/office/drawing/2014/main" id="{21E42F52-9D97-84C2-D34F-F438CDAFC85E}"/>
                </a:ext>
              </a:extLst>
            </p:cNvPr>
            <p:cNvSpPr/>
            <p:nvPr/>
          </p:nvSpPr>
          <p:spPr>
            <a:xfrm>
              <a:off x="5830802" y="1694787"/>
              <a:ext cx="1528159" cy="24229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EB491D">
                  <a:alpha val="50196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600" b="0" u="sng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인증 요청 발송 실패</a:t>
              </a:r>
              <a:endParaRPr lang="en-US" altLang="ko-KR" sz="600" b="0" u="sng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600" b="0" u="sng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PUSH </a:t>
              </a:r>
              <a:r>
                <a:rPr lang="ko-KR" altLang="en-US" sz="600" b="0" u="sng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인증을 다시 시도해주세요</a:t>
              </a:r>
              <a:r>
                <a:rPr lang="en-US" altLang="ko-KR" sz="600" b="0" u="sng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.</a:t>
              </a:r>
              <a:r>
                <a:rPr kumimoji="1" lang="en-US" altLang="ko-KR" sz="60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  Alert</a:t>
              </a:r>
            </a:p>
          </p:txBody>
        </p:sp>
        <p:sp>
          <p:nvSpPr>
            <p:cNvPr id="140" name="직사각형 139">
              <a:extLst>
                <a:ext uri="{FF2B5EF4-FFF2-40B4-BE49-F238E27FC236}">
                  <a16:creationId xmlns:a16="http://schemas.microsoft.com/office/drawing/2014/main" id="{F66FFE1D-B6BD-7A23-25F2-357DB3B59FF9}"/>
                </a:ext>
              </a:extLst>
            </p:cNvPr>
            <p:cNvSpPr/>
            <p:nvPr/>
          </p:nvSpPr>
          <p:spPr>
            <a:xfrm>
              <a:off x="8856137" y="1652756"/>
              <a:ext cx="1528159" cy="24229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EB491D">
                  <a:alpha val="50196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600" b="0" u="sng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인증에 실패했습니다</a:t>
              </a:r>
              <a:r>
                <a:rPr lang="en-US" altLang="ko-KR" sz="600" b="0" u="sng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.</a:t>
              </a:r>
            </a:p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600" b="0" u="sng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다시 시도해주세요</a:t>
              </a:r>
              <a:r>
                <a:rPr lang="en-US" altLang="ko-KR" sz="600" b="0" u="sng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.</a:t>
              </a:r>
              <a:r>
                <a:rPr kumimoji="1" lang="en-US" altLang="ko-KR" sz="60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  Alert</a:t>
              </a:r>
            </a:p>
          </p:txBody>
        </p:sp>
        <p:cxnSp>
          <p:nvCxnSpPr>
            <p:cNvPr id="146" name="연결선: 꺾임 145">
              <a:extLst>
                <a:ext uri="{FF2B5EF4-FFF2-40B4-BE49-F238E27FC236}">
                  <a16:creationId xmlns:a16="http://schemas.microsoft.com/office/drawing/2014/main" id="{CAB6561D-88E8-69AC-AAF7-A8E6D13BF15C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4093769" y="-304375"/>
              <a:ext cx="470007" cy="4468330"/>
            </a:xfrm>
            <a:prstGeom prst="bentConnector3">
              <a:avLst>
                <a:gd name="adj1" fmla="val -50800"/>
              </a:avLst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연결선: 꺾임 149">
              <a:extLst>
                <a:ext uri="{FF2B5EF4-FFF2-40B4-BE49-F238E27FC236}">
                  <a16:creationId xmlns:a16="http://schemas.microsoft.com/office/drawing/2014/main" id="{E725DD9C-70B5-E55F-342C-1234064E1AB9}"/>
                </a:ext>
              </a:extLst>
            </p:cNvPr>
            <p:cNvCxnSpPr>
              <a:cxnSpLocks/>
            </p:cNvCxnSpPr>
            <p:nvPr/>
          </p:nvCxnSpPr>
          <p:spPr>
            <a:xfrm rot="16200000" flipH="1" flipV="1">
              <a:off x="5489127" y="-1838058"/>
              <a:ext cx="512038" cy="7493665"/>
            </a:xfrm>
            <a:prstGeom prst="bentConnector3">
              <a:avLst>
                <a:gd name="adj1" fmla="val -65480"/>
              </a:avLst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9" name="직사각형 208">
              <a:extLst>
                <a:ext uri="{FF2B5EF4-FFF2-40B4-BE49-F238E27FC236}">
                  <a16:creationId xmlns:a16="http://schemas.microsoft.com/office/drawing/2014/main" id="{81379283-D981-86BA-BD98-3DA40E1BAF86}"/>
                </a:ext>
              </a:extLst>
            </p:cNvPr>
            <p:cNvSpPr/>
            <p:nvPr/>
          </p:nvSpPr>
          <p:spPr>
            <a:xfrm>
              <a:off x="124377" y="2031523"/>
              <a:ext cx="1095290" cy="163637"/>
            </a:xfrm>
            <a:prstGeom prst="rect">
              <a:avLst/>
            </a:prstGeom>
            <a:solidFill>
              <a:srgbClr val="002060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>
                <a:defRPr/>
              </a:pPr>
              <a:r>
                <a:rPr kumimoji="1" lang="ko-KR" altLang="en-US" sz="65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  앱 시도 </a:t>
              </a:r>
              <a:r>
                <a:rPr kumimoji="1" lang="en-US" altLang="ko-KR" sz="65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(</a:t>
              </a:r>
              <a:r>
                <a:rPr kumimoji="1" lang="ko-KR" altLang="en-US" sz="65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휴대 기기  </a:t>
              </a:r>
              <a:r>
                <a:rPr kumimoji="1" lang="en-US" altLang="ko-KR" sz="65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O)</a:t>
              </a:r>
              <a:endParaRPr kumimoji="1" lang="ko-KR" altLang="en-US" sz="65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EFEFE9EC-C408-DE39-F1E3-989918CD4B3E}"/>
                </a:ext>
              </a:extLst>
            </p:cNvPr>
            <p:cNvSpPr txBox="1"/>
            <p:nvPr/>
          </p:nvSpPr>
          <p:spPr>
            <a:xfrm>
              <a:off x="8865145" y="5364206"/>
              <a:ext cx="67889" cy="9792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lvl="0" algn="ctr">
                <a:defRPr/>
              </a:pPr>
              <a:r>
                <a:rPr kumimoji="1" lang="en-US" altLang="en-US" sz="700" dirty="0">
                  <a:solidFill>
                    <a:srgbClr val="0070C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Y</a:t>
              </a:r>
              <a:endParaRPr kumimoji="1" lang="x-none" altLang="en-US" sz="7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  <p:grpSp>
        <p:nvGrpSpPr>
          <p:cNvPr id="273" name="그룹 272">
            <a:extLst>
              <a:ext uri="{FF2B5EF4-FFF2-40B4-BE49-F238E27FC236}">
                <a16:creationId xmlns:a16="http://schemas.microsoft.com/office/drawing/2014/main" id="{B90024FA-B93C-68F3-221E-CACB86B5334E}"/>
              </a:ext>
            </a:extLst>
          </p:cNvPr>
          <p:cNvGrpSpPr/>
          <p:nvPr/>
        </p:nvGrpSpPr>
        <p:grpSpPr>
          <a:xfrm>
            <a:off x="336000" y="4509000"/>
            <a:ext cx="11520826" cy="1770102"/>
            <a:chOff x="124377" y="3789384"/>
            <a:chExt cx="11520826" cy="1770102"/>
          </a:xfrm>
        </p:grpSpPr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FF0750B4-4FAC-1673-DAA8-2906A0177F29}"/>
                </a:ext>
              </a:extLst>
            </p:cNvPr>
            <p:cNvSpPr txBox="1"/>
            <p:nvPr/>
          </p:nvSpPr>
          <p:spPr>
            <a:xfrm>
              <a:off x="3692983" y="4434430"/>
              <a:ext cx="104740" cy="9792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lvl="0" algn="ctr">
                <a:defRPr/>
              </a:pPr>
              <a:r>
                <a:rPr kumimoji="1" lang="en-US" altLang="en-US" sz="700">
                  <a:solidFill>
                    <a:srgbClr val="C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N </a:t>
              </a:r>
              <a:endParaRPr kumimoji="1" lang="x-none" altLang="en-US" sz="700" dirty="0">
                <a:solidFill>
                  <a:srgbClr val="C00000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70" name="판단 41">
              <a:extLst>
                <a:ext uri="{FF2B5EF4-FFF2-40B4-BE49-F238E27FC236}">
                  <a16:creationId xmlns:a16="http://schemas.microsoft.com/office/drawing/2014/main" id="{64120B25-A874-69C1-171D-AF93623E3D40}"/>
                </a:ext>
              </a:extLst>
            </p:cNvPr>
            <p:cNvSpPr/>
            <p:nvPr/>
          </p:nvSpPr>
          <p:spPr>
            <a:xfrm>
              <a:off x="2917136" y="4566133"/>
              <a:ext cx="1382674" cy="355904"/>
            </a:xfrm>
            <a:prstGeom prst="flowChartDecision">
              <a:avLst/>
            </a:prstGeom>
            <a:solidFill>
              <a:srgbClr val="C00000">
                <a:alpha val="14902"/>
              </a:srgb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65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rPr>
                <a:t>계정 존재 여부</a:t>
              </a:r>
              <a:endParaRPr kumimoji="1" lang="en-US" altLang="ko-KR" sz="65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65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(</a:t>
              </a:r>
              <a:r>
                <a:rPr lang="ko-KR" altLang="en-US" sz="65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이름 </a:t>
              </a:r>
              <a:r>
                <a:rPr lang="en-US" altLang="ko-KR" sz="65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+ </a:t>
              </a:r>
              <a:r>
                <a:rPr lang="ko-KR" altLang="en-US" sz="65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사번 </a:t>
              </a:r>
              <a:r>
                <a:rPr lang="en-US" altLang="ko-KR" sz="65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OR </a:t>
              </a:r>
              <a:r>
                <a:rPr lang="ko-KR" altLang="en-US" sz="65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휴대폰 번호</a:t>
              </a:r>
              <a:r>
                <a:rPr lang="en-US" altLang="ko-KR" sz="65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)</a:t>
              </a:r>
              <a:endParaRPr kumimoji="1" lang="en-US" altLang="ko-KR" sz="65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sp>
          <p:nvSpPr>
            <p:cNvPr id="171" name="직사각형 170">
              <a:extLst>
                <a:ext uri="{FF2B5EF4-FFF2-40B4-BE49-F238E27FC236}">
                  <a16:creationId xmlns:a16="http://schemas.microsoft.com/office/drawing/2014/main" id="{B0AE3FF6-A583-ECE2-0C07-584E90C57001}"/>
                </a:ext>
              </a:extLst>
            </p:cNvPr>
            <p:cNvSpPr/>
            <p:nvPr/>
          </p:nvSpPr>
          <p:spPr>
            <a:xfrm>
              <a:off x="1563010" y="4566133"/>
              <a:ext cx="1095290" cy="35590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>
                <a:defRPr/>
              </a:pPr>
              <a:r>
                <a:rPr kumimoji="1" lang="ko-KR" altLang="en-US" sz="650">
                  <a:solidFill>
                    <a:srgbClr val="0070C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발급 요청</a:t>
              </a:r>
              <a:r>
                <a:rPr kumimoji="1" lang="ko-KR" altLang="en-US" sz="65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 로그인</a:t>
              </a:r>
              <a:r>
                <a:rPr kumimoji="1" lang="en-US" altLang="ko-KR" sz="65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(</a:t>
              </a:r>
              <a:r>
                <a:rPr kumimoji="1" lang="ko-KR" altLang="en-US" sz="65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인증</a:t>
              </a:r>
              <a:r>
                <a:rPr kumimoji="1" lang="en-US" altLang="ko-KR" sz="65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) </a:t>
              </a:r>
              <a:r>
                <a:rPr kumimoji="1" lang="ko-KR" altLang="en-US" sz="65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시도</a:t>
              </a:r>
              <a:endParaRPr kumimoji="1" lang="ko-KR" altLang="en-US" sz="65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72" name="직사각형 171">
              <a:extLst>
                <a:ext uri="{FF2B5EF4-FFF2-40B4-BE49-F238E27FC236}">
                  <a16:creationId xmlns:a16="http://schemas.microsoft.com/office/drawing/2014/main" id="{6212B3C4-000D-E6A2-79C4-D28D39413C28}"/>
                </a:ext>
              </a:extLst>
            </p:cNvPr>
            <p:cNvSpPr/>
            <p:nvPr/>
          </p:nvSpPr>
          <p:spPr>
            <a:xfrm>
              <a:off x="208885" y="4566133"/>
              <a:ext cx="1095290" cy="355904"/>
            </a:xfrm>
            <a:prstGeom prst="rect">
              <a:avLst/>
            </a:prstGeom>
            <a:solidFill>
              <a:srgbClr val="0070C0">
                <a:alpha val="67059"/>
              </a:srgb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>
                <a:defRPr/>
              </a:pPr>
              <a:r>
                <a:rPr lang="en-US" altLang="ko-KR" sz="70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2. </a:t>
              </a:r>
              <a:r>
                <a:rPr lang="ko-KR" altLang="en-US" sz="70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임시 </a:t>
              </a:r>
              <a:r>
                <a:rPr lang="en-US" altLang="ko-KR" sz="70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OTP PIN</a:t>
              </a:r>
              <a:r>
                <a:rPr lang="ko-KR" altLang="en-US" sz="70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 인증</a:t>
              </a:r>
              <a:endParaRPr kumimoji="1" lang="ko-KR" altLang="en-US" sz="70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173" name="직사각형 172">
              <a:extLst>
                <a:ext uri="{FF2B5EF4-FFF2-40B4-BE49-F238E27FC236}">
                  <a16:creationId xmlns:a16="http://schemas.microsoft.com/office/drawing/2014/main" id="{E0CBA712-F453-F719-B686-261292899BB8}"/>
                </a:ext>
              </a:extLst>
            </p:cNvPr>
            <p:cNvSpPr/>
            <p:nvPr/>
          </p:nvSpPr>
          <p:spPr>
            <a:xfrm>
              <a:off x="4558645" y="4566133"/>
              <a:ext cx="1095290" cy="35590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>
                <a:defRPr/>
              </a:pPr>
              <a:r>
                <a:rPr lang="ko-KR" altLang="en-US" sz="65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관리자 승인 요청</a:t>
              </a:r>
              <a:endParaRPr kumimoji="1" lang="ko-KR" altLang="en-US" sz="65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cxnSp>
          <p:nvCxnSpPr>
            <p:cNvPr id="178" name="직선 화살표 연결선 177">
              <a:extLst>
                <a:ext uri="{FF2B5EF4-FFF2-40B4-BE49-F238E27FC236}">
                  <a16:creationId xmlns:a16="http://schemas.microsoft.com/office/drawing/2014/main" id="{94B9F24E-B54E-87FF-6807-C218B5464A0D}"/>
                </a:ext>
              </a:extLst>
            </p:cNvPr>
            <p:cNvCxnSpPr>
              <a:stCxn id="172" idx="3"/>
              <a:endCxn id="171" idx="1"/>
            </p:cNvCxnSpPr>
            <p:nvPr/>
          </p:nvCxnSpPr>
          <p:spPr>
            <a:xfrm>
              <a:off x="1304175" y="4744085"/>
              <a:ext cx="258836" cy="0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직선 화살표 연결선 178">
              <a:extLst>
                <a:ext uri="{FF2B5EF4-FFF2-40B4-BE49-F238E27FC236}">
                  <a16:creationId xmlns:a16="http://schemas.microsoft.com/office/drawing/2014/main" id="{FD32F650-D500-5DFD-B9EA-963CD830902D}"/>
                </a:ext>
              </a:extLst>
            </p:cNvPr>
            <p:cNvCxnSpPr>
              <a:cxnSpLocks/>
              <a:stCxn id="171" idx="3"/>
              <a:endCxn id="170" idx="1"/>
            </p:cNvCxnSpPr>
            <p:nvPr/>
          </p:nvCxnSpPr>
          <p:spPr>
            <a:xfrm>
              <a:off x="2658300" y="4744085"/>
              <a:ext cx="258836" cy="0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직선 화살표 연결선 179">
              <a:extLst>
                <a:ext uri="{FF2B5EF4-FFF2-40B4-BE49-F238E27FC236}">
                  <a16:creationId xmlns:a16="http://schemas.microsoft.com/office/drawing/2014/main" id="{21B0E380-6D9F-B1EA-9E51-7072C7833FA2}"/>
                </a:ext>
              </a:extLst>
            </p:cNvPr>
            <p:cNvCxnSpPr>
              <a:cxnSpLocks/>
              <a:stCxn id="170" idx="0"/>
            </p:cNvCxnSpPr>
            <p:nvPr/>
          </p:nvCxnSpPr>
          <p:spPr>
            <a:xfrm flipV="1">
              <a:off x="3608474" y="4345727"/>
              <a:ext cx="0" cy="220406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직선 화살표 연결선 180">
              <a:extLst>
                <a:ext uri="{FF2B5EF4-FFF2-40B4-BE49-F238E27FC236}">
                  <a16:creationId xmlns:a16="http://schemas.microsoft.com/office/drawing/2014/main" id="{773FD1A5-DEC5-7090-263D-A7761E49AA1D}"/>
                </a:ext>
              </a:extLst>
            </p:cNvPr>
            <p:cNvCxnSpPr>
              <a:stCxn id="170" idx="3"/>
              <a:endCxn id="173" idx="1"/>
            </p:cNvCxnSpPr>
            <p:nvPr/>
          </p:nvCxnSpPr>
          <p:spPr>
            <a:xfrm>
              <a:off x="4299809" y="4744085"/>
              <a:ext cx="258836" cy="0"/>
            </a:xfrm>
            <a:prstGeom prst="straightConnector1">
              <a:avLst/>
            </a:prstGeom>
            <a:ln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직선 화살표 연결선 181">
              <a:extLst>
                <a:ext uri="{FF2B5EF4-FFF2-40B4-BE49-F238E27FC236}">
                  <a16:creationId xmlns:a16="http://schemas.microsoft.com/office/drawing/2014/main" id="{A2F1A331-4329-C8DB-8664-C6EE0C96D8FA}"/>
                </a:ext>
              </a:extLst>
            </p:cNvPr>
            <p:cNvCxnSpPr>
              <a:cxnSpLocks/>
              <a:stCxn id="173" idx="3"/>
            </p:cNvCxnSpPr>
            <p:nvPr/>
          </p:nvCxnSpPr>
          <p:spPr>
            <a:xfrm>
              <a:off x="5653935" y="4744085"/>
              <a:ext cx="258836" cy="0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0" name="직사각형 189">
              <a:extLst>
                <a:ext uri="{FF2B5EF4-FFF2-40B4-BE49-F238E27FC236}">
                  <a16:creationId xmlns:a16="http://schemas.microsoft.com/office/drawing/2014/main" id="{B6B41741-C478-31AB-8F88-5FA4FF5BFFB5}"/>
                </a:ext>
              </a:extLst>
            </p:cNvPr>
            <p:cNvSpPr/>
            <p:nvPr/>
          </p:nvSpPr>
          <p:spPr>
            <a:xfrm>
              <a:off x="3030900" y="4111449"/>
              <a:ext cx="1149053" cy="24229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EB491D">
                  <a:alpha val="50196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600" b="0" u="sng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없는 정보입니다</a:t>
              </a:r>
              <a:r>
                <a:rPr kumimoji="1" lang="en-US" altLang="ko-KR" sz="600" b="0" u="sng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.</a:t>
              </a:r>
            </a:p>
            <a:p>
              <a:pPr marL="0" marR="0" lvl="0" indent="0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600" b="0" u="sng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다시 확인해주세요</a:t>
              </a:r>
              <a:r>
                <a:rPr kumimoji="1" lang="en-US" altLang="ko-KR" sz="600" b="0" u="sng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.</a:t>
              </a:r>
              <a:r>
                <a:rPr kumimoji="1" lang="en-US" altLang="ko-KR" sz="60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  Alert</a:t>
              </a:r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8A85A6EC-BDA1-77EA-46D6-9D05A1A378B7}"/>
                </a:ext>
              </a:extLst>
            </p:cNvPr>
            <p:cNvSpPr txBox="1"/>
            <p:nvPr/>
          </p:nvSpPr>
          <p:spPr>
            <a:xfrm>
              <a:off x="4361337" y="4798737"/>
              <a:ext cx="67889" cy="9792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lvl="0" algn="ctr">
                <a:defRPr/>
              </a:pPr>
              <a:r>
                <a:rPr kumimoji="1" lang="en-US" altLang="en-US" sz="700" dirty="0">
                  <a:solidFill>
                    <a:srgbClr val="0070C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Y</a:t>
              </a:r>
              <a:endParaRPr kumimoji="1" lang="x-none" altLang="en-US" sz="7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cxnSp>
          <p:nvCxnSpPr>
            <p:cNvPr id="194" name="연결선: 꺾임 193">
              <a:extLst>
                <a:ext uri="{FF2B5EF4-FFF2-40B4-BE49-F238E27FC236}">
                  <a16:creationId xmlns:a16="http://schemas.microsoft.com/office/drawing/2014/main" id="{3BDBE996-ED9D-7C63-2403-E72FA7E0F1CB}"/>
                </a:ext>
              </a:extLst>
            </p:cNvPr>
            <p:cNvCxnSpPr>
              <a:cxnSpLocks/>
              <a:stCxn id="190" idx="0"/>
              <a:endCxn id="171" idx="0"/>
            </p:cNvCxnSpPr>
            <p:nvPr/>
          </p:nvCxnSpPr>
          <p:spPr>
            <a:xfrm rot="16200000" flipH="1" flipV="1">
              <a:off x="2630699" y="3591405"/>
              <a:ext cx="454684" cy="1494771"/>
            </a:xfrm>
            <a:prstGeom prst="bentConnector3">
              <a:avLst>
                <a:gd name="adj1" fmla="val -48601"/>
              </a:avLst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1" name="직사각형 220">
              <a:extLst>
                <a:ext uri="{FF2B5EF4-FFF2-40B4-BE49-F238E27FC236}">
                  <a16:creationId xmlns:a16="http://schemas.microsoft.com/office/drawing/2014/main" id="{B7DC35E9-8359-E461-8094-1367E7713B54}"/>
                </a:ext>
              </a:extLst>
            </p:cNvPr>
            <p:cNvSpPr/>
            <p:nvPr/>
          </p:nvSpPr>
          <p:spPr>
            <a:xfrm>
              <a:off x="124377" y="4480167"/>
              <a:ext cx="1095290" cy="163637"/>
            </a:xfrm>
            <a:prstGeom prst="rect">
              <a:avLst/>
            </a:prstGeom>
            <a:solidFill>
              <a:srgbClr val="002060"/>
            </a:solidFill>
            <a:ln w="31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>
                <a:defRPr/>
              </a:pPr>
              <a:r>
                <a:rPr kumimoji="1" lang="ko-KR" altLang="en-US" sz="65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  관리자 승인 </a:t>
              </a:r>
              <a:r>
                <a:rPr kumimoji="1" lang="en-US" altLang="ko-KR" sz="65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 (</a:t>
              </a:r>
              <a:r>
                <a:rPr kumimoji="1" lang="ko-KR" altLang="en-US" sz="65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휴대 기기 </a:t>
              </a:r>
              <a:r>
                <a:rPr kumimoji="1" lang="en-US" altLang="ko-KR" sz="65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X)</a:t>
              </a:r>
              <a:endParaRPr kumimoji="1" lang="ko-KR" altLang="en-US" sz="65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42" name="직사각형 241">
              <a:extLst>
                <a:ext uri="{FF2B5EF4-FFF2-40B4-BE49-F238E27FC236}">
                  <a16:creationId xmlns:a16="http://schemas.microsoft.com/office/drawing/2014/main" id="{3D2654AE-F2AD-821D-C98C-A96119989D67}"/>
                </a:ext>
              </a:extLst>
            </p:cNvPr>
            <p:cNvSpPr/>
            <p:nvPr/>
          </p:nvSpPr>
          <p:spPr>
            <a:xfrm>
              <a:off x="5912770" y="4566133"/>
              <a:ext cx="1095290" cy="35590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>
                <a:defRPr/>
              </a:pPr>
              <a:r>
                <a:rPr lang="ko-KR" altLang="en-US" sz="65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관리자 승인 대기</a:t>
              </a:r>
              <a:endParaRPr kumimoji="1" lang="ko-KR" altLang="en-US" sz="65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43" name="판단 41">
              <a:extLst>
                <a:ext uri="{FF2B5EF4-FFF2-40B4-BE49-F238E27FC236}">
                  <a16:creationId xmlns:a16="http://schemas.microsoft.com/office/drawing/2014/main" id="{E0C1C9A8-12E5-44A5-00D1-FFEB6844CD64}"/>
                </a:ext>
              </a:extLst>
            </p:cNvPr>
            <p:cNvSpPr/>
            <p:nvPr/>
          </p:nvSpPr>
          <p:spPr>
            <a:xfrm>
              <a:off x="7266895" y="4561985"/>
              <a:ext cx="1382674" cy="355904"/>
            </a:xfrm>
            <a:prstGeom prst="flowChartDecision">
              <a:avLst/>
            </a:prstGeom>
            <a:solidFill>
              <a:srgbClr val="C00000">
                <a:alpha val="14902"/>
              </a:srgb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650" b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관리자 승인 여부</a:t>
              </a:r>
              <a:endParaRPr kumimoji="1" lang="en-US" altLang="ko-KR" sz="6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cxnSp>
          <p:nvCxnSpPr>
            <p:cNvPr id="244" name="직선 화살표 연결선 243">
              <a:extLst>
                <a:ext uri="{FF2B5EF4-FFF2-40B4-BE49-F238E27FC236}">
                  <a16:creationId xmlns:a16="http://schemas.microsoft.com/office/drawing/2014/main" id="{259424AA-D210-75AF-0697-9B3E348C0B55}"/>
                </a:ext>
              </a:extLst>
            </p:cNvPr>
            <p:cNvCxnSpPr>
              <a:cxnSpLocks/>
            </p:cNvCxnSpPr>
            <p:nvPr/>
          </p:nvCxnSpPr>
          <p:spPr>
            <a:xfrm>
              <a:off x="7008060" y="4734222"/>
              <a:ext cx="258836" cy="0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직선 화살표 연결선 244">
              <a:extLst>
                <a:ext uri="{FF2B5EF4-FFF2-40B4-BE49-F238E27FC236}">
                  <a16:creationId xmlns:a16="http://schemas.microsoft.com/office/drawing/2014/main" id="{8367563D-0968-A716-CDD4-243B77E449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953150" y="4337769"/>
              <a:ext cx="0" cy="220406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6" name="TextBox 245">
              <a:extLst>
                <a:ext uri="{FF2B5EF4-FFF2-40B4-BE49-F238E27FC236}">
                  <a16:creationId xmlns:a16="http://schemas.microsoft.com/office/drawing/2014/main" id="{380FD6A9-F279-94DF-390F-361EF4BE234F}"/>
                </a:ext>
              </a:extLst>
            </p:cNvPr>
            <p:cNvSpPr txBox="1"/>
            <p:nvPr/>
          </p:nvSpPr>
          <p:spPr>
            <a:xfrm>
              <a:off x="8031673" y="4423235"/>
              <a:ext cx="104740" cy="9792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lvl="0" algn="ctr">
                <a:defRPr/>
              </a:pPr>
              <a:r>
                <a:rPr kumimoji="1" lang="en-US" altLang="en-US" sz="700">
                  <a:solidFill>
                    <a:srgbClr val="C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N </a:t>
              </a:r>
              <a:endParaRPr kumimoji="1" lang="x-none" altLang="en-US" sz="700" dirty="0">
                <a:solidFill>
                  <a:srgbClr val="C00000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47" name="직사각형 246">
              <a:extLst>
                <a:ext uri="{FF2B5EF4-FFF2-40B4-BE49-F238E27FC236}">
                  <a16:creationId xmlns:a16="http://schemas.microsoft.com/office/drawing/2014/main" id="{4ED10B79-88BA-E858-CC12-2EA3E1A12D59}"/>
                </a:ext>
              </a:extLst>
            </p:cNvPr>
            <p:cNvSpPr/>
            <p:nvPr/>
          </p:nvSpPr>
          <p:spPr>
            <a:xfrm>
              <a:off x="7442691" y="4092793"/>
              <a:ext cx="1020918" cy="24229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EB491D">
                  <a:alpha val="50196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600" b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담당</a:t>
              </a:r>
              <a:r>
                <a:rPr kumimoji="1" lang="ko-KR" altLang="en-US" sz="600" b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자 문의</a:t>
              </a:r>
              <a:endParaRPr kumimoji="1" lang="en-US" altLang="ko-KR" sz="600" b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cxnSp>
          <p:nvCxnSpPr>
            <p:cNvPr id="250" name="직선 화살표 연결선 249">
              <a:extLst>
                <a:ext uri="{FF2B5EF4-FFF2-40B4-BE49-F238E27FC236}">
                  <a16:creationId xmlns:a16="http://schemas.microsoft.com/office/drawing/2014/main" id="{778C36F5-33EB-3D1E-5B67-CCBF08A1864C}"/>
                </a:ext>
              </a:extLst>
            </p:cNvPr>
            <p:cNvCxnSpPr>
              <a:cxnSpLocks/>
            </p:cNvCxnSpPr>
            <p:nvPr/>
          </p:nvCxnSpPr>
          <p:spPr>
            <a:xfrm>
              <a:off x="8648811" y="4744085"/>
              <a:ext cx="258836" cy="0"/>
            </a:xfrm>
            <a:prstGeom prst="straightConnector1">
              <a:avLst/>
            </a:prstGeom>
            <a:ln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1" name="직사각형 250">
              <a:extLst>
                <a:ext uri="{FF2B5EF4-FFF2-40B4-BE49-F238E27FC236}">
                  <a16:creationId xmlns:a16="http://schemas.microsoft.com/office/drawing/2014/main" id="{35DF2E53-EA8E-4905-CFB5-EB35AF868DB5}"/>
                </a:ext>
              </a:extLst>
            </p:cNvPr>
            <p:cNvSpPr/>
            <p:nvPr/>
          </p:nvSpPr>
          <p:spPr>
            <a:xfrm>
              <a:off x="8907646" y="4566133"/>
              <a:ext cx="1095290" cy="355904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lvl="0" algn="ctr">
                <a:defRPr/>
              </a:pPr>
              <a:r>
                <a:rPr lang="ko-KR" altLang="en-US" sz="65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임시 </a:t>
              </a:r>
              <a:r>
                <a:rPr lang="en-US" altLang="ko-KR" sz="65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OTP PIN </a:t>
              </a:r>
              <a:r>
                <a:rPr lang="ko-KR" altLang="en-US" sz="65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인증하기</a:t>
              </a:r>
              <a:endParaRPr kumimoji="1" lang="ko-KR" altLang="en-US" sz="650" dirty="0">
                <a:solidFill>
                  <a:prstClr val="black">
                    <a:lumMod val="75000"/>
                    <a:lumOff val="25000"/>
                  </a:prstClr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53" name="판단 41">
              <a:extLst>
                <a:ext uri="{FF2B5EF4-FFF2-40B4-BE49-F238E27FC236}">
                  <a16:creationId xmlns:a16="http://schemas.microsoft.com/office/drawing/2014/main" id="{AB1C03DB-9204-C266-990E-04BF6CB71378}"/>
                </a:ext>
              </a:extLst>
            </p:cNvPr>
            <p:cNvSpPr/>
            <p:nvPr/>
          </p:nvSpPr>
          <p:spPr>
            <a:xfrm>
              <a:off x="10262529" y="4566630"/>
              <a:ext cx="1382674" cy="355904"/>
            </a:xfrm>
            <a:prstGeom prst="flowChartDecision">
              <a:avLst/>
            </a:prstGeom>
            <a:solidFill>
              <a:srgbClr val="C00000">
                <a:alpha val="14902"/>
              </a:srgb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65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rPr>
                <a:t>임시 </a:t>
              </a:r>
              <a:r>
                <a:rPr kumimoji="1" lang="en-US" altLang="ko-KR" sz="65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rPr>
                <a:t>OTP </a:t>
              </a:r>
              <a:r>
                <a:rPr lang="en-US" altLang="ko-KR" sz="650" b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PIN</a:t>
              </a:r>
              <a:r>
                <a:rPr lang="ko-KR" altLang="en-US" sz="650" b="0">
                  <a:solidFill>
                    <a:prstClr val="black">
                      <a:lumMod val="75000"/>
                      <a:lumOff val="25000"/>
                    </a:prstClr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 </a:t>
              </a:r>
              <a:r>
                <a:rPr kumimoji="1" lang="ko-KR" altLang="en-US" sz="65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rPr>
                <a:t>입력</a:t>
              </a:r>
              <a:endParaRPr kumimoji="1" lang="en-US" altLang="ko-KR" sz="65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650" b="0" i="0" u="none" strike="noStrike" kern="1200" cap="none" spc="0" normalizeH="0" baseline="0" noProof="0">
                  <a:ln>
                    <a:noFill/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effectLst/>
                  <a:uLnTx/>
                  <a:uFillTx/>
                  <a:latin typeface="Pretendard" panose="02000503000000020004" pitchFamily="2" charset="-127"/>
                  <a:ea typeface="Pretendard" panose="02000503000000020004" pitchFamily="2" charset="-127"/>
                  <a:cs typeface="+mn-cs"/>
                </a:rPr>
                <a:t>인증 성공 여부</a:t>
              </a:r>
              <a:endParaRPr kumimoji="1" lang="en-US" altLang="ko-KR" sz="65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+mn-cs"/>
              </a:endParaRPr>
            </a:p>
          </p:txBody>
        </p:sp>
        <p:cxnSp>
          <p:nvCxnSpPr>
            <p:cNvPr id="254" name="직선 화살표 연결선 253">
              <a:extLst>
                <a:ext uri="{FF2B5EF4-FFF2-40B4-BE49-F238E27FC236}">
                  <a16:creationId xmlns:a16="http://schemas.microsoft.com/office/drawing/2014/main" id="{AF6D3CCD-C033-9B7C-6E64-433292A3F830}"/>
                </a:ext>
              </a:extLst>
            </p:cNvPr>
            <p:cNvCxnSpPr>
              <a:cxnSpLocks/>
            </p:cNvCxnSpPr>
            <p:nvPr/>
          </p:nvCxnSpPr>
          <p:spPr>
            <a:xfrm>
              <a:off x="10003694" y="4736100"/>
              <a:ext cx="258836" cy="0"/>
            </a:xfrm>
            <a:prstGeom prst="straightConnector1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직선 화살표 연결선 254">
              <a:extLst>
                <a:ext uri="{FF2B5EF4-FFF2-40B4-BE49-F238E27FC236}">
                  <a16:creationId xmlns:a16="http://schemas.microsoft.com/office/drawing/2014/main" id="{DE92BD21-38D7-2309-2184-5FB88A2E99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953866" y="4344346"/>
              <a:ext cx="0" cy="220406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6" name="TextBox 255">
              <a:extLst>
                <a:ext uri="{FF2B5EF4-FFF2-40B4-BE49-F238E27FC236}">
                  <a16:creationId xmlns:a16="http://schemas.microsoft.com/office/drawing/2014/main" id="{C4BE71FA-170D-431E-F718-538DEA395F79}"/>
                </a:ext>
              </a:extLst>
            </p:cNvPr>
            <p:cNvSpPr txBox="1"/>
            <p:nvPr/>
          </p:nvSpPr>
          <p:spPr>
            <a:xfrm>
              <a:off x="11027591" y="4427045"/>
              <a:ext cx="104740" cy="9792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lvl="0" algn="ctr">
                <a:defRPr/>
              </a:pPr>
              <a:r>
                <a:rPr kumimoji="1" lang="en-US" altLang="en-US" sz="700">
                  <a:solidFill>
                    <a:srgbClr val="C0000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N </a:t>
              </a:r>
              <a:endParaRPr kumimoji="1" lang="x-none" altLang="en-US" sz="700" dirty="0">
                <a:solidFill>
                  <a:srgbClr val="C00000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57" name="직사각형 256">
              <a:extLst>
                <a:ext uri="{FF2B5EF4-FFF2-40B4-BE49-F238E27FC236}">
                  <a16:creationId xmlns:a16="http://schemas.microsoft.com/office/drawing/2014/main" id="{B8F8B22E-4033-5896-4E1D-B7EA1EEABE41}"/>
                </a:ext>
              </a:extLst>
            </p:cNvPr>
            <p:cNvSpPr/>
            <p:nvPr/>
          </p:nvSpPr>
          <p:spPr>
            <a:xfrm>
              <a:off x="10443407" y="4097844"/>
              <a:ext cx="1020918" cy="242299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rgbClr val="EB491D">
                  <a:alpha val="50196"/>
                </a:srgb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ko-KR" altLang="en-US" sz="600" b="0">
                  <a:solidFill>
                    <a:schemeClr val="tx1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재시도  </a:t>
              </a:r>
              <a:endParaRPr kumimoji="1" lang="en-US" altLang="ko-KR" sz="600" b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cxnSp>
          <p:nvCxnSpPr>
            <p:cNvPr id="259" name="연결선: 꺾임 258">
              <a:extLst>
                <a:ext uri="{FF2B5EF4-FFF2-40B4-BE49-F238E27FC236}">
                  <a16:creationId xmlns:a16="http://schemas.microsoft.com/office/drawing/2014/main" id="{5337A741-F1E5-316A-5982-2A8CBF3A01E0}"/>
                </a:ext>
              </a:extLst>
            </p:cNvPr>
            <p:cNvCxnSpPr>
              <a:stCxn id="257" idx="0"/>
              <a:endCxn id="251" idx="0"/>
            </p:cNvCxnSpPr>
            <p:nvPr/>
          </p:nvCxnSpPr>
          <p:spPr>
            <a:xfrm rot="16200000" flipH="1" flipV="1">
              <a:off x="9970434" y="3582700"/>
              <a:ext cx="468289" cy="1498575"/>
            </a:xfrm>
            <a:prstGeom prst="bentConnector3">
              <a:avLst>
                <a:gd name="adj1" fmla="val -48816"/>
              </a:avLst>
            </a:prstGeom>
            <a:ln>
              <a:solidFill>
                <a:schemeClr val="tx1">
                  <a:lumMod val="75000"/>
                  <a:lumOff val="2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9022DE8B-5468-4BE4-FE0B-2E6F986AB791}"/>
                </a:ext>
              </a:extLst>
            </p:cNvPr>
            <p:cNvSpPr txBox="1"/>
            <p:nvPr/>
          </p:nvSpPr>
          <p:spPr bwMode="auto">
            <a:xfrm>
              <a:off x="9648432" y="3789384"/>
              <a:ext cx="1079957" cy="165036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9525">
              <a:noFill/>
            </a:ln>
          </p:spPr>
          <p:txBody>
            <a:bodyPr wrap="none" lIns="72000" tIns="36000" rIns="72000" bIns="36000" rtlCol="0">
              <a:spAutoFit/>
            </a:bodyPr>
            <a:lstStyle/>
            <a:p>
              <a:pPr algn="l"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lang="en-US" altLang="ko-KR" sz="60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PIN </a:t>
              </a:r>
              <a:r>
                <a:rPr lang="ko-KR" altLang="en-US" sz="60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입력 </a:t>
              </a:r>
              <a:r>
                <a:rPr lang="en-US" altLang="ko-KR" sz="60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5</a:t>
              </a:r>
              <a:r>
                <a:rPr lang="ko-KR" altLang="en-US" sz="60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회 실패 시 계정 잠김</a:t>
              </a:r>
              <a:endParaRPr lang="ko-KR" altLang="en-US" sz="600" dirty="0" err="1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cxnSp>
          <p:nvCxnSpPr>
            <p:cNvPr id="263" name="직선 화살표 연결선 262">
              <a:extLst>
                <a:ext uri="{FF2B5EF4-FFF2-40B4-BE49-F238E27FC236}">
                  <a16:creationId xmlns:a16="http://schemas.microsoft.com/office/drawing/2014/main" id="{DCA3EA92-3E32-6ED1-3DDC-08425064A6B2}"/>
                </a:ext>
              </a:extLst>
            </p:cNvPr>
            <p:cNvCxnSpPr>
              <a:cxnSpLocks/>
            </p:cNvCxnSpPr>
            <p:nvPr/>
          </p:nvCxnSpPr>
          <p:spPr>
            <a:xfrm>
              <a:off x="10953866" y="4920656"/>
              <a:ext cx="0" cy="283594"/>
            </a:xfrm>
            <a:prstGeom prst="straightConnector1">
              <a:avLst/>
            </a:prstGeom>
            <a:ln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6" name="직사각형 265">
              <a:extLst>
                <a:ext uri="{FF2B5EF4-FFF2-40B4-BE49-F238E27FC236}">
                  <a16:creationId xmlns:a16="http://schemas.microsoft.com/office/drawing/2014/main" id="{D3147A74-DBD2-387A-8593-C41E99C3AAC4}"/>
                </a:ext>
              </a:extLst>
            </p:cNvPr>
            <p:cNvSpPr/>
            <p:nvPr/>
          </p:nvSpPr>
          <p:spPr>
            <a:xfrm>
              <a:off x="10406221" y="5203582"/>
              <a:ext cx="1095290" cy="355904"/>
            </a:xfrm>
            <a:prstGeom prst="rect">
              <a:avLst/>
            </a:prstGeom>
            <a:solidFill>
              <a:schemeClr val="accent2">
                <a:alpha val="67059"/>
              </a:schemeClr>
            </a:solidFill>
            <a:ln w="3175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65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로그인</a:t>
              </a:r>
              <a:r>
                <a:rPr lang="en-US" altLang="ko-KR" sz="65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(</a:t>
              </a:r>
              <a:r>
                <a:rPr lang="ko-KR" altLang="en-US" sz="65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인증</a:t>
              </a:r>
              <a:r>
                <a:rPr lang="en-US" altLang="ko-KR" sz="65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) </a:t>
              </a:r>
              <a:r>
                <a:rPr lang="ko-KR" altLang="en-US" sz="650">
                  <a:solidFill>
                    <a:schemeClr val="bg1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성공</a:t>
              </a:r>
              <a:endParaRPr lang="ko-KR" altLang="en-US" sz="650" dirty="0">
                <a:solidFill>
                  <a:schemeClr val="bg1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  <p:sp>
          <p:nvSpPr>
            <p:cNvPr id="268" name="TextBox 267">
              <a:extLst>
                <a:ext uri="{FF2B5EF4-FFF2-40B4-BE49-F238E27FC236}">
                  <a16:creationId xmlns:a16="http://schemas.microsoft.com/office/drawing/2014/main" id="{8A78E939-318F-C9C7-6C62-9ABA8A7E21CC}"/>
                </a:ext>
              </a:extLst>
            </p:cNvPr>
            <p:cNvSpPr txBox="1"/>
            <p:nvPr/>
          </p:nvSpPr>
          <p:spPr>
            <a:xfrm>
              <a:off x="11030990" y="4989607"/>
              <a:ext cx="67889" cy="97929"/>
            </a:xfrm>
            <a:prstGeom prst="rect">
              <a:avLst/>
            </a:prstGeom>
            <a:noFill/>
          </p:spPr>
          <p:txBody>
            <a:bodyPr wrap="none" lIns="0" tIns="0" rIns="0" bIns="0" rtlCol="0" anchor="ctr">
              <a:spAutoFit/>
            </a:bodyPr>
            <a:lstStyle/>
            <a:p>
              <a:pPr lvl="0" algn="ctr">
                <a:defRPr/>
              </a:pPr>
              <a:r>
                <a:rPr kumimoji="1" lang="en-US" altLang="en-US" sz="700" dirty="0">
                  <a:solidFill>
                    <a:srgbClr val="0070C0"/>
                  </a:solidFill>
                  <a:latin typeface="Pretendard" panose="02000503000000020004" pitchFamily="2" charset="-127"/>
                  <a:ea typeface="Pretendard" panose="02000503000000020004" pitchFamily="2" charset="-127"/>
                </a:rPr>
                <a:t>Y</a:t>
              </a:r>
              <a:endParaRPr kumimoji="1" lang="x-none" altLang="en-US" sz="700" dirty="0">
                <a:solidFill>
                  <a:srgbClr val="0070C0"/>
                </a:solidFill>
                <a:latin typeface="Pretendard" panose="02000503000000020004" pitchFamily="2" charset="-127"/>
                <a:ea typeface="Pretendard" panose="02000503000000020004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434672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F9A78-E18B-D780-B2A4-FE2AAF0C1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B6C17314-84F0-910E-5A6F-87064522AF02}"/>
              </a:ext>
            </a:extLst>
          </p:cNvPr>
          <p:cNvSpPr/>
          <p:nvPr/>
        </p:nvSpPr>
        <p:spPr>
          <a:xfrm>
            <a:off x="0" y="520961"/>
            <a:ext cx="9467081" cy="6337039"/>
          </a:xfrm>
          <a:prstGeom prst="rect">
            <a:avLst/>
          </a:prstGeom>
          <a:solidFill>
            <a:srgbClr val="FEE500"/>
          </a:solidFill>
        </p:spPr>
        <p:txBody>
          <a:bodyPr wrap="square" rtlCol="0" anchor="ctr">
            <a:noAutofit/>
          </a:bodyPr>
          <a:lstStyle/>
          <a:p>
            <a:pPr algn="l"/>
            <a:endParaRPr kumimoji="0" lang="ko-KR" altLang="en-US" sz="9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7" name="텍스트 개체 틀 28">
            <a:extLst>
              <a:ext uri="{FF2B5EF4-FFF2-40B4-BE49-F238E27FC236}">
                <a16:creationId xmlns:a16="http://schemas.microsoft.com/office/drawing/2014/main" id="{C47117B2-B514-8C2F-B7A1-E9138C5722E2}"/>
              </a:ext>
            </a:extLst>
          </p:cNvPr>
          <p:cNvSpPr txBox="1">
            <a:spLocks/>
          </p:cNvSpPr>
          <p:nvPr/>
        </p:nvSpPr>
        <p:spPr>
          <a:xfrm>
            <a:off x="1225975" y="20616"/>
            <a:ext cx="2160000" cy="180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[ATON] </a:t>
            </a:r>
            <a:r>
              <a:rPr lang="ko-KR" altLang="en-US"/>
              <a:t>카카오뱅크 </a:t>
            </a:r>
            <a:r>
              <a:rPr lang="en-US" altLang="ko-KR"/>
              <a:t>OTP POC</a:t>
            </a:r>
            <a:endParaRPr lang="ko-KR" altLang="en-US"/>
          </a:p>
        </p:txBody>
      </p:sp>
      <p:sp>
        <p:nvSpPr>
          <p:cNvPr id="214" name="텍스트 개체 틀 28">
            <a:extLst>
              <a:ext uri="{FF2B5EF4-FFF2-40B4-BE49-F238E27FC236}">
                <a16:creationId xmlns:a16="http://schemas.microsoft.com/office/drawing/2014/main" id="{58E84C48-F6B4-6D5D-4D25-BB1F811D521F}"/>
              </a:ext>
            </a:extLst>
          </p:cNvPr>
          <p:cNvSpPr txBox="1">
            <a:spLocks/>
          </p:cNvSpPr>
          <p:nvPr/>
        </p:nvSpPr>
        <p:spPr>
          <a:xfrm>
            <a:off x="1235500" y="252000"/>
            <a:ext cx="2160000" cy="180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ko-KR" altLang="en-US" b="0"/>
              <a:t>초기 화면</a:t>
            </a:r>
            <a:endParaRPr kumimoji="0" lang="en-US" altLang="ko-KR" b="0" dirty="0"/>
          </a:p>
        </p:txBody>
      </p:sp>
      <p:sp>
        <p:nvSpPr>
          <p:cNvPr id="228" name="텍스트 개체 틀 28">
            <a:extLst>
              <a:ext uri="{FF2B5EF4-FFF2-40B4-BE49-F238E27FC236}">
                <a16:creationId xmlns:a16="http://schemas.microsoft.com/office/drawing/2014/main" id="{F895CC13-50A7-9557-BFE0-B6133FE044C7}"/>
              </a:ext>
            </a:extLst>
          </p:cNvPr>
          <p:cNvSpPr txBox="1">
            <a:spLocks/>
          </p:cNvSpPr>
          <p:nvPr/>
        </p:nvSpPr>
        <p:spPr>
          <a:xfrm>
            <a:off x="4751298" y="252000"/>
            <a:ext cx="1080000" cy="180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b="0" dirty="0">
              <a:solidFill>
                <a:srgbClr val="000000"/>
              </a:solidFill>
            </a:endParaRPr>
          </a:p>
        </p:txBody>
      </p:sp>
      <p:sp>
        <p:nvSpPr>
          <p:cNvPr id="235" name="텍스트 개체 틀 28">
            <a:extLst>
              <a:ext uri="{FF2B5EF4-FFF2-40B4-BE49-F238E27FC236}">
                <a16:creationId xmlns:a16="http://schemas.microsoft.com/office/drawing/2014/main" id="{1872BE40-8CBF-325C-DB05-552899386798}"/>
              </a:ext>
            </a:extLst>
          </p:cNvPr>
          <p:cNvSpPr txBox="1">
            <a:spLocks/>
          </p:cNvSpPr>
          <p:nvPr/>
        </p:nvSpPr>
        <p:spPr>
          <a:xfrm>
            <a:off x="7088981" y="252000"/>
            <a:ext cx="2340000" cy="180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b="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B67D3CE-BBE3-9C9F-540C-BFBA8FCEF089}"/>
              </a:ext>
            </a:extLst>
          </p:cNvPr>
          <p:cNvSpPr/>
          <p:nvPr/>
        </p:nvSpPr>
        <p:spPr bwMode="auto">
          <a:xfrm>
            <a:off x="4712861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1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6D3932A-5173-1BA7-535E-5844D3E0606B}"/>
              </a:ext>
            </a:extLst>
          </p:cNvPr>
          <p:cNvSpPr/>
          <p:nvPr/>
        </p:nvSpPr>
        <p:spPr bwMode="auto">
          <a:xfrm>
            <a:off x="5927042" y="0"/>
            <a:ext cx="294701" cy="21938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2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F4C646D0-A6AA-C662-B26F-4DF45E95D10B}"/>
              </a:ext>
            </a:extLst>
          </p:cNvPr>
          <p:cNvSpPr/>
          <p:nvPr/>
        </p:nvSpPr>
        <p:spPr bwMode="auto">
          <a:xfrm>
            <a:off x="7059464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3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248408E-0DB9-199D-AF09-05F66B295D7E}"/>
              </a:ext>
            </a:extLst>
          </p:cNvPr>
          <p:cNvSpPr/>
          <p:nvPr/>
        </p:nvSpPr>
        <p:spPr bwMode="auto">
          <a:xfrm>
            <a:off x="8264807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4</a:t>
            </a:r>
            <a:r>
              <a:rPr kumimoji="1" lang="en-US" altLang="ko-KR" sz="6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</a:t>
            </a: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9A08C39-4666-8FD7-D35A-B606DED96573}"/>
              </a:ext>
            </a:extLst>
          </p:cNvPr>
          <p:cNvSpPr/>
          <p:nvPr/>
        </p:nvSpPr>
        <p:spPr bwMode="auto">
          <a:xfrm>
            <a:off x="9467081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5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FDD9D9F-0A97-DE5D-98A4-67D0DAF63F43}"/>
              </a:ext>
            </a:extLst>
          </p:cNvPr>
          <p:cNvSpPr/>
          <p:nvPr/>
        </p:nvSpPr>
        <p:spPr bwMode="auto">
          <a:xfrm>
            <a:off x="10574936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6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69" name="텍스트 개체 틀 28">
            <a:extLst>
              <a:ext uri="{FF2B5EF4-FFF2-40B4-BE49-F238E27FC236}">
                <a16:creationId xmlns:a16="http://schemas.microsoft.com/office/drawing/2014/main" id="{95866441-69EF-932B-8E6D-785AF943D61B}"/>
              </a:ext>
            </a:extLst>
          </p:cNvPr>
          <p:cNvSpPr txBox="1">
            <a:spLocks/>
          </p:cNvSpPr>
          <p:nvPr/>
        </p:nvSpPr>
        <p:spPr>
          <a:xfrm>
            <a:off x="10612354" y="252000"/>
            <a:ext cx="1080000" cy="16977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0"/>
              <a:t>2025-12-12</a:t>
            </a:r>
            <a:endParaRPr lang="ko-KR" altLang="en-US" b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37ADCF-0E7F-FDAB-D080-F99F801E35AA}"/>
              </a:ext>
            </a:extLst>
          </p:cNvPr>
          <p:cNvSpPr txBox="1"/>
          <p:nvPr/>
        </p:nvSpPr>
        <p:spPr bwMode="auto">
          <a:xfrm>
            <a:off x="3111471" y="878353"/>
            <a:ext cx="3161058" cy="33855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b="1" i="0">
                <a:solidFill>
                  <a:srgbClr val="11111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카카오뱅크 </a:t>
            </a:r>
            <a:r>
              <a:rPr lang="en-US" altLang="ko-KR" b="1" i="0">
                <a:solidFill>
                  <a:srgbClr val="11111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OTP POC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8437A32-A4B9-E9B2-03E4-84A0062CC550}"/>
              </a:ext>
            </a:extLst>
          </p:cNvPr>
          <p:cNvSpPr txBox="1"/>
          <p:nvPr/>
        </p:nvSpPr>
        <p:spPr bwMode="auto">
          <a:xfrm>
            <a:off x="2779560" y="1216907"/>
            <a:ext cx="3824880" cy="21544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8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PC</a:t>
            </a:r>
            <a:r>
              <a:rPr lang="en-US" altLang="ko-KR" sz="8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/ Mobile Web</a:t>
            </a:r>
            <a:r>
              <a:rPr lang="ko-KR" altLang="en-US" sz="8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에</a:t>
            </a:r>
            <a:r>
              <a:rPr lang="ko-KR" altLang="en-US" sz="8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서 </a:t>
            </a:r>
            <a:r>
              <a:rPr lang="en-US" altLang="ko-KR" sz="8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OTP </a:t>
            </a:r>
            <a:r>
              <a:rPr lang="ko-KR" altLang="en-US" sz="8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인증을 요청하는 상황을 가정합니다</a:t>
            </a:r>
            <a:r>
              <a:rPr lang="en-US" altLang="ko-KR" sz="8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800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01372249-4440-E4E7-F21C-D014541E36E8}"/>
              </a:ext>
            </a:extLst>
          </p:cNvPr>
          <p:cNvGrpSpPr/>
          <p:nvPr/>
        </p:nvGrpSpPr>
        <p:grpSpPr>
          <a:xfrm>
            <a:off x="2779560" y="1604255"/>
            <a:ext cx="3824880" cy="3192745"/>
            <a:chOff x="2779560" y="1604255"/>
            <a:chExt cx="3824880" cy="3192745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A555579F-DD99-3F51-3B99-918951F149EC}"/>
                </a:ext>
              </a:extLst>
            </p:cNvPr>
            <p:cNvSpPr/>
            <p:nvPr/>
          </p:nvSpPr>
          <p:spPr>
            <a:xfrm>
              <a:off x="3308861" y="1604255"/>
              <a:ext cx="2808000" cy="3192745"/>
            </a:xfrm>
            <a:prstGeom prst="roundRect">
              <a:avLst>
                <a:gd name="adj" fmla="val 8346"/>
              </a:avLst>
            </a:prstGeom>
            <a:solidFill>
              <a:schemeClr val="bg1"/>
            </a:solidFill>
          </p:spPr>
          <p:txBody>
            <a:bodyPr wrap="square" rtlCol="0" anchor="ctr">
              <a:noAutofit/>
            </a:bodyPr>
            <a:lstStyle/>
            <a:p>
              <a:pPr algn="l"/>
              <a:endParaRPr kumimoji="0" lang="ko-KR" altLang="en-US" sz="9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D4D5ED72-3289-7362-281B-BE09CAFCEE4E}"/>
                </a:ext>
              </a:extLst>
            </p:cNvPr>
            <p:cNvGrpSpPr/>
            <p:nvPr/>
          </p:nvGrpSpPr>
          <p:grpSpPr>
            <a:xfrm>
              <a:off x="2779560" y="1845058"/>
              <a:ext cx="3824880" cy="2487791"/>
              <a:chOff x="2779560" y="1845058"/>
              <a:chExt cx="3824880" cy="2487791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E239FD8-3061-4895-4C1B-ACB35F3B4C8B}"/>
                  </a:ext>
                </a:extLst>
              </p:cNvPr>
              <p:cNvSpPr txBox="1"/>
              <p:nvPr/>
            </p:nvSpPr>
            <p:spPr bwMode="auto">
              <a:xfrm>
                <a:off x="3111471" y="1845058"/>
                <a:ext cx="3161058" cy="33855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/>
              <a:p>
                <a:pPr algn="ctr">
                  <a:buNone/>
                </a:pPr>
                <a:r>
                  <a:rPr lang="ko-KR" altLang="en-US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금융 서비스</a:t>
                </a:r>
                <a:endParaRPr lang="en-US" altLang="ko-KR" i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DE284C5-18D5-57E2-816E-FADF4AAF5D4F}"/>
                  </a:ext>
                </a:extLst>
              </p:cNvPr>
              <p:cNvSpPr txBox="1"/>
              <p:nvPr/>
            </p:nvSpPr>
            <p:spPr bwMode="auto">
              <a:xfrm>
                <a:off x="2779560" y="2257214"/>
                <a:ext cx="3824880" cy="2308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900" b="0" i="0">
                    <a:solidFill>
                      <a:srgbClr val="333333"/>
                    </a:solidFill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은행</a:t>
                </a:r>
                <a:r>
                  <a:rPr lang="en-US" altLang="ko-KR" sz="900" b="0" i="0">
                    <a:solidFill>
                      <a:srgbClr val="333333"/>
                    </a:solidFill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, </a:t>
                </a:r>
                <a:r>
                  <a:rPr lang="ko-KR" altLang="en-US" sz="900" b="0" i="0">
                    <a:solidFill>
                      <a:srgbClr val="333333"/>
                    </a:solidFill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증권 등 금융 </a:t>
                </a:r>
                <a:r>
                  <a:rPr lang="ko-KR" altLang="en-US" sz="900" b="0">
                    <a:solidFill>
                      <a:srgbClr val="333333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시스템</a:t>
                </a:r>
                <a:r>
                  <a:rPr lang="ko-KR" altLang="en-US" sz="900" b="0" i="0">
                    <a:solidFill>
                      <a:srgbClr val="333333"/>
                    </a:solidFill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로그인</a:t>
                </a:r>
                <a:endParaRPr lang="ko-KR" altLang="en-US" sz="900"/>
              </a:p>
            </p:txBody>
          </p:sp>
          <p:sp>
            <p:nvSpPr>
              <p:cNvPr id="19" name="사각형: 둥근 모서리 18">
                <a:extLst>
                  <a:ext uri="{FF2B5EF4-FFF2-40B4-BE49-F238E27FC236}">
                    <a16:creationId xmlns:a16="http://schemas.microsoft.com/office/drawing/2014/main" id="{C8D46B5E-2C42-E61B-695F-AE2A62EE3601}"/>
                  </a:ext>
                </a:extLst>
              </p:cNvPr>
              <p:cNvSpPr/>
              <p:nvPr/>
            </p:nvSpPr>
            <p:spPr>
              <a:xfrm>
                <a:off x="3828000" y="3203012"/>
                <a:ext cx="1728000" cy="398272"/>
              </a:xfrm>
              <a:prstGeom prst="roundRect">
                <a:avLst>
                  <a:gd name="adj" fmla="val 30214"/>
                </a:avLst>
              </a:prstGeom>
              <a:solidFill>
                <a:srgbClr val="FEE500"/>
              </a:solidFill>
            </p:spPr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ko-KR" sz="800">
                    <a:solidFill>
                      <a:srgbClr val="111111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PUSH</a:t>
                </a:r>
                <a:r>
                  <a:rPr lang="ko-KR" altLang="en-US" sz="800">
                    <a:solidFill>
                      <a:srgbClr val="111111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인증 요청</a:t>
                </a:r>
                <a:endParaRPr lang="ko-KR" altLang="en-US" sz="800" dirty="0" err="1">
                  <a:solidFill>
                    <a:srgbClr val="11111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62" name="사각형: 둥근 모서리 61">
                <a:extLst>
                  <a:ext uri="{FF2B5EF4-FFF2-40B4-BE49-F238E27FC236}">
                    <a16:creationId xmlns:a16="http://schemas.microsoft.com/office/drawing/2014/main" id="{CCB9C9B2-2742-0D83-ADCC-F09AE52E9616}"/>
                  </a:ext>
                </a:extLst>
              </p:cNvPr>
              <p:cNvSpPr/>
              <p:nvPr/>
            </p:nvSpPr>
            <p:spPr>
              <a:xfrm>
                <a:off x="3828000" y="2767498"/>
                <a:ext cx="1728000" cy="327273"/>
              </a:xfrm>
              <a:prstGeom prst="roundRect">
                <a:avLst>
                  <a:gd name="adj" fmla="val 30214"/>
                </a:avLst>
              </a:prstGeom>
              <a:solidFill>
                <a:schemeClr val="bg1">
                  <a:lumMod val="95000"/>
                </a:schemeClr>
              </a:solidFill>
              <a:ln w="6350">
                <a:solidFill>
                  <a:schemeClr val="bg1">
                    <a:lumMod val="75000"/>
                  </a:schemeClr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r>
                  <a:rPr lang="ko-KR" altLang="en-US" sz="700" b="0">
                    <a:solidFill>
                      <a:schemeClr val="bg1">
                        <a:lumMod val="6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사번을 입력하세요</a:t>
                </a:r>
                <a:endParaRPr lang="ko-KR" altLang="en-US" sz="700" b="0" dirty="0" err="1">
                  <a:solidFill>
                    <a:schemeClr val="bg1">
                      <a:lumMod val="6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9CAC848A-7848-DABA-37F7-DC78F06C97E0}"/>
                  </a:ext>
                </a:extLst>
              </p:cNvPr>
              <p:cNvSpPr txBox="1"/>
              <p:nvPr/>
            </p:nvSpPr>
            <p:spPr bwMode="auto">
              <a:xfrm>
                <a:off x="3954671" y="4117405"/>
                <a:ext cx="1474657" cy="21544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800" u="sng">
                    <a:solidFill>
                      <a:srgbClr val="333333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다른 방식으로 본인인증 하기</a:t>
                </a:r>
                <a:endParaRPr lang="ko-KR" altLang="en-US" sz="800" u="sng"/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A01F20A8-3548-7B15-D257-930FDBC2745B}"/>
                  </a:ext>
                </a:extLst>
              </p:cNvPr>
              <p:cNvSpPr txBox="1"/>
              <p:nvPr/>
            </p:nvSpPr>
            <p:spPr bwMode="auto">
              <a:xfrm>
                <a:off x="3710615" y="3922333"/>
                <a:ext cx="1962769" cy="21544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800" b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본인 명의에 휴대폰이 없으신가요</a:t>
                </a:r>
                <a:r>
                  <a:rPr lang="en-US" altLang="ko-KR" sz="800" b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?</a:t>
                </a:r>
                <a:endParaRPr lang="ko-KR" altLang="en-US" sz="800" b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06FBE9F3-F1CA-9460-59CD-093F433F3D96}"/>
              </a:ext>
            </a:extLst>
          </p:cNvPr>
          <p:cNvGrpSpPr/>
          <p:nvPr/>
        </p:nvGrpSpPr>
        <p:grpSpPr>
          <a:xfrm>
            <a:off x="3308861" y="5373000"/>
            <a:ext cx="2808000" cy="1485001"/>
            <a:chOff x="3308861" y="5373000"/>
            <a:chExt cx="2808000" cy="1485001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16DB9F98-08B8-CA98-E175-10205F356B5C}"/>
                </a:ext>
              </a:extLst>
            </p:cNvPr>
            <p:cNvSpPr/>
            <p:nvPr/>
          </p:nvSpPr>
          <p:spPr>
            <a:xfrm>
              <a:off x="3308861" y="5373000"/>
              <a:ext cx="2808000" cy="1194745"/>
            </a:xfrm>
            <a:prstGeom prst="roundRect">
              <a:avLst>
                <a:gd name="adj" fmla="val 20592"/>
              </a:avLst>
            </a:prstGeom>
            <a:solidFill>
              <a:schemeClr val="bg1"/>
            </a:solidFill>
          </p:spPr>
          <p:txBody>
            <a:bodyPr wrap="square" rtlCol="0" anchor="ctr">
              <a:noAutofit/>
            </a:bodyPr>
            <a:lstStyle/>
            <a:p>
              <a:pPr algn="l"/>
              <a:endParaRPr kumimoji="0" lang="ko-KR" altLang="en-US" sz="9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8D8B8BAB-34F5-9390-FE22-E5D6840F8570}"/>
                </a:ext>
              </a:extLst>
            </p:cNvPr>
            <p:cNvSpPr/>
            <p:nvPr/>
          </p:nvSpPr>
          <p:spPr>
            <a:xfrm>
              <a:off x="3308861" y="5970373"/>
              <a:ext cx="2808000" cy="887628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</p:spPr>
          <p:txBody>
            <a:bodyPr wrap="square" rtlCol="0" anchor="ctr">
              <a:noAutofit/>
            </a:bodyPr>
            <a:lstStyle/>
            <a:p>
              <a:pPr algn="l"/>
              <a:endParaRPr kumimoji="0" lang="ko-KR" altLang="en-US" sz="9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9FD660A6-A1EA-F633-262C-EF578C9DF5CC}"/>
              </a:ext>
            </a:extLst>
          </p:cNvPr>
          <p:cNvSpPr txBox="1"/>
          <p:nvPr/>
        </p:nvSpPr>
        <p:spPr bwMode="auto">
          <a:xfrm>
            <a:off x="3111471" y="6060188"/>
            <a:ext cx="3161058" cy="33855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i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경영 서비스</a:t>
            </a:r>
            <a:endParaRPr lang="en-US" altLang="ko-KR" i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4F9E5C-CA5E-2AB3-FBCD-90037AE40BE4}"/>
              </a:ext>
            </a:extLst>
          </p:cNvPr>
          <p:cNvSpPr txBox="1"/>
          <p:nvPr/>
        </p:nvSpPr>
        <p:spPr bwMode="auto">
          <a:xfrm>
            <a:off x="2779560" y="6393096"/>
            <a:ext cx="3824880" cy="2308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내부 경영</a:t>
            </a:r>
            <a:r>
              <a:rPr lang="en-US" altLang="ko-KR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업무 지원 시스템 로그인</a:t>
            </a:r>
            <a:endParaRPr lang="ko-KR" altLang="en-US" sz="900"/>
          </a:p>
        </p:txBody>
      </p:sp>
      <p:graphicFrame>
        <p:nvGraphicFramePr>
          <p:cNvPr id="23" name="Group 87">
            <a:extLst>
              <a:ext uri="{FF2B5EF4-FFF2-40B4-BE49-F238E27FC236}">
                <a16:creationId xmlns:a16="http://schemas.microsoft.com/office/drawing/2014/main" id="{E6B81815-0064-01FD-09C6-8615BD04C2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44066629"/>
              </p:ext>
            </p:extLst>
          </p:nvPr>
        </p:nvGraphicFramePr>
        <p:xfrm>
          <a:off x="9491386" y="520961"/>
          <a:ext cx="2698234" cy="2196744"/>
        </p:xfrm>
        <a:graphic>
          <a:graphicData uri="http://schemas.openxmlformats.org/drawingml/2006/table">
            <a:tbl>
              <a:tblPr/>
              <a:tblGrid>
                <a:gridCol w="1743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3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5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40">
                <a:tc gridSpan="2"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No.</a:t>
                      </a:r>
                      <a:endParaRPr kumimoji="0" lang="ko-KR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ko-KR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Component</a:t>
                      </a:r>
                      <a:endParaRPr kumimoji="0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Descriptions</a:t>
                      </a:r>
                      <a:endParaRPr kumimoji="0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514"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600" dirty="0">
                        <a:latin typeface="+mn-ea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OTP</a:t>
                      </a:r>
                      <a:r>
                        <a:rPr kumimoji="0" lang="ko-KR" altLang="en-US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발급 인증 페이지 </a:t>
                      </a:r>
                      <a:endParaRPr kumimoji="0" lang="en-US" altLang="ko-KR" sz="6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1267165"/>
                  </a:ext>
                </a:extLst>
              </a:tr>
              <a:tr h="158069"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600" dirty="0">
                        <a:latin typeface="+mn-ea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다른 방식으로 본인인증하기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]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클릭 시 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[OTP PIN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하기 페이지로 이동 </a:t>
                      </a:r>
                      <a:endParaRPr kumimoji="0" lang="en-US" altLang="ko-KR" sz="6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1803684"/>
                  </a:ext>
                </a:extLst>
              </a:tr>
              <a:tr h="285223">
                <a:tc gridSpan="4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REMARK</a:t>
                      </a: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9557">
                <a:tc gridSpan="4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5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5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5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5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6896">
                <a:tc gridSpan="4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FEEDBACK</a:t>
                      </a:r>
                      <a:endParaRPr kumimoji="0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5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5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76000">
                <a:tc gridSpan="4">
                  <a:txBody>
                    <a:bodyPr/>
                    <a:lstStyle/>
                    <a:p>
                      <a:pPr marL="0" marR="0" lvl="0" indent="0" algn="l" defTabSz="852488" rtl="0" eaLnBrk="0" fontAlgn="base" latinLnBrk="1" hangingPunct="0">
                        <a:lnSpc>
                          <a:spcPct val="15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+mj-lt"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852488" rtl="0" eaLnBrk="0" fontAlgn="base" latinLnBrk="1" hangingPunct="0">
                        <a:lnSpc>
                          <a:spcPct val="15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+mj-lt"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9" name="직사각형 28">
            <a:extLst>
              <a:ext uri="{FF2B5EF4-FFF2-40B4-BE49-F238E27FC236}">
                <a16:creationId xmlns:a16="http://schemas.microsoft.com/office/drawing/2014/main" id="{E64BBD00-C130-3115-8351-F26467617070}"/>
              </a:ext>
            </a:extLst>
          </p:cNvPr>
          <p:cNvSpPr/>
          <p:nvPr/>
        </p:nvSpPr>
        <p:spPr>
          <a:xfrm>
            <a:off x="3731476" y="4088461"/>
            <a:ext cx="1962769" cy="376265"/>
          </a:xfrm>
          <a:prstGeom prst="rect">
            <a:avLst/>
          </a:prstGeom>
          <a:noFill/>
          <a:ln>
            <a:solidFill>
              <a:srgbClr val="00B050"/>
            </a:solidFill>
            <a:prstDash val="sysDot"/>
          </a:ln>
        </p:spPr>
        <p:txBody>
          <a:bodyPr wrap="square" rtlCol="0" anchor="ctr">
            <a:noAutofit/>
          </a:bodyPr>
          <a:lstStyle/>
          <a:p>
            <a:pPr algn="l"/>
            <a:endParaRPr kumimoji="0" lang="ko-KR" altLang="en-US" sz="9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모서리가 둥근 직사각형 209">
            <a:extLst>
              <a:ext uri="{FF2B5EF4-FFF2-40B4-BE49-F238E27FC236}">
                <a16:creationId xmlns:a16="http://schemas.microsoft.com/office/drawing/2014/main" id="{D71D1CC8-0EF5-F5D2-067A-91B1B55CB9E0}"/>
              </a:ext>
            </a:extLst>
          </p:cNvPr>
          <p:cNvSpPr/>
          <p:nvPr/>
        </p:nvSpPr>
        <p:spPr>
          <a:xfrm>
            <a:off x="3632981" y="4083658"/>
            <a:ext cx="321690" cy="1661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700" b="0">
                <a:latin typeface="+mn-ea"/>
              </a:rPr>
              <a:t>1-1</a:t>
            </a:r>
            <a:endParaRPr lang="ko-KR" altLang="en-US" sz="700" b="0" dirty="0">
              <a:latin typeface="+mn-ea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937B63EC-8828-42AE-097D-6870FFB94EB0}"/>
              </a:ext>
            </a:extLst>
          </p:cNvPr>
          <p:cNvSpPr/>
          <p:nvPr/>
        </p:nvSpPr>
        <p:spPr>
          <a:xfrm>
            <a:off x="3361473" y="1660457"/>
            <a:ext cx="2636750" cy="3064543"/>
          </a:xfrm>
          <a:prstGeom prst="rect">
            <a:avLst/>
          </a:prstGeom>
          <a:noFill/>
          <a:ln>
            <a:solidFill>
              <a:srgbClr val="00B050"/>
            </a:solidFill>
            <a:prstDash val="sysDot"/>
          </a:ln>
        </p:spPr>
        <p:txBody>
          <a:bodyPr wrap="square" rtlCol="0" anchor="ctr">
            <a:noAutofit/>
          </a:bodyPr>
          <a:lstStyle/>
          <a:p>
            <a:pPr algn="l"/>
            <a:endParaRPr kumimoji="0" lang="ko-KR" altLang="en-US" sz="9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모서리가 둥근 직사각형 209">
            <a:extLst>
              <a:ext uri="{FF2B5EF4-FFF2-40B4-BE49-F238E27FC236}">
                <a16:creationId xmlns:a16="http://schemas.microsoft.com/office/drawing/2014/main" id="{E527A0D8-65DF-23AD-AB22-665628F8F855}"/>
              </a:ext>
            </a:extLst>
          </p:cNvPr>
          <p:cNvSpPr/>
          <p:nvPr/>
        </p:nvSpPr>
        <p:spPr>
          <a:xfrm>
            <a:off x="3361473" y="1667862"/>
            <a:ext cx="231272" cy="1661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700" b="0">
                <a:latin typeface="+mn-ea"/>
              </a:rPr>
              <a:t>1</a:t>
            </a:r>
            <a:endParaRPr lang="ko-KR" altLang="en-US" sz="700" b="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1787702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52234D-A993-8776-96B0-A473B1FC5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직사각형 84">
            <a:extLst>
              <a:ext uri="{FF2B5EF4-FFF2-40B4-BE49-F238E27FC236}">
                <a16:creationId xmlns:a16="http://schemas.microsoft.com/office/drawing/2014/main" id="{114C0174-35EF-98B2-091E-DD615905EB6A}"/>
              </a:ext>
            </a:extLst>
          </p:cNvPr>
          <p:cNvSpPr/>
          <p:nvPr/>
        </p:nvSpPr>
        <p:spPr>
          <a:xfrm>
            <a:off x="0" y="520961"/>
            <a:ext cx="9467081" cy="6337039"/>
          </a:xfrm>
          <a:prstGeom prst="rect">
            <a:avLst/>
          </a:prstGeom>
          <a:solidFill>
            <a:srgbClr val="FEE500"/>
          </a:solidFill>
        </p:spPr>
        <p:txBody>
          <a:bodyPr wrap="square" rtlCol="0" anchor="ctr">
            <a:noAutofit/>
          </a:bodyPr>
          <a:lstStyle/>
          <a:p>
            <a:pPr algn="l"/>
            <a:endParaRPr kumimoji="0" lang="ko-KR" altLang="en-US" sz="9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4" name="텍스트 개체 틀 28">
            <a:extLst>
              <a:ext uri="{FF2B5EF4-FFF2-40B4-BE49-F238E27FC236}">
                <a16:creationId xmlns:a16="http://schemas.microsoft.com/office/drawing/2014/main" id="{1110BF7A-410A-4DF7-316D-2397FED7E42F}"/>
              </a:ext>
            </a:extLst>
          </p:cNvPr>
          <p:cNvSpPr txBox="1">
            <a:spLocks/>
          </p:cNvSpPr>
          <p:nvPr/>
        </p:nvSpPr>
        <p:spPr>
          <a:xfrm>
            <a:off x="1235500" y="252000"/>
            <a:ext cx="2160000" cy="180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en-US" altLang="ko-KR" b="0"/>
              <a:t>PUSH</a:t>
            </a:r>
            <a:r>
              <a:rPr kumimoji="0" lang="ko-KR" altLang="en-US" b="0"/>
              <a:t> 인증 </a:t>
            </a:r>
            <a:r>
              <a:rPr kumimoji="0" lang="en-US" altLang="ko-KR" b="0"/>
              <a:t>Alert (</a:t>
            </a:r>
            <a:r>
              <a:rPr kumimoji="0" lang="ko-KR" altLang="en-US" b="0"/>
              <a:t>인증 완료</a:t>
            </a:r>
            <a:r>
              <a:rPr kumimoji="0" lang="en-US" altLang="ko-KR" b="0"/>
              <a:t>)</a:t>
            </a:r>
            <a:endParaRPr kumimoji="0" lang="en-US" altLang="ko-KR" b="0" dirty="0"/>
          </a:p>
        </p:txBody>
      </p:sp>
      <p:sp>
        <p:nvSpPr>
          <p:cNvPr id="228" name="텍스트 개체 틀 28">
            <a:extLst>
              <a:ext uri="{FF2B5EF4-FFF2-40B4-BE49-F238E27FC236}">
                <a16:creationId xmlns:a16="http://schemas.microsoft.com/office/drawing/2014/main" id="{9300AB9E-EB5A-300A-CFED-AB6029F7BA4E}"/>
              </a:ext>
            </a:extLst>
          </p:cNvPr>
          <p:cNvSpPr txBox="1">
            <a:spLocks/>
          </p:cNvSpPr>
          <p:nvPr/>
        </p:nvSpPr>
        <p:spPr>
          <a:xfrm>
            <a:off x="4782470" y="259138"/>
            <a:ext cx="1080000" cy="180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b="0" dirty="0">
              <a:solidFill>
                <a:srgbClr val="000000"/>
              </a:solidFill>
            </a:endParaRPr>
          </a:p>
        </p:txBody>
      </p:sp>
      <p:sp>
        <p:nvSpPr>
          <p:cNvPr id="235" name="텍스트 개체 틀 28">
            <a:extLst>
              <a:ext uri="{FF2B5EF4-FFF2-40B4-BE49-F238E27FC236}">
                <a16:creationId xmlns:a16="http://schemas.microsoft.com/office/drawing/2014/main" id="{5C903D7A-FB28-0D58-B744-A8145B45BE30}"/>
              </a:ext>
            </a:extLst>
          </p:cNvPr>
          <p:cNvSpPr txBox="1">
            <a:spLocks/>
          </p:cNvSpPr>
          <p:nvPr/>
        </p:nvSpPr>
        <p:spPr>
          <a:xfrm>
            <a:off x="7088981" y="252000"/>
            <a:ext cx="2340000" cy="180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b="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1323E29-F76A-1C89-7BC8-FA290E1C6797}"/>
              </a:ext>
            </a:extLst>
          </p:cNvPr>
          <p:cNvSpPr/>
          <p:nvPr/>
        </p:nvSpPr>
        <p:spPr bwMode="auto">
          <a:xfrm>
            <a:off x="4712861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1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4FEC86E-7200-5F25-F98F-D7D83A10C90F}"/>
              </a:ext>
            </a:extLst>
          </p:cNvPr>
          <p:cNvSpPr/>
          <p:nvPr/>
        </p:nvSpPr>
        <p:spPr bwMode="auto">
          <a:xfrm>
            <a:off x="5927042" y="0"/>
            <a:ext cx="294701" cy="21938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2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A929E8E-3AAF-0557-DEDA-268AF8BC6AF1}"/>
              </a:ext>
            </a:extLst>
          </p:cNvPr>
          <p:cNvSpPr/>
          <p:nvPr/>
        </p:nvSpPr>
        <p:spPr bwMode="auto">
          <a:xfrm>
            <a:off x="7059464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3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0459C93-F806-824B-97BD-751C72C3206C}"/>
              </a:ext>
            </a:extLst>
          </p:cNvPr>
          <p:cNvSpPr/>
          <p:nvPr/>
        </p:nvSpPr>
        <p:spPr bwMode="auto">
          <a:xfrm>
            <a:off x="8264807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4</a:t>
            </a:r>
            <a:r>
              <a:rPr kumimoji="1" lang="en-US" altLang="ko-KR" sz="6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</a:t>
            </a: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6F212B0-7450-3050-ED61-2ECF8AB43AB8}"/>
              </a:ext>
            </a:extLst>
          </p:cNvPr>
          <p:cNvSpPr/>
          <p:nvPr/>
        </p:nvSpPr>
        <p:spPr bwMode="auto">
          <a:xfrm>
            <a:off x="9467081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5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1B6EEDA-6CFA-58AB-D21D-66D5137A1BBC}"/>
              </a:ext>
            </a:extLst>
          </p:cNvPr>
          <p:cNvSpPr/>
          <p:nvPr/>
        </p:nvSpPr>
        <p:spPr bwMode="auto">
          <a:xfrm>
            <a:off x="10574936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6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69" name="텍스트 개체 틀 28">
            <a:extLst>
              <a:ext uri="{FF2B5EF4-FFF2-40B4-BE49-F238E27FC236}">
                <a16:creationId xmlns:a16="http://schemas.microsoft.com/office/drawing/2014/main" id="{720238E3-7E82-8558-4F36-80AF53259464}"/>
              </a:ext>
            </a:extLst>
          </p:cNvPr>
          <p:cNvSpPr txBox="1">
            <a:spLocks/>
          </p:cNvSpPr>
          <p:nvPr/>
        </p:nvSpPr>
        <p:spPr>
          <a:xfrm>
            <a:off x="10612354" y="252000"/>
            <a:ext cx="1080000" cy="16977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0"/>
              <a:t>2025-12-12</a:t>
            </a:r>
            <a:endParaRPr lang="ko-KR" altLang="en-US" b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59A21D-6F33-7C9B-7BA4-19FE50EE68F9}"/>
              </a:ext>
            </a:extLst>
          </p:cNvPr>
          <p:cNvSpPr txBox="1"/>
          <p:nvPr/>
        </p:nvSpPr>
        <p:spPr bwMode="auto">
          <a:xfrm>
            <a:off x="3111471" y="878353"/>
            <a:ext cx="3161058" cy="33855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b="1" i="0">
                <a:solidFill>
                  <a:srgbClr val="11111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카카오뱅크 </a:t>
            </a:r>
            <a:r>
              <a:rPr lang="en-US" altLang="ko-KR" b="1" i="0">
                <a:solidFill>
                  <a:srgbClr val="11111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OTP POC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0C596C-B05C-8801-B25C-FCC2F49917B8}"/>
              </a:ext>
            </a:extLst>
          </p:cNvPr>
          <p:cNvSpPr txBox="1"/>
          <p:nvPr/>
        </p:nvSpPr>
        <p:spPr bwMode="auto">
          <a:xfrm>
            <a:off x="2779560" y="1216907"/>
            <a:ext cx="3824880" cy="21544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8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PC</a:t>
            </a:r>
            <a:r>
              <a:rPr lang="en-US" altLang="ko-KR" sz="8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/ Mobile Web</a:t>
            </a:r>
            <a:r>
              <a:rPr lang="ko-KR" altLang="en-US" sz="8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에</a:t>
            </a:r>
            <a:r>
              <a:rPr lang="ko-KR" altLang="en-US" sz="8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서 </a:t>
            </a:r>
            <a:r>
              <a:rPr lang="en-US" altLang="ko-KR" sz="8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OTP </a:t>
            </a:r>
            <a:r>
              <a:rPr lang="ko-KR" altLang="en-US" sz="8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인증을 요청하는 상황을 가정합니다</a:t>
            </a:r>
            <a:r>
              <a:rPr lang="en-US" altLang="ko-KR" sz="8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800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4CE746FF-C7DF-EE8B-8550-CBCFF5698C03}"/>
              </a:ext>
            </a:extLst>
          </p:cNvPr>
          <p:cNvGrpSpPr/>
          <p:nvPr/>
        </p:nvGrpSpPr>
        <p:grpSpPr>
          <a:xfrm>
            <a:off x="2779560" y="1604255"/>
            <a:ext cx="3824880" cy="3192745"/>
            <a:chOff x="2779560" y="1604255"/>
            <a:chExt cx="3824880" cy="3192745"/>
          </a:xfrm>
        </p:grpSpPr>
        <p:sp>
          <p:nvSpPr>
            <p:cNvPr id="16" name="사각형: 둥근 모서리 15">
              <a:extLst>
                <a:ext uri="{FF2B5EF4-FFF2-40B4-BE49-F238E27FC236}">
                  <a16:creationId xmlns:a16="http://schemas.microsoft.com/office/drawing/2014/main" id="{AAD16A86-8F17-B72F-58FE-D339925F8727}"/>
                </a:ext>
              </a:extLst>
            </p:cNvPr>
            <p:cNvSpPr/>
            <p:nvPr/>
          </p:nvSpPr>
          <p:spPr>
            <a:xfrm>
              <a:off x="3308861" y="1604255"/>
              <a:ext cx="2808000" cy="3192745"/>
            </a:xfrm>
            <a:prstGeom prst="roundRect">
              <a:avLst>
                <a:gd name="adj" fmla="val 8346"/>
              </a:avLst>
            </a:prstGeom>
            <a:solidFill>
              <a:schemeClr val="bg1"/>
            </a:solidFill>
          </p:spPr>
          <p:txBody>
            <a:bodyPr wrap="square" rtlCol="0" anchor="ctr">
              <a:noAutofit/>
            </a:bodyPr>
            <a:lstStyle/>
            <a:p>
              <a:pPr algn="l"/>
              <a:endParaRPr kumimoji="0" lang="ko-KR" altLang="en-US" sz="9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1C986213-9C39-6DB7-0ACE-42E84FDB4F89}"/>
                </a:ext>
              </a:extLst>
            </p:cNvPr>
            <p:cNvGrpSpPr/>
            <p:nvPr/>
          </p:nvGrpSpPr>
          <p:grpSpPr>
            <a:xfrm>
              <a:off x="2779560" y="1845058"/>
              <a:ext cx="3824880" cy="2487791"/>
              <a:chOff x="2779560" y="1845058"/>
              <a:chExt cx="3824880" cy="2487791"/>
            </a:xfrm>
          </p:grpSpPr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BCE98CE-1B4B-4D4C-E8DF-4119541DC395}"/>
                  </a:ext>
                </a:extLst>
              </p:cNvPr>
              <p:cNvSpPr txBox="1"/>
              <p:nvPr/>
            </p:nvSpPr>
            <p:spPr bwMode="auto">
              <a:xfrm>
                <a:off x="3111471" y="1845058"/>
                <a:ext cx="3161058" cy="33855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/>
              <a:p>
                <a:pPr algn="ctr">
                  <a:buNone/>
                </a:pPr>
                <a:r>
                  <a:rPr lang="ko-KR" altLang="en-US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금융 서비스</a:t>
                </a:r>
                <a:endParaRPr lang="en-US" altLang="ko-KR" i="0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FFAD4F2A-8E3D-9C1D-D42E-C7927668D4FB}"/>
                  </a:ext>
                </a:extLst>
              </p:cNvPr>
              <p:cNvSpPr txBox="1"/>
              <p:nvPr/>
            </p:nvSpPr>
            <p:spPr bwMode="auto">
              <a:xfrm>
                <a:off x="2779560" y="2257214"/>
                <a:ext cx="3824880" cy="230832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900" b="0" i="0">
                    <a:solidFill>
                      <a:srgbClr val="333333"/>
                    </a:solidFill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은행</a:t>
                </a:r>
                <a:r>
                  <a:rPr lang="en-US" altLang="ko-KR" sz="900" b="0" i="0">
                    <a:solidFill>
                      <a:srgbClr val="333333"/>
                    </a:solidFill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, </a:t>
                </a:r>
                <a:r>
                  <a:rPr lang="ko-KR" altLang="en-US" sz="900" b="0" i="0">
                    <a:solidFill>
                      <a:srgbClr val="333333"/>
                    </a:solidFill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증권 등 금융 </a:t>
                </a:r>
                <a:r>
                  <a:rPr lang="ko-KR" altLang="en-US" sz="900" b="0">
                    <a:solidFill>
                      <a:srgbClr val="333333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시스템</a:t>
                </a:r>
                <a:r>
                  <a:rPr lang="ko-KR" altLang="en-US" sz="900" b="0" i="0">
                    <a:solidFill>
                      <a:srgbClr val="333333"/>
                    </a:solidFill>
                    <a:effectLst/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로그인</a:t>
                </a:r>
                <a:endParaRPr lang="ko-KR" altLang="en-US" sz="900"/>
              </a:p>
            </p:txBody>
          </p:sp>
          <p:sp>
            <p:nvSpPr>
              <p:cNvPr id="19" name="사각형: 둥근 모서리 18">
                <a:extLst>
                  <a:ext uri="{FF2B5EF4-FFF2-40B4-BE49-F238E27FC236}">
                    <a16:creationId xmlns:a16="http://schemas.microsoft.com/office/drawing/2014/main" id="{C22EFFBC-4E57-4B95-F858-E17C7D8D84D9}"/>
                  </a:ext>
                </a:extLst>
              </p:cNvPr>
              <p:cNvSpPr/>
              <p:nvPr/>
            </p:nvSpPr>
            <p:spPr>
              <a:xfrm>
                <a:off x="3828000" y="3203012"/>
                <a:ext cx="1728000" cy="398272"/>
              </a:xfrm>
              <a:prstGeom prst="roundRect">
                <a:avLst>
                  <a:gd name="adj" fmla="val 30214"/>
                </a:avLst>
              </a:prstGeom>
              <a:solidFill>
                <a:srgbClr val="FEE500"/>
              </a:solidFill>
            </p:spPr>
            <p:txBody>
              <a:bodyPr wrap="square" rtlCol="0" anchor="ctr">
                <a:noAutofit/>
              </a:bodyPr>
              <a:lstStyle/>
              <a:p>
                <a:pPr algn="ctr"/>
                <a:r>
                  <a:rPr lang="en-US" altLang="ko-KR" sz="800">
                    <a:solidFill>
                      <a:srgbClr val="111111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PUSH</a:t>
                </a:r>
                <a:r>
                  <a:rPr lang="ko-KR" altLang="en-US" sz="800">
                    <a:solidFill>
                      <a:srgbClr val="111111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 인증 요청</a:t>
                </a:r>
                <a:endParaRPr lang="ko-KR" altLang="en-US" sz="800" dirty="0" err="1">
                  <a:solidFill>
                    <a:srgbClr val="11111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62" name="사각형: 둥근 모서리 61">
                <a:extLst>
                  <a:ext uri="{FF2B5EF4-FFF2-40B4-BE49-F238E27FC236}">
                    <a16:creationId xmlns:a16="http://schemas.microsoft.com/office/drawing/2014/main" id="{253A36F5-C622-0E6E-DC74-D36A7BBB998D}"/>
                  </a:ext>
                </a:extLst>
              </p:cNvPr>
              <p:cNvSpPr/>
              <p:nvPr/>
            </p:nvSpPr>
            <p:spPr>
              <a:xfrm>
                <a:off x="3828000" y="2767498"/>
                <a:ext cx="1728000" cy="327273"/>
              </a:xfrm>
              <a:prstGeom prst="roundRect">
                <a:avLst>
                  <a:gd name="adj" fmla="val 30214"/>
                </a:avLst>
              </a:prstGeom>
              <a:solidFill>
                <a:schemeClr val="bg1"/>
              </a:solidFill>
              <a:ln w="6350">
                <a:solidFill>
                  <a:schemeClr val="bg1">
                    <a:lumMod val="75000"/>
                  </a:schemeClr>
                </a:solidFill>
              </a:ln>
            </p:spPr>
            <p:txBody>
              <a:bodyPr wrap="square" rtlCol="0" anchor="ctr">
                <a:noAutofit/>
              </a:bodyPr>
              <a:lstStyle/>
              <a:p>
                <a:r>
                  <a:rPr lang="en-US" altLang="ko-KR" sz="700" b="0">
                    <a:solidFill>
                      <a:schemeClr val="tx1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123456</a:t>
                </a:r>
                <a:endParaRPr lang="ko-KR" altLang="en-US" sz="700" b="0" dirty="0" err="1">
                  <a:solidFill>
                    <a:schemeClr val="tx1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5C9D39ED-3D63-0A10-F2BF-0CBFE80E38DC}"/>
                  </a:ext>
                </a:extLst>
              </p:cNvPr>
              <p:cNvSpPr txBox="1"/>
              <p:nvPr/>
            </p:nvSpPr>
            <p:spPr bwMode="auto">
              <a:xfrm>
                <a:off x="3954671" y="4117405"/>
                <a:ext cx="1474657" cy="21544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800" u="sng">
                    <a:solidFill>
                      <a:srgbClr val="333333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다른 방식으로 본인인증 하기</a:t>
                </a:r>
                <a:endParaRPr lang="ko-KR" altLang="en-US" sz="800" u="sng"/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43C879E8-38C2-B77F-0A8D-596BF3C100A1}"/>
                  </a:ext>
                </a:extLst>
              </p:cNvPr>
              <p:cNvSpPr txBox="1"/>
              <p:nvPr/>
            </p:nvSpPr>
            <p:spPr bwMode="auto">
              <a:xfrm>
                <a:off x="3710615" y="3922333"/>
                <a:ext cx="1962769" cy="215444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800" b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본인 명의에 휴대폰이 없으신가요</a:t>
                </a:r>
                <a:r>
                  <a:rPr lang="en-US" altLang="ko-KR" sz="800" b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?</a:t>
                </a:r>
                <a:endParaRPr lang="ko-KR" altLang="en-US" sz="800" b="0">
                  <a:solidFill>
                    <a:schemeClr val="tx1">
                      <a:lumMod val="65000"/>
                      <a:lumOff val="3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</p:grp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6EAA52A0-3154-9FA2-9E26-D179409CEE5C}"/>
              </a:ext>
            </a:extLst>
          </p:cNvPr>
          <p:cNvGrpSpPr/>
          <p:nvPr/>
        </p:nvGrpSpPr>
        <p:grpSpPr>
          <a:xfrm>
            <a:off x="3308861" y="5373000"/>
            <a:ext cx="2808000" cy="1485001"/>
            <a:chOff x="3308861" y="5373000"/>
            <a:chExt cx="2808000" cy="1485001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8FF8E61A-B533-23F0-2C28-43F865BDE7A4}"/>
                </a:ext>
              </a:extLst>
            </p:cNvPr>
            <p:cNvSpPr/>
            <p:nvPr/>
          </p:nvSpPr>
          <p:spPr>
            <a:xfrm>
              <a:off x="3308861" y="5373000"/>
              <a:ext cx="2808000" cy="1194745"/>
            </a:xfrm>
            <a:prstGeom prst="roundRect">
              <a:avLst>
                <a:gd name="adj" fmla="val 20592"/>
              </a:avLst>
            </a:prstGeom>
            <a:solidFill>
              <a:schemeClr val="bg1"/>
            </a:solidFill>
          </p:spPr>
          <p:txBody>
            <a:bodyPr wrap="square" rtlCol="0" anchor="ctr">
              <a:noAutofit/>
            </a:bodyPr>
            <a:lstStyle/>
            <a:p>
              <a:pPr algn="l"/>
              <a:endParaRPr kumimoji="0" lang="ko-KR" altLang="en-US" sz="9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FBCC4EF0-7DED-1FAC-A98D-00113FC22B75}"/>
                </a:ext>
              </a:extLst>
            </p:cNvPr>
            <p:cNvSpPr/>
            <p:nvPr/>
          </p:nvSpPr>
          <p:spPr>
            <a:xfrm>
              <a:off x="3308861" y="5970373"/>
              <a:ext cx="2808000" cy="887628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</p:spPr>
          <p:txBody>
            <a:bodyPr wrap="square" rtlCol="0" anchor="ctr">
              <a:noAutofit/>
            </a:bodyPr>
            <a:lstStyle/>
            <a:p>
              <a:pPr algn="l"/>
              <a:endParaRPr kumimoji="0" lang="ko-KR" altLang="en-US" sz="9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550CE8C6-B944-F116-3F22-28DC792CB7F5}"/>
              </a:ext>
            </a:extLst>
          </p:cNvPr>
          <p:cNvSpPr txBox="1"/>
          <p:nvPr/>
        </p:nvSpPr>
        <p:spPr bwMode="auto">
          <a:xfrm>
            <a:off x="3111471" y="6060188"/>
            <a:ext cx="3161058" cy="33855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i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경영 서비스</a:t>
            </a:r>
            <a:endParaRPr lang="en-US" altLang="ko-KR" i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E8DD35-7670-A09E-FAB6-06614C8B00CE}"/>
              </a:ext>
            </a:extLst>
          </p:cNvPr>
          <p:cNvSpPr txBox="1"/>
          <p:nvPr/>
        </p:nvSpPr>
        <p:spPr bwMode="auto">
          <a:xfrm>
            <a:off x="2779560" y="6393096"/>
            <a:ext cx="3824880" cy="2308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내부 경영</a:t>
            </a:r>
            <a:r>
              <a:rPr lang="en-US" altLang="ko-KR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업무 지원 시스템 로그인</a:t>
            </a:r>
            <a:endParaRPr lang="ko-KR" altLang="en-US" sz="900"/>
          </a:p>
        </p:txBody>
      </p:sp>
      <p:graphicFrame>
        <p:nvGraphicFramePr>
          <p:cNvPr id="84" name="Group 87">
            <a:extLst>
              <a:ext uri="{FF2B5EF4-FFF2-40B4-BE49-F238E27FC236}">
                <a16:creationId xmlns:a16="http://schemas.microsoft.com/office/drawing/2014/main" id="{C7668DD3-CD06-62E1-1802-0EB7A9FA7B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7618311"/>
              </p:ext>
            </p:extLst>
          </p:nvPr>
        </p:nvGraphicFramePr>
        <p:xfrm>
          <a:off x="9491386" y="520961"/>
          <a:ext cx="2720585" cy="5640567"/>
        </p:xfrm>
        <a:graphic>
          <a:graphicData uri="http://schemas.openxmlformats.org/drawingml/2006/table">
            <a:tbl>
              <a:tblPr/>
              <a:tblGrid>
                <a:gridCol w="1326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5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40">
                <a:tc gridSpan="2"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No.</a:t>
                      </a:r>
                      <a:endParaRPr kumimoji="0" lang="ko-KR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ko-KR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Component</a:t>
                      </a:r>
                      <a:endParaRPr kumimoji="0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Descriptions</a:t>
                      </a:r>
                      <a:endParaRPr kumimoji="0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514">
                <a:tc gridSpan="4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Alert Message</a:t>
                      </a:r>
                      <a:endParaRPr kumimoji="0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1267165"/>
                  </a:ext>
                </a:extLst>
              </a:tr>
              <a:tr h="252000">
                <a:tc gridSpan="2"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/>
                </a:tc>
                <a:tc gridSpan="2"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ko-KR" altLang="en-US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인증 요청 메시지 발송 </a:t>
                      </a: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Alert</a:t>
                      </a:r>
                      <a:endParaRPr kumimoji="0" lang="en-US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2429327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메시지 요청</a:t>
                      </a:r>
                      <a:endParaRPr kumimoji="0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사원번호 입력 후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[PUSH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 요청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버튼 클릭 시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OTP APP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으로 인증 요청 메시지가 발송되며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정상적으로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APP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에 메시지가 발송되기 전까지 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[Alert] </a:t>
                      </a:r>
                      <a:r>
                        <a:rPr kumimoji="0" lang="ko-KR" altLang="en-US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앱으로 인증 요청 메시지를</a:t>
                      </a:r>
                      <a:endParaRPr kumimoji="0" lang="en-US" altLang="ko-KR" sz="600" b="0" i="0" u="sng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0" lang="ko-KR" altLang="en-US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보내고 있습니다</a:t>
                      </a:r>
                      <a:r>
                        <a:rPr kumimoji="0" lang="en-US" altLang="ko-KR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생성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[X ]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버튼 클릭 시 인증 요청 메시지가 발송 취소되고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Alert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닫힘 → 로그인페이지 초기화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 요청 발송 완료 시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2-1 Alert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생성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 요청 발송 실패 시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2-2 Alert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생성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5714066"/>
                  </a:ext>
                </a:extLst>
              </a:tr>
              <a:tr h="290891">
                <a:tc gridSpan="2"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171450" marR="0" lvl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ko-KR" altLang="en-US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인증 요청 발송 여부 </a:t>
                      </a: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Alert</a:t>
                      </a:r>
                      <a:endParaRPr kumimoji="0" lang="en-US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4454686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발송 완료 </a:t>
                      </a:r>
                      <a:endParaRPr kumimoji="0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 요청 발송 후 발송이 정상적으로 완료 시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[Alert] </a:t>
                      </a:r>
                      <a:r>
                        <a:rPr kumimoji="0" lang="ko-KR" altLang="en-US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 요청 발송 완료 </a:t>
                      </a:r>
                      <a:r>
                        <a:rPr kumimoji="0" lang="en-US" altLang="ko-KR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| </a:t>
                      </a:r>
                      <a:r>
                        <a:rPr kumimoji="0" lang="ko-KR" altLang="en-US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휴대폰</a:t>
                      </a:r>
                      <a:endParaRPr kumimoji="0" lang="en-US" altLang="ko-KR" sz="600" b="0" i="0" u="sng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0" lang="ko-KR" altLang="en-US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앱에서 인증을 진행해주세요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. [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확인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앱에서 인증이 완료되기전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확인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]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클릭 시 닫힘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앱에서 인증을 완료 후 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 [2 – 1 -1]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정상적으로 인증 했을 경우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0" lang="en-US" altLang="ko-KR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[Toast Message] </a:t>
                      </a:r>
                      <a:r>
                        <a:rPr kumimoji="0" lang="ko-KR" altLang="en-US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인증이 완료되었습니다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. 2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초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후 자동 닫힘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→ 메인페이지 진입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[2 – 1 – 2]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 실패 했을 경우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[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확인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버튼 클릭 시 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0" lang="en-US" altLang="ko-KR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[Toast Message] </a:t>
                      </a:r>
                      <a:r>
                        <a:rPr kumimoji="0" lang="ko-KR" altLang="en-US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인증에 실패했습니다</a:t>
                      </a:r>
                      <a:r>
                        <a:rPr kumimoji="0" lang="en-US" altLang="ko-KR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. </a:t>
                      </a: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0" lang="ko-KR" altLang="en-US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다시 시도해주세요 </a:t>
                      </a:r>
                      <a:r>
                        <a:rPr kumimoji="0" lang="en-US" altLang="ko-KR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ko-KR" altLang="en-US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초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후 자동 닫힘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→ 로그인 페이지 초기화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506285"/>
                  </a:ext>
                </a:extLst>
              </a:tr>
              <a:tr h="252000"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발송 실패</a:t>
                      </a:r>
                      <a:endParaRPr kumimoji="0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 요청 발송 후 인증 요청 실패 시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 [Alert] </a:t>
                      </a:r>
                      <a:r>
                        <a:rPr kumimoji="0" lang="ko-KR" altLang="en-US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 요청 발송 실패 </a:t>
                      </a:r>
                      <a:r>
                        <a:rPr kumimoji="0" lang="en-US" altLang="ko-KR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| PUSH</a:t>
                      </a: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 </a:t>
                      </a:r>
                      <a:r>
                        <a:rPr kumimoji="0" lang="ko-KR" altLang="en-US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인증을 다시 시도해</a:t>
                      </a:r>
                      <a:r>
                        <a:rPr kumimoji="0" lang="en-US" altLang="ko-KR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주세요</a:t>
                      </a:r>
                      <a:r>
                        <a:rPr kumimoji="0" lang="en-US" altLang="ko-KR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. [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확인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]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 [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확인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버튼 클릭 시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Alert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닫힘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→ 초기 페이지로 이동 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2770104"/>
                  </a:ext>
                </a:extLst>
              </a:tr>
              <a:tr h="285223">
                <a:tc gridSpan="4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REMARK</a:t>
                      </a: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9557">
                <a:tc gridSpan="4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5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공통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데모 구현 시 메인페이지 진입의 경우 에도 초기 페이지도 진입 하는 것으로 설정함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5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5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6896">
                <a:tc gridSpan="4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FEEDBACK</a:t>
                      </a:r>
                      <a:endParaRPr kumimoji="0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5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5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76000">
                <a:tc gridSpan="4">
                  <a:txBody>
                    <a:bodyPr/>
                    <a:lstStyle/>
                    <a:p>
                      <a:pPr marL="0" marR="0" lvl="0" indent="0" algn="l" defTabSz="852488" rtl="0" eaLnBrk="0" fontAlgn="base" latinLnBrk="1" hangingPunct="0">
                        <a:lnSpc>
                          <a:spcPct val="15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+mj-lt"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852488" rtl="0" eaLnBrk="0" fontAlgn="base" latinLnBrk="1" hangingPunct="0">
                        <a:lnSpc>
                          <a:spcPct val="15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+mj-lt"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6" name="사각형: 둥근 모서리 85">
            <a:extLst>
              <a:ext uri="{FF2B5EF4-FFF2-40B4-BE49-F238E27FC236}">
                <a16:creationId xmlns:a16="http://schemas.microsoft.com/office/drawing/2014/main" id="{709DCD74-FFCA-F259-ACE8-5B67AA9101AF}"/>
              </a:ext>
            </a:extLst>
          </p:cNvPr>
          <p:cNvSpPr/>
          <p:nvPr/>
        </p:nvSpPr>
        <p:spPr>
          <a:xfrm>
            <a:off x="1" y="517090"/>
            <a:ext cx="9467080" cy="6337039"/>
          </a:xfrm>
          <a:prstGeom prst="roundRect">
            <a:avLst>
              <a:gd name="adj" fmla="val 0"/>
            </a:avLst>
          </a:prstGeom>
          <a:solidFill>
            <a:srgbClr val="7F7F7F">
              <a:alpha val="56863"/>
            </a:srgbClr>
          </a:solidFill>
        </p:spPr>
        <p:txBody>
          <a:bodyPr wrap="square" rtlCol="0" anchor="ctr">
            <a:noAutofit/>
          </a:bodyPr>
          <a:lstStyle/>
          <a:p>
            <a:endParaRPr kumimoji="0" lang="ko-KR" altLang="en-US" sz="9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066FF65B-71DA-16CE-917A-9B1D520DCB89}"/>
              </a:ext>
            </a:extLst>
          </p:cNvPr>
          <p:cNvGrpSpPr/>
          <p:nvPr/>
        </p:nvGrpSpPr>
        <p:grpSpPr>
          <a:xfrm>
            <a:off x="164690" y="3237931"/>
            <a:ext cx="2808000" cy="1636364"/>
            <a:chOff x="3301725" y="884604"/>
            <a:chExt cx="2808000" cy="1636364"/>
          </a:xfrm>
        </p:grpSpPr>
        <p:sp>
          <p:nvSpPr>
            <p:cNvPr id="23" name="사각형: 둥근 모서리 22">
              <a:extLst>
                <a:ext uri="{FF2B5EF4-FFF2-40B4-BE49-F238E27FC236}">
                  <a16:creationId xmlns:a16="http://schemas.microsoft.com/office/drawing/2014/main" id="{A55ADA64-42CB-D5D3-1374-78573B5F02E4}"/>
                </a:ext>
              </a:extLst>
            </p:cNvPr>
            <p:cNvSpPr/>
            <p:nvPr/>
          </p:nvSpPr>
          <p:spPr>
            <a:xfrm>
              <a:off x="3301725" y="884604"/>
              <a:ext cx="2808000" cy="1636364"/>
            </a:xfrm>
            <a:prstGeom prst="roundRect">
              <a:avLst>
                <a:gd name="adj" fmla="val 6660"/>
              </a:avLst>
            </a:prstGeom>
            <a:solidFill>
              <a:schemeClr val="bg1"/>
            </a:solidFill>
          </p:spPr>
          <p:txBody>
            <a:bodyPr wrap="square" rtlCol="0" anchor="ctr">
              <a:noAutofit/>
            </a:bodyPr>
            <a:lstStyle/>
            <a:p>
              <a:pPr algn="l"/>
              <a:endParaRPr kumimoji="0" lang="ko-KR" altLang="en-US" sz="9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1D75784-B7D8-DC72-1ABD-B7033E166068}"/>
                </a:ext>
              </a:extLst>
            </p:cNvPr>
            <p:cNvSpPr txBox="1"/>
            <p:nvPr/>
          </p:nvSpPr>
          <p:spPr bwMode="auto">
            <a:xfrm>
              <a:off x="3424807" y="1032359"/>
              <a:ext cx="2224007" cy="237827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altLang="ko-KR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Push </a:t>
              </a:r>
              <a:r>
                <a:rPr lang="ko-KR" altLang="en-US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인증 요청</a:t>
              </a:r>
              <a:endParaRPr lang="en-US" altLang="ko-KR" sz="110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BCE53BA-7717-3A59-C190-49B00128F0D3}"/>
                </a:ext>
              </a:extLst>
            </p:cNvPr>
            <p:cNvSpPr txBox="1"/>
            <p:nvPr/>
          </p:nvSpPr>
          <p:spPr bwMode="auto">
            <a:xfrm>
              <a:off x="3387014" y="2015048"/>
              <a:ext cx="2612445" cy="24622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 b="0">
                  <a:solidFill>
                    <a:srgbClr val="33333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앱으로 인증 요청 메세지를 보내고 있습니다</a:t>
              </a:r>
              <a:r>
                <a:rPr lang="en-US" altLang="ko-KR" sz="1000" b="0">
                  <a:solidFill>
                    <a:srgbClr val="33333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.</a:t>
              </a:r>
              <a:endParaRPr lang="ko-KR" altLang="en-US" sz="1000"/>
            </a:p>
          </p:txBody>
        </p:sp>
        <p:pic>
          <p:nvPicPr>
            <p:cNvPr id="26" name="그림 25" descr="디자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642E5A7C-F7A4-A56F-9DE4-86817CF931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24583" r="-1"/>
            <a:stretch>
              <a:fillRect/>
            </a:stretch>
          </p:blipFill>
          <p:spPr>
            <a:xfrm>
              <a:off x="4466427" y="1448938"/>
              <a:ext cx="440441" cy="405992"/>
            </a:xfrm>
            <a:prstGeom prst="rect">
              <a:avLst/>
            </a:prstGeom>
          </p:spPr>
        </p:pic>
        <p:grpSp>
          <p:nvGrpSpPr>
            <p:cNvPr id="28" name="그룹 27">
              <a:extLst>
                <a:ext uri="{FF2B5EF4-FFF2-40B4-BE49-F238E27FC236}">
                  <a16:creationId xmlns:a16="http://schemas.microsoft.com/office/drawing/2014/main" id="{ADFFB7F7-68AF-D3A9-80F9-8B32F14767F9}"/>
                </a:ext>
              </a:extLst>
            </p:cNvPr>
            <p:cNvGrpSpPr/>
            <p:nvPr/>
          </p:nvGrpSpPr>
          <p:grpSpPr>
            <a:xfrm>
              <a:off x="5772759" y="1059667"/>
              <a:ext cx="100766" cy="91605"/>
              <a:chOff x="3912160" y="-747000"/>
              <a:chExt cx="216000" cy="216000"/>
            </a:xfrm>
          </p:grpSpPr>
          <p:cxnSp>
            <p:nvCxnSpPr>
              <p:cNvPr id="29" name="직선 연결선 28">
                <a:extLst>
                  <a:ext uri="{FF2B5EF4-FFF2-40B4-BE49-F238E27FC236}">
                    <a16:creationId xmlns:a16="http://schemas.microsoft.com/office/drawing/2014/main" id="{A71E0A6F-E155-5CA8-4A4C-8DF6C64FFEC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12160" y="-747000"/>
                <a:ext cx="216000" cy="21600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직선 연결선 29">
                <a:extLst>
                  <a:ext uri="{FF2B5EF4-FFF2-40B4-BE49-F238E27FC236}">
                    <a16:creationId xmlns:a16="http://schemas.microsoft.com/office/drawing/2014/main" id="{A7B1B520-252E-7145-F578-E6B31470D61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912160" y="-747000"/>
                <a:ext cx="216000" cy="21600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F6969FDA-4FA1-8BB8-44FE-91745C2EBBFA}"/>
              </a:ext>
            </a:extLst>
          </p:cNvPr>
          <p:cNvSpPr/>
          <p:nvPr/>
        </p:nvSpPr>
        <p:spPr>
          <a:xfrm>
            <a:off x="3253126" y="4811418"/>
            <a:ext cx="2808000" cy="1636364"/>
          </a:xfrm>
          <a:prstGeom prst="roundRect">
            <a:avLst>
              <a:gd name="adj" fmla="val 6660"/>
            </a:avLst>
          </a:prstGeom>
          <a:solidFill>
            <a:schemeClr val="bg1"/>
          </a:solidFill>
        </p:spPr>
        <p:txBody>
          <a:bodyPr wrap="square" rtlCol="0" anchor="ctr">
            <a:noAutofit/>
          </a:bodyPr>
          <a:lstStyle/>
          <a:p>
            <a:pPr algn="l"/>
            <a:endParaRPr kumimoji="0" lang="ko-KR" altLang="en-US" sz="9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1249AC39-F199-0DCD-0CCB-C79B0605C131}"/>
              </a:ext>
            </a:extLst>
          </p:cNvPr>
          <p:cNvSpPr txBox="1"/>
          <p:nvPr/>
        </p:nvSpPr>
        <p:spPr bwMode="auto">
          <a:xfrm>
            <a:off x="3376208" y="4959172"/>
            <a:ext cx="2347952" cy="23782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sz="110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Push </a:t>
            </a:r>
            <a:r>
              <a:rPr lang="ko-KR" altLang="en-US" sz="110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인증 요청</a:t>
            </a:r>
            <a:endParaRPr lang="en-US" altLang="ko-KR" sz="1100">
              <a:solidFill>
                <a:schemeClr val="tx1">
                  <a:lumMod val="75000"/>
                  <a:lumOff val="2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C61C2DE-1A11-65BF-0689-B586EFF0EC30}"/>
              </a:ext>
            </a:extLst>
          </p:cNvPr>
          <p:cNvSpPr txBox="1"/>
          <p:nvPr/>
        </p:nvSpPr>
        <p:spPr bwMode="auto">
          <a:xfrm>
            <a:off x="3565115" y="5775255"/>
            <a:ext cx="2159045" cy="24622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10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PUSH </a:t>
            </a:r>
            <a:r>
              <a:rPr lang="ko-KR" altLang="en-US" sz="10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인증을 다시 시도해주세요</a:t>
            </a:r>
            <a:r>
              <a:rPr lang="en-US" altLang="ko-KR" sz="10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1000"/>
          </a:p>
        </p:txBody>
      </p: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B7CE3F78-A4CC-EF60-CDD0-7ADA6C507467}"/>
              </a:ext>
            </a:extLst>
          </p:cNvPr>
          <p:cNvGrpSpPr/>
          <p:nvPr/>
        </p:nvGrpSpPr>
        <p:grpSpPr>
          <a:xfrm>
            <a:off x="5724160" y="4986481"/>
            <a:ext cx="100766" cy="91605"/>
            <a:chOff x="3912160" y="-747000"/>
            <a:chExt cx="216000" cy="216000"/>
          </a:xfrm>
        </p:grpSpPr>
        <p:cxnSp>
          <p:nvCxnSpPr>
            <p:cNvPr id="49" name="직선 연결선 48">
              <a:extLst>
                <a:ext uri="{FF2B5EF4-FFF2-40B4-BE49-F238E27FC236}">
                  <a16:creationId xmlns:a16="http://schemas.microsoft.com/office/drawing/2014/main" id="{BA9D8B09-DE5D-D2A5-DABC-F081005BF36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12160" y="-747000"/>
              <a:ext cx="216000" cy="2160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직선 연결선 49">
              <a:extLst>
                <a:ext uri="{FF2B5EF4-FFF2-40B4-BE49-F238E27FC236}">
                  <a16:creationId xmlns:a16="http://schemas.microsoft.com/office/drawing/2014/main" id="{8C11A276-0E7C-4E7D-B784-A08212C56E3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12160" y="-747000"/>
              <a:ext cx="216000" cy="2160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29BEB10D-59F3-F94C-38A6-F5F22F84E8F2}"/>
              </a:ext>
            </a:extLst>
          </p:cNvPr>
          <p:cNvSpPr txBox="1"/>
          <p:nvPr/>
        </p:nvSpPr>
        <p:spPr bwMode="auto">
          <a:xfrm>
            <a:off x="3565115" y="5564331"/>
            <a:ext cx="2159045" cy="246221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100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인증 요청 발송 실패</a:t>
            </a:r>
            <a:endParaRPr lang="ko-KR" altLang="en-US" sz="1000"/>
          </a:p>
        </p:txBody>
      </p:sp>
      <p:pic>
        <p:nvPicPr>
          <p:cNvPr id="43" name="그림 42" descr="직사각형, 사각형, 스크린샷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6AE1C09-9474-588C-1E8C-F7FB0EA5F9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6738" y="5261080"/>
            <a:ext cx="245732" cy="235533"/>
          </a:xfrm>
          <a:prstGeom prst="rect">
            <a:avLst/>
          </a:prstGeom>
        </p:spPr>
      </p:pic>
      <p:grpSp>
        <p:nvGrpSpPr>
          <p:cNvPr id="31" name="그룹 30">
            <a:extLst>
              <a:ext uri="{FF2B5EF4-FFF2-40B4-BE49-F238E27FC236}">
                <a16:creationId xmlns:a16="http://schemas.microsoft.com/office/drawing/2014/main" id="{656EDC7F-0136-E986-725F-5F0B80901FE1}"/>
              </a:ext>
            </a:extLst>
          </p:cNvPr>
          <p:cNvGrpSpPr/>
          <p:nvPr/>
        </p:nvGrpSpPr>
        <p:grpSpPr>
          <a:xfrm>
            <a:off x="3253126" y="1820470"/>
            <a:ext cx="2808000" cy="1636364"/>
            <a:chOff x="5075077" y="9623216"/>
            <a:chExt cx="2808000" cy="1800000"/>
          </a:xfrm>
        </p:grpSpPr>
        <p:grpSp>
          <p:nvGrpSpPr>
            <p:cNvPr id="32" name="그룹 31">
              <a:extLst>
                <a:ext uri="{FF2B5EF4-FFF2-40B4-BE49-F238E27FC236}">
                  <a16:creationId xmlns:a16="http://schemas.microsoft.com/office/drawing/2014/main" id="{76AE48FD-53DD-28C8-7891-8B2A4DF0ECFD}"/>
                </a:ext>
              </a:extLst>
            </p:cNvPr>
            <p:cNvGrpSpPr/>
            <p:nvPr/>
          </p:nvGrpSpPr>
          <p:grpSpPr>
            <a:xfrm>
              <a:off x="5075077" y="9623216"/>
              <a:ext cx="2808000" cy="1800000"/>
              <a:chOff x="5291298" y="7937142"/>
              <a:chExt cx="2808000" cy="1800000"/>
            </a:xfrm>
          </p:grpSpPr>
          <p:sp>
            <p:nvSpPr>
              <p:cNvPr id="34" name="사각형: 둥근 모서리 33">
                <a:extLst>
                  <a:ext uri="{FF2B5EF4-FFF2-40B4-BE49-F238E27FC236}">
                    <a16:creationId xmlns:a16="http://schemas.microsoft.com/office/drawing/2014/main" id="{9D00D0AB-1CF9-F8C4-7328-63B35E7A6619}"/>
                  </a:ext>
                </a:extLst>
              </p:cNvPr>
              <p:cNvSpPr/>
              <p:nvPr/>
            </p:nvSpPr>
            <p:spPr>
              <a:xfrm>
                <a:off x="5291298" y="7937142"/>
                <a:ext cx="2808000" cy="1800000"/>
              </a:xfrm>
              <a:prstGeom prst="roundRect">
                <a:avLst>
                  <a:gd name="adj" fmla="val 6660"/>
                </a:avLst>
              </a:prstGeom>
              <a:solidFill>
                <a:schemeClr val="bg1"/>
              </a:solidFill>
            </p:spPr>
            <p:txBody>
              <a:bodyPr wrap="square" rtlCol="0" anchor="ctr">
                <a:noAutofit/>
              </a:bodyPr>
              <a:lstStyle/>
              <a:p>
                <a:pPr algn="l"/>
                <a:endParaRPr kumimoji="0" lang="ko-KR" altLang="en-US" sz="900" dirty="0" err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DF693C4E-A8D9-E377-D2B8-30BBF164AB7F}"/>
                  </a:ext>
                </a:extLst>
              </p:cNvPr>
              <p:cNvSpPr txBox="1"/>
              <p:nvPr/>
            </p:nvSpPr>
            <p:spPr bwMode="auto">
              <a:xfrm>
                <a:off x="5414380" y="8099671"/>
                <a:ext cx="2347952" cy="26161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US" altLang="ko-KR" sz="11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Push </a:t>
                </a:r>
                <a:r>
                  <a:rPr lang="ko-KR" altLang="en-US" sz="110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인증 요청</a:t>
                </a:r>
                <a:endParaRPr lang="en-US" altLang="ko-KR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endParaRP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E198B9D-1DD3-8D8B-4830-600C63E20F8C}"/>
                  </a:ext>
                </a:extLst>
              </p:cNvPr>
              <p:cNvSpPr txBox="1"/>
              <p:nvPr/>
            </p:nvSpPr>
            <p:spPr bwMode="auto">
              <a:xfrm>
                <a:off x="5603287" y="8991460"/>
                <a:ext cx="2159045" cy="24622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000" b="0">
                    <a:solidFill>
                      <a:srgbClr val="333333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휴대폰 앱에서 인증을 진행해주세요</a:t>
                </a:r>
                <a:r>
                  <a:rPr lang="en-US" altLang="ko-KR" sz="1000" b="0">
                    <a:solidFill>
                      <a:srgbClr val="333333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. </a:t>
                </a:r>
                <a:endParaRPr lang="ko-KR" altLang="en-US" sz="1000"/>
              </a:p>
            </p:txBody>
          </p:sp>
          <p:grpSp>
            <p:nvGrpSpPr>
              <p:cNvPr id="37" name="그룹 36">
                <a:extLst>
                  <a:ext uri="{FF2B5EF4-FFF2-40B4-BE49-F238E27FC236}">
                    <a16:creationId xmlns:a16="http://schemas.microsoft.com/office/drawing/2014/main" id="{73EABD01-61A5-9404-0C23-83146F7607AF}"/>
                  </a:ext>
                </a:extLst>
              </p:cNvPr>
              <p:cNvGrpSpPr/>
              <p:nvPr/>
            </p:nvGrpSpPr>
            <p:grpSpPr>
              <a:xfrm>
                <a:off x="7762332" y="8129711"/>
                <a:ext cx="100766" cy="100766"/>
                <a:chOff x="3912160" y="-747000"/>
                <a:chExt cx="216000" cy="216000"/>
              </a:xfrm>
            </p:grpSpPr>
            <p:cxnSp>
              <p:nvCxnSpPr>
                <p:cNvPr id="39" name="직선 연결선 38">
                  <a:extLst>
                    <a:ext uri="{FF2B5EF4-FFF2-40B4-BE49-F238E27FC236}">
                      <a16:creationId xmlns:a16="http://schemas.microsoft.com/office/drawing/2014/main" id="{34F4B2DF-A53C-DBE3-FB8C-2D75901C228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3912160" y="-747000"/>
                  <a:ext cx="216000" cy="216000"/>
                </a:xfrm>
                <a:prstGeom prst="line">
                  <a:avLst/>
                </a:prstGeom>
                <a:ln w="1270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직선 연결선 39">
                  <a:extLst>
                    <a:ext uri="{FF2B5EF4-FFF2-40B4-BE49-F238E27FC236}">
                      <a16:creationId xmlns:a16="http://schemas.microsoft.com/office/drawing/2014/main" id="{E904F3A8-38FC-10D5-4CBA-0E0D9BFA09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 flipV="1">
                  <a:off x="3912160" y="-747000"/>
                  <a:ext cx="216000" cy="216000"/>
                </a:xfrm>
                <a:prstGeom prst="line">
                  <a:avLst/>
                </a:prstGeom>
                <a:ln w="1270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3BB0C661-8BF9-1986-E93A-7B76ED02EA93}"/>
                  </a:ext>
                </a:extLst>
              </p:cNvPr>
              <p:cNvSpPr txBox="1"/>
              <p:nvPr/>
            </p:nvSpPr>
            <p:spPr bwMode="auto">
              <a:xfrm>
                <a:off x="5603287" y="8745239"/>
                <a:ext cx="2159045" cy="246221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ko-KR" altLang="en-US" sz="1000">
                    <a:solidFill>
                      <a:srgbClr val="333333"/>
                    </a:solidFill>
                    <a:latin typeface="Noto Sans KR" panose="020B0200000000000000" pitchFamily="50" charset="-127"/>
                    <a:ea typeface="Noto Sans KR" panose="020B0200000000000000" pitchFamily="50" charset="-127"/>
                  </a:rPr>
                  <a:t>인증 요청 발송 완료</a:t>
                </a:r>
                <a:endParaRPr lang="ko-KR" altLang="en-US" sz="1000"/>
              </a:p>
            </p:txBody>
          </p:sp>
        </p:grpSp>
        <p:pic>
          <p:nvPicPr>
            <p:cNvPr id="33" name="그림 32" descr="직사각형, 사각형, 스크린샷, 디자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331758CB-DC97-16AE-6585-11AA932BA7F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358689" y="10125399"/>
              <a:ext cx="245732" cy="259086"/>
            </a:xfrm>
            <a:prstGeom prst="rect">
              <a:avLst/>
            </a:prstGeom>
          </p:spPr>
        </p:pic>
      </p:grpSp>
      <p:sp>
        <p:nvSpPr>
          <p:cNvPr id="52" name="사각형: 둥근 모서리 51">
            <a:extLst>
              <a:ext uri="{FF2B5EF4-FFF2-40B4-BE49-F238E27FC236}">
                <a16:creationId xmlns:a16="http://schemas.microsoft.com/office/drawing/2014/main" id="{6A7BAC5A-DB04-5A6C-FE98-C2149E4317C3}"/>
              </a:ext>
            </a:extLst>
          </p:cNvPr>
          <p:cNvSpPr/>
          <p:nvPr/>
        </p:nvSpPr>
        <p:spPr>
          <a:xfrm>
            <a:off x="6406393" y="2087138"/>
            <a:ext cx="2808000" cy="469430"/>
          </a:xfrm>
          <a:prstGeom prst="roundRect">
            <a:avLst>
              <a:gd name="adj" fmla="val 21213"/>
            </a:avLst>
          </a:prstGeom>
          <a:solidFill>
            <a:schemeClr val="bg1"/>
          </a:solidFill>
        </p:spPr>
        <p:txBody>
          <a:bodyPr wrap="square" rtlCol="0" anchor="ctr">
            <a:noAutofit/>
          </a:bodyPr>
          <a:lstStyle/>
          <a:p>
            <a:pPr algn="l"/>
            <a:endParaRPr kumimoji="0" lang="ko-KR" altLang="en-US" sz="9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36C667EF-D1E6-7BF1-E6AD-660EDDF37B45}"/>
              </a:ext>
            </a:extLst>
          </p:cNvPr>
          <p:cNvGrpSpPr/>
          <p:nvPr/>
        </p:nvGrpSpPr>
        <p:grpSpPr>
          <a:xfrm>
            <a:off x="8945742" y="2283091"/>
            <a:ext cx="100766" cy="91605"/>
            <a:chOff x="3912160" y="-747000"/>
            <a:chExt cx="216000" cy="216000"/>
          </a:xfrm>
        </p:grpSpPr>
        <p:cxnSp>
          <p:nvCxnSpPr>
            <p:cNvPr id="57" name="직선 연결선 56">
              <a:extLst>
                <a:ext uri="{FF2B5EF4-FFF2-40B4-BE49-F238E27FC236}">
                  <a16:creationId xmlns:a16="http://schemas.microsoft.com/office/drawing/2014/main" id="{A5CFE8E2-278E-E15D-B79D-D950F0EF63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12160" y="-747000"/>
              <a:ext cx="216000" cy="2160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직선 연결선 57">
              <a:extLst>
                <a:ext uri="{FF2B5EF4-FFF2-40B4-BE49-F238E27FC236}">
                  <a16:creationId xmlns:a16="http://schemas.microsoft.com/office/drawing/2014/main" id="{300B1410-6923-69F2-7E34-CC0ED9F68C6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12160" y="-747000"/>
              <a:ext cx="216000" cy="2160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340446C7-9783-2520-C2C6-8918657F7BCE}"/>
              </a:ext>
            </a:extLst>
          </p:cNvPr>
          <p:cNvSpPr txBox="1"/>
          <p:nvPr/>
        </p:nvSpPr>
        <p:spPr bwMode="auto">
          <a:xfrm>
            <a:off x="6685906" y="2215510"/>
            <a:ext cx="2159045" cy="2308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ko-KR" altLang="en-US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인증이 완료되었습니다</a:t>
            </a:r>
            <a:r>
              <a:rPr lang="en-US" altLang="ko-KR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endParaRPr lang="ko-KR" altLang="en-US" sz="900" b="0"/>
          </a:p>
        </p:txBody>
      </p:sp>
      <p:pic>
        <p:nvPicPr>
          <p:cNvPr id="56" name="그림 55" descr="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8EB0907-1314-E6B2-938A-F587A89B0C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0518" y="2212095"/>
            <a:ext cx="224440" cy="212579"/>
          </a:xfrm>
          <a:prstGeom prst="rect">
            <a:avLst/>
          </a:prstGeom>
        </p:spPr>
      </p:pic>
      <p:cxnSp>
        <p:nvCxnSpPr>
          <p:cNvPr id="90" name="연결선: 꺾임 89">
            <a:extLst>
              <a:ext uri="{FF2B5EF4-FFF2-40B4-BE49-F238E27FC236}">
                <a16:creationId xmlns:a16="http://schemas.microsoft.com/office/drawing/2014/main" id="{E801F5EB-2621-09DF-A1DB-220C8D3A2512}"/>
              </a:ext>
            </a:extLst>
          </p:cNvPr>
          <p:cNvCxnSpPr>
            <a:stCxn id="23" idx="0"/>
            <a:endCxn id="34" idx="1"/>
          </p:cNvCxnSpPr>
          <p:nvPr/>
        </p:nvCxnSpPr>
        <p:spPr>
          <a:xfrm rot="5400000" flipH="1" flipV="1">
            <a:off x="2111269" y="2096074"/>
            <a:ext cx="599279" cy="1684436"/>
          </a:xfrm>
          <a:prstGeom prst="bentConnector2">
            <a:avLst/>
          </a:prstGeom>
          <a:ln w="190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연결선: 꺾임 91">
            <a:extLst>
              <a:ext uri="{FF2B5EF4-FFF2-40B4-BE49-F238E27FC236}">
                <a16:creationId xmlns:a16="http://schemas.microsoft.com/office/drawing/2014/main" id="{D2BF54D4-96A1-6A0F-F7A5-D1C922C9E141}"/>
              </a:ext>
            </a:extLst>
          </p:cNvPr>
          <p:cNvCxnSpPr>
            <a:stCxn id="23" idx="2"/>
            <a:endCxn id="44" idx="1"/>
          </p:cNvCxnSpPr>
          <p:nvPr/>
        </p:nvCxnSpPr>
        <p:spPr>
          <a:xfrm rot="16200000" flipH="1">
            <a:off x="2033256" y="4409729"/>
            <a:ext cx="755305" cy="1684436"/>
          </a:xfrm>
          <a:prstGeom prst="bentConnector2">
            <a:avLst/>
          </a:prstGeom>
          <a:ln w="190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연결선: 꺾임 95">
            <a:extLst>
              <a:ext uri="{FF2B5EF4-FFF2-40B4-BE49-F238E27FC236}">
                <a16:creationId xmlns:a16="http://schemas.microsoft.com/office/drawing/2014/main" id="{312D3834-E65B-0E8D-D49D-E13CC80EC5FE}"/>
              </a:ext>
            </a:extLst>
          </p:cNvPr>
          <p:cNvCxnSpPr>
            <a:cxnSpLocks/>
            <a:stCxn id="34" idx="3"/>
            <a:endCxn id="52" idx="1"/>
          </p:cNvCxnSpPr>
          <p:nvPr/>
        </p:nvCxnSpPr>
        <p:spPr>
          <a:xfrm flipV="1">
            <a:off x="6061126" y="2321853"/>
            <a:ext cx="345267" cy="316799"/>
          </a:xfrm>
          <a:prstGeom prst="bentConnector3">
            <a:avLst>
              <a:gd name="adj1" fmla="val 50000"/>
            </a:avLst>
          </a:prstGeom>
          <a:ln w="190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연결선: 꺾임 98">
            <a:extLst>
              <a:ext uri="{FF2B5EF4-FFF2-40B4-BE49-F238E27FC236}">
                <a16:creationId xmlns:a16="http://schemas.microsoft.com/office/drawing/2014/main" id="{884BE997-4C4F-F143-DD5F-0566F4EAD268}"/>
              </a:ext>
            </a:extLst>
          </p:cNvPr>
          <p:cNvCxnSpPr>
            <a:cxnSpLocks/>
            <a:endCxn id="82" idx="1"/>
          </p:cNvCxnSpPr>
          <p:nvPr/>
        </p:nvCxnSpPr>
        <p:spPr>
          <a:xfrm>
            <a:off x="6034388" y="2889059"/>
            <a:ext cx="394905" cy="249133"/>
          </a:xfrm>
          <a:prstGeom prst="bentConnector3">
            <a:avLst>
              <a:gd name="adj1" fmla="val 50000"/>
            </a:avLst>
          </a:prstGeom>
          <a:ln w="1905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텍스트 개체 틀 28">
            <a:extLst>
              <a:ext uri="{FF2B5EF4-FFF2-40B4-BE49-F238E27FC236}">
                <a16:creationId xmlns:a16="http://schemas.microsoft.com/office/drawing/2014/main" id="{B21BFCFC-BDD8-97FC-ED2D-281DE124BE52}"/>
              </a:ext>
            </a:extLst>
          </p:cNvPr>
          <p:cNvSpPr txBox="1">
            <a:spLocks/>
          </p:cNvSpPr>
          <p:nvPr/>
        </p:nvSpPr>
        <p:spPr>
          <a:xfrm>
            <a:off x="1225975" y="20616"/>
            <a:ext cx="2160000" cy="180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[ATON] </a:t>
            </a:r>
            <a:r>
              <a:rPr lang="ko-KR" altLang="en-US"/>
              <a:t>카카오뱅크 </a:t>
            </a:r>
            <a:r>
              <a:rPr lang="en-US" altLang="ko-KR"/>
              <a:t>OTP POC</a:t>
            </a:r>
            <a:endParaRPr lang="ko-KR" altLang="en-US"/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91B32D89-9E61-F812-F40B-BAF009C0F4D1}"/>
              </a:ext>
            </a:extLst>
          </p:cNvPr>
          <p:cNvSpPr/>
          <p:nvPr/>
        </p:nvSpPr>
        <p:spPr>
          <a:xfrm>
            <a:off x="4284954" y="6036975"/>
            <a:ext cx="806125" cy="272025"/>
          </a:xfrm>
          <a:prstGeom prst="roundRect">
            <a:avLst>
              <a:gd name="adj" fmla="val 23911"/>
            </a:avLst>
          </a:prstGeom>
          <a:solidFill>
            <a:srgbClr val="FEE500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70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확인</a:t>
            </a:r>
            <a:endParaRPr lang="ko-KR" altLang="en-US" sz="700" dirty="0" err="1">
              <a:solidFill>
                <a:srgbClr val="11111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9" name="사각형: 둥근 모서리 58">
            <a:extLst>
              <a:ext uri="{FF2B5EF4-FFF2-40B4-BE49-F238E27FC236}">
                <a16:creationId xmlns:a16="http://schemas.microsoft.com/office/drawing/2014/main" id="{FF76AFC7-3022-DAF5-7B0E-FD3BD5D8B17F}"/>
              </a:ext>
            </a:extLst>
          </p:cNvPr>
          <p:cNvSpPr/>
          <p:nvPr/>
        </p:nvSpPr>
        <p:spPr>
          <a:xfrm>
            <a:off x="4284954" y="3067849"/>
            <a:ext cx="806125" cy="272025"/>
          </a:xfrm>
          <a:prstGeom prst="roundRect">
            <a:avLst>
              <a:gd name="adj" fmla="val 23911"/>
            </a:avLst>
          </a:prstGeom>
          <a:solidFill>
            <a:srgbClr val="FEE500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70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확인</a:t>
            </a:r>
            <a:endParaRPr lang="ko-KR" altLang="en-US" sz="700" dirty="0" err="1">
              <a:solidFill>
                <a:srgbClr val="11111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95" name="그룹 94">
            <a:extLst>
              <a:ext uri="{FF2B5EF4-FFF2-40B4-BE49-F238E27FC236}">
                <a16:creationId xmlns:a16="http://schemas.microsoft.com/office/drawing/2014/main" id="{63856D06-D83F-FCFF-99A1-D202B68C03CF}"/>
              </a:ext>
            </a:extLst>
          </p:cNvPr>
          <p:cNvGrpSpPr/>
          <p:nvPr/>
        </p:nvGrpSpPr>
        <p:grpSpPr>
          <a:xfrm>
            <a:off x="6429293" y="2903477"/>
            <a:ext cx="2808000" cy="469430"/>
            <a:chOff x="6429293" y="2776315"/>
            <a:chExt cx="2808000" cy="469430"/>
          </a:xfrm>
        </p:grpSpPr>
        <p:pic>
          <p:nvPicPr>
            <p:cNvPr id="91" name="그림 90">
              <a:extLst>
                <a:ext uri="{FF2B5EF4-FFF2-40B4-BE49-F238E27FC236}">
                  <a16:creationId xmlns:a16="http://schemas.microsoft.com/office/drawing/2014/main" id="{968379B0-CDBD-8898-370E-A2F08ECC40B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63981" y="2891981"/>
              <a:ext cx="231009" cy="231009"/>
            </a:xfrm>
            <a:prstGeom prst="rect">
              <a:avLst/>
            </a:prstGeom>
          </p:spPr>
        </p:pic>
        <p:sp>
          <p:nvSpPr>
            <p:cNvPr id="82" name="사각형: 둥근 모서리 81">
              <a:extLst>
                <a:ext uri="{FF2B5EF4-FFF2-40B4-BE49-F238E27FC236}">
                  <a16:creationId xmlns:a16="http://schemas.microsoft.com/office/drawing/2014/main" id="{95B8DB51-8846-9225-223C-0A983A0C0C2D}"/>
                </a:ext>
              </a:extLst>
            </p:cNvPr>
            <p:cNvSpPr/>
            <p:nvPr/>
          </p:nvSpPr>
          <p:spPr>
            <a:xfrm>
              <a:off x="6429293" y="2776315"/>
              <a:ext cx="2808000" cy="469430"/>
            </a:xfrm>
            <a:prstGeom prst="roundRect">
              <a:avLst>
                <a:gd name="adj" fmla="val 21213"/>
              </a:avLst>
            </a:prstGeom>
            <a:solidFill>
              <a:schemeClr val="bg1"/>
            </a:solidFill>
          </p:spPr>
          <p:txBody>
            <a:bodyPr wrap="square" rtlCol="0" anchor="ctr">
              <a:noAutofit/>
            </a:bodyPr>
            <a:lstStyle/>
            <a:p>
              <a:pPr algn="l"/>
              <a:endParaRPr kumimoji="0" lang="ko-KR" altLang="en-US" sz="9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1A739FCF-7B8C-FAF8-644B-7F6E4A3AD553}"/>
                </a:ext>
              </a:extLst>
            </p:cNvPr>
            <p:cNvGrpSpPr/>
            <p:nvPr/>
          </p:nvGrpSpPr>
          <p:grpSpPr>
            <a:xfrm>
              <a:off x="8968642" y="2972268"/>
              <a:ext cx="100766" cy="91605"/>
              <a:chOff x="3912160" y="-747000"/>
              <a:chExt cx="216000" cy="216000"/>
            </a:xfrm>
          </p:grpSpPr>
          <p:cxnSp>
            <p:nvCxnSpPr>
              <p:cNvPr id="88" name="직선 연결선 87">
                <a:extLst>
                  <a:ext uri="{FF2B5EF4-FFF2-40B4-BE49-F238E27FC236}">
                    <a16:creationId xmlns:a16="http://schemas.microsoft.com/office/drawing/2014/main" id="{B15C4577-C438-2E3F-8221-BAAD114BABF7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12160" y="-747000"/>
                <a:ext cx="216000" cy="21600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직선 연결선 88">
                <a:extLst>
                  <a:ext uri="{FF2B5EF4-FFF2-40B4-BE49-F238E27FC236}">
                    <a16:creationId xmlns:a16="http://schemas.microsoft.com/office/drawing/2014/main" id="{CA906137-21BD-6E8D-5659-E121553E050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912160" y="-747000"/>
                <a:ext cx="216000" cy="21600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79393F03-2220-C924-7991-A7913456990F}"/>
                </a:ext>
              </a:extLst>
            </p:cNvPr>
            <p:cNvSpPr txBox="1"/>
            <p:nvPr/>
          </p:nvSpPr>
          <p:spPr bwMode="auto">
            <a:xfrm>
              <a:off x="6708806" y="2904687"/>
              <a:ext cx="2159045" cy="230832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r>
                <a:rPr lang="ko-KR" altLang="en-US" sz="900" b="0">
                  <a:solidFill>
                    <a:srgbClr val="33333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인증에 실패했습니다</a:t>
              </a:r>
              <a:r>
                <a:rPr lang="en-US" altLang="ko-KR" sz="900" b="0">
                  <a:solidFill>
                    <a:srgbClr val="33333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. </a:t>
              </a:r>
              <a:r>
                <a:rPr lang="ko-KR" altLang="en-US" sz="900" b="0">
                  <a:solidFill>
                    <a:srgbClr val="33333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다시 시도해주세요</a:t>
              </a:r>
              <a:r>
                <a:rPr lang="en-US" altLang="ko-KR" sz="900" b="0">
                  <a:solidFill>
                    <a:srgbClr val="33333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.</a:t>
              </a:r>
            </a:p>
          </p:txBody>
        </p:sp>
        <p:pic>
          <p:nvPicPr>
            <p:cNvPr id="93" name="그림 92">
              <a:extLst>
                <a:ext uri="{FF2B5EF4-FFF2-40B4-BE49-F238E27FC236}">
                  <a16:creationId xmlns:a16="http://schemas.microsoft.com/office/drawing/2014/main" id="{BBDABD4B-773A-251C-7A09-82C911598D8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40155" y="2920706"/>
              <a:ext cx="173560" cy="173560"/>
            </a:xfrm>
            <a:prstGeom prst="rect">
              <a:avLst/>
            </a:prstGeom>
          </p:spPr>
        </p:pic>
      </p:grp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AE39AB7C-37C7-53FE-DA29-87C10DEDC3D2}"/>
              </a:ext>
            </a:extLst>
          </p:cNvPr>
          <p:cNvSpPr/>
          <p:nvPr/>
        </p:nvSpPr>
        <p:spPr>
          <a:xfrm>
            <a:off x="63984" y="3099755"/>
            <a:ext cx="3000821" cy="1859418"/>
          </a:xfrm>
          <a:prstGeom prst="rect">
            <a:avLst/>
          </a:prstGeom>
          <a:noFill/>
          <a:ln>
            <a:solidFill>
              <a:srgbClr val="00B050"/>
            </a:solidFill>
            <a:prstDash val="sysDot"/>
          </a:ln>
        </p:spPr>
        <p:txBody>
          <a:bodyPr wrap="square" rtlCol="0" anchor="ctr">
            <a:noAutofit/>
          </a:bodyPr>
          <a:lstStyle/>
          <a:p>
            <a:pPr algn="l"/>
            <a:endParaRPr kumimoji="0" lang="ko-KR" altLang="en-US" sz="9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2" name="모서리가 둥근 직사각형 209">
            <a:extLst>
              <a:ext uri="{FF2B5EF4-FFF2-40B4-BE49-F238E27FC236}">
                <a16:creationId xmlns:a16="http://schemas.microsoft.com/office/drawing/2014/main" id="{68501D78-DE6F-6383-73AF-523FAAF317A4}"/>
              </a:ext>
            </a:extLst>
          </p:cNvPr>
          <p:cNvSpPr/>
          <p:nvPr/>
        </p:nvSpPr>
        <p:spPr>
          <a:xfrm>
            <a:off x="56500" y="3103767"/>
            <a:ext cx="231272" cy="1661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700" b="0">
                <a:latin typeface="+mn-ea"/>
              </a:rPr>
              <a:t>1</a:t>
            </a:r>
            <a:endParaRPr lang="ko-KR" altLang="en-US" sz="700" b="0" dirty="0">
              <a:latin typeface="+mn-ea"/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8647730E-58FA-15CA-7218-1C6914BDABA0}"/>
              </a:ext>
            </a:extLst>
          </p:cNvPr>
          <p:cNvSpPr/>
          <p:nvPr/>
        </p:nvSpPr>
        <p:spPr>
          <a:xfrm>
            <a:off x="3162563" y="1726159"/>
            <a:ext cx="3000821" cy="1859418"/>
          </a:xfrm>
          <a:prstGeom prst="rect">
            <a:avLst/>
          </a:prstGeom>
          <a:noFill/>
          <a:ln>
            <a:solidFill>
              <a:srgbClr val="00B050"/>
            </a:solidFill>
            <a:prstDash val="sysDot"/>
          </a:ln>
        </p:spPr>
        <p:txBody>
          <a:bodyPr wrap="square" rtlCol="0" anchor="ctr">
            <a:noAutofit/>
          </a:bodyPr>
          <a:lstStyle/>
          <a:p>
            <a:pPr algn="l"/>
            <a:endParaRPr kumimoji="0" lang="ko-KR" altLang="en-US" sz="9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3" name="모서리가 둥근 직사각형 209">
            <a:extLst>
              <a:ext uri="{FF2B5EF4-FFF2-40B4-BE49-F238E27FC236}">
                <a16:creationId xmlns:a16="http://schemas.microsoft.com/office/drawing/2014/main" id="{CD3C0330-623E-E35B-C9BD-1BD01993EE32}"/>
              </a:ext>
            </a:extLst>
          </p:cNvPr>
          <p:cNvSpPr/>
          <p:nvPr/>
        </p:nvSpPr>
        <p:spPr>
          <a:xfrm>
            <a:off x="3155078" y="1730171"/>
            <a:ext cx="348921" cy="1661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700" b="0">
                <a:latin typeface="+mn-ea"/>
              </a:rPr>
              <a:t>2-1</a:t>
            </a:r>
            <a:endParaRPr lang="ko-KR" altLang="en-US" sz="700" b="0" dirty="0">
              <a:latin typeface="+mn-ea"/>
            </a:endParaRP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9BF33075-6197-287E-A2CD-FE747DEFC997}"/>
              </a:ext>
            </a:extLst>
          </p:cNvPr>
          <p:cNvSpPr/>
          <p:nvPr/>
        </p:nvSpPr>
        <p:spPr>
          <a:xfrm>
            <a:off x="3162563" y="4703039"/>
            <a:ext cx="3000821" cy="1859418"/>
          </a:xfrm>
          <a:prstGeom prst="rect">
            <a:avLst/>
          </a:prstGeom>
          <a:noFill/>
          <a:ln>
            <a:solidFill>
              <a:srgbClr val="00B050"/>
            </a:solidFill>
            <a:prstDash val="sysDot"/>
          </a:ln>
        </p:spPr>
        <p:txBody>
          <a:bodyPr wrap="square" rtlCol="0" anchor="ctr">
            <a:noAutofit/>
          </a:bodyPr>
          <a:lstStyle/>
          <a:p>
            <a:pPr algn="l"/>
            <a:endParaRPr kumimoji="0" lang="ko-KR" altLang="en-US" sz="9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1" name="모서리가 둥근 직사각형 209">
            <a:extLst>
              <a:ext uri="{FF2B5EF4-FFF2-40B4-BE49-F238E27FC236}">
                <a16:creationId xmlns:a16="http://schemas.microsoft.com/office/drawing/2014/main" id="{7D386762-A3DE-B14F-1613-CB6D5C619005}"/>
              </a:ext>
            </a:extLst>
          </p:cNvPr>
          <p:cNvSpPr/>
          <p:nvPr/>
        </p:nvSpPr>
        <p:spPr>
          <a:xfrm>
            <a:off x="3155078" y="4707051"/>
            <a:ext cx="348921" cy="1661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700" b="0">
                <a:latin typeface="+mn-ea"/>
              </a:rPr>
              <a:t>2-2</a:t>
            </a:r>
            <a:endParaRPr lang="ko-KR" altLang="en-US" sz="700" b="0" dirty="0">
              <a:latin typeface="+mn-ea"/>
            </a:endParaRPr>
          </a:p>
        </p:txBody>
      </p:sp>
      <p:sp>
        <p:nvSpPr>
          <p:cNvPr id="63" name="직사각형 62">
            <a:extLst>
              <a:ext uri="{FF2B5EF4-FFF2-40B4-BE49-F238E27FC236}">
                <a16:creationId xmlns:a16="http://schemas.microsoft.com/office/drawing/2014/main" id="{62CEDB00-906F-0558-E82E-A7DF01C647DE}"/>
              </a:ext>
            </a:extLst>
          </p:cNvPr>
          <p:cNvSpPr/>
          <p:nvPr/>
        </p:nvSpPr>
        <p:spPr>
          <a:xfrm>
            <a:off x="6338579" y="1963903"/>
            <a:ext cx="3000821" cy="634122"/>
          </a:xfrm>
          <a:prstGeom prst="rect">
            <a:avLst/>
          </a:prstGeom>
          <a:noFill/>
          <a:ln>
            <a:solidFill>
              <a:srgbClr val="00B050"/>
            </a:solidFill>
            <a:prstDash val="sysDot"/>
          </a:ln>
        </p:spPr>
        <p:txBody>
          <a:bodyPr wrap="square" rtlCol="0" anchor="ctr">
            <a:noAutofit/>
          </a:bodyPr>
          <a:lstStyle/>
          <a:p>
            <a:pPr algn="l"/>
            <a:endParaRPr kumimoji="0" lang="ko-KR" altLang="en-US" sz="9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4" name="모서리가 둥근 직사각형 209">
            <a:extLst>
              <a:ext uri="{FF2B5EF4-FFF2-40B4-BE49-F238E27FC236}">
                <a16:creationId xmlns:a16="http://schemas.microsoft.com/office/drawing/2014/main" id="{6A13134E-30CE-8312-24C4-7B956207AB4A}"/>
              </a:ext>
            </a:extLst>
          </p:cNvPr>
          <p:cNvSpPr/>
          <p:nvPr/>
        </p:nvSpPr>
        <p:spPr>
          <a:xfrm>
            <a:off x="6331094" y="1967915"/>
            <a:ext cx="348921" cy="1661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700" b="0">
                <a:latin typeface="+mn-ea"/>
              </a:rPr>
              <a:t>2-1-1</a:t>
            </a:r>
            <a:endParaRPr lang="ko-KR" altLang="en-US" sz="700" b="0" dirty="0">
              <a:latin typeface="+mn-ea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BE383062-E04E-76EE-C0C1-7847E218B550}"/>
              </a:ext>
            </a:extLst>
          </p:cNvPr>
          <p:cNvSpPr/>
          <p:nvPr/>
        </p:nvSpPr>
        <p:spPr>
          <a:xfrm>
            <a:off x="6338579" y="2823439"/>
            <a:ext cx="3000821" cy="634122"/>
          </a:xfrm>
          <a:prstGeom prst="rect">
            <a:avLst/>
          </a:prstGeom>
          <a:noFill/>
          <a:ln>
            <a:solidFill>
              <a:srgbClr val="00B050"/>
            </a:solidFill>
            <a:prstDash val="sysDot"/>
          </a:ln>
        </p:spPr>
        <p:txBody>
          <a:bodyPr wrap="square" rtlCol="0" anchor="ctr">
            <a:noAutofit/>
          </a:bodyPr>
          <a:lstStyle/>
          <a:p>
            <a:pPr algn="l"/>
            <a:endParaRPr kumimoji="0" lang="ko-KR" altLang="en-US" sz="9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" name="모서리가 둥근 직사각형 209">
            <a:extLst>
              <a:ext uri="{FF2B5EF4-FFF2-40B4-BE49-F238E27FC236}">
                <a16:creationId xmlns:a16="http://schemas.microsoft.com/office/drawing/2014/main" id="{9B876970-DCAA-258F-557A-0BFBC7B16D89}"/>
              </a:ext>
            </a:extLst>
          </p:cNvPr>
          <p:cNvSpPr/>
          <p:nvPr/>
        </p:nvSpPr>
        <p:spPr>
          <a:xfrm>
            <a:off x="6331094" y="2827451"/>
            <a:ext cx="348921" cy="1661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700" b="0">
                <a:latin typeface="+mn-ea"/>
              </a:rPr>
              <a:t>2-1-2</a:t>
            </a:r>
            <a:endParaRPr lang="ko-KR" altLang="en-US" sz="700" b="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876898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009630-2E17-E911-7C39-59E2CB6BE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BD2E8669-7A09-426B-DB2F-42691CEE2D79}"/>
              </a:ext>
            </a:extLst>
          </p:cNvPr>
          <p:cNvSpPr/>
          <p:nvPr/>
        </p:nvSpPr>
        <p:spPr>
          <a:xfrm>
            <a:off x="0" y="520961"/>
            <a:ext cx="9467081" cy="6337039"/>
          </a:xfrm>
          <a:prstGeom prst="rect">
            <a:avLst/>
          </a:prstGeom>
          <a:solidFill>
            <a:srgbClr val="FEE500"/>
          </a:solidFill>
        </p:spPr>
        <p:txBody>
          <a:bodyPr wrap="square" rtlCol="0" anchor="ctr">
            <a:noAutofit/>
          </a:bodyPr>
          <a:lstStyle/>
          <a:p>
            <a:pPr algn="l"/>
            <a:endParaRPr kumimoji="0" lang="ko-KR" altLang="en-US" sz="9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7" name="텍스트 개체 틀 28">
            <a:extLst>
              <a:ext uri="{FF2B5EF4-FFF2-40B4-BE49-F238E27FC236}">
                <a16:creationId xmlns:a16="http://schemas.microsoft.com/office/drawing/2014/main" id="{B24EE296-2570-B95D-B98F-5D4492340D43}"/>
              </a:ext>
            </a:extLst>
          </p:cNvPr>
          <p:cNvSpPr txBox="1">
            <a:spLocks/>
          </p:cNvSpPr>
          <p:nvPr/>
        </p:nvSpPr>
        <p:spPr>
          <a:xfrm>
            <a:off x="1225975" y="20616"/>
            <a:ext cx="2160000" cy="180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[ATON] </a:t>
            </a:r>
            <a:r>
              <a:rPr lang="ko-KR" altLang="en-US"/>
              <a:t>카카오뱅크 </a:t>
            </a:r>
            <a:r>
              <a:rPr lang="en-US" altLang="ko-KR"/>
              <a:t>OTP POC</a:t>
            </a:r>
            <a:endParaRPr lang="ko-KR" altLang="en-US"/>
          </a:p>
        </p:txBody>
      </p:sp>
      <p:sp>
        <p:nvSpPr>
          <p:cNvPr id="214" name="텍스트 개체 틀 28">
            <a:extLst>
              <a:ext uri="{FF2B5EF4-FFF2-40B4-BE49-F238E27FC236}">
                <a16:creationId xmlns:a16="http://schemas.microsoft.com/office/drawing/2014/main" id="{2AA0F985-9DA2-A9B7-AC23-85E593902FAC}"/>
              </a:ext>
            </a:extLst>
          </p:cNvPr>
          <p:cNvSpPr txBox="1">
            <a:spLocks/>
          </p:cNvSpPr>
          <p:nvPr/>
        </p:nvSpPr>
        <p:spPr>
          <a:xfrm>
            <a:off x="1235500" y="252000"/>
            <a:ext cx="2160000" cy="180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ko-KR" altLang="en-US" b="0" dirty="0"/>
              <a:t>초기 화면</a:t>
            </a:r>
            <a:endParaRPr kumimoji="0" lang="en-US" altLang="ko-KR" b="0" dirty="0"/>
          </a:p>
        </p:txBody>
      </p:sp>
      <p:sp>
        <p:nvSpPr>
          <p:cNvPr id="228" name="텍스트 개체 틀 28">
            <a:extLst>
              <a:ext uri="{FF2B5EF4-FFF2-40B4-BE49-F238E27FC236}">
                <a16:creationId xmlns:a16="http://schemas.microsoft.com/office/drawing/2014/main" id="{02F5F63C-D99D-3D69-2247-B79598F31509}"/>
              </a:ext>
            </a:extLst>
          </p:cNvPr>
          <p:cNvSpPr txBox="1">
            <a:spLocks/>
          </p:cNvSpPr>
          <p:nvPr/>
        </p:nvSpPr>
        <p:spPr>
          <a:xfrm>
            <a:off x="4751298" y="252000"/>
            <a:ext cx="1080000" cy="180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b="0" dirty="0">
              <a:solidFill>
                <a:srgbClr val="000000"/>
              </a:solidFill>
            </a:endParaRPr>
          </a:p>
        </p:txBody>
      </p:sp>
      <p:sp>
        <p:nvSpPr>
          <p:cNvPr id="235" name="텍스트 개체 틀 28">
            <a:extLst>
              <a:ext uri="{FF2B5EF4-FFF2-40B4-BE49-F238E27FC236}">
                <a16:creationId xmlns:a16="http://schemas.microsoft.com/office/drawing/2014/main" id="{8A95ECB2-3170-B06E-372B-209E7AA5C899}"/>
              </a:ext>
            </a:extLst>
          </p:cNvPr>
          <p:cNvSpPr txBox="1">
            <a:spLocks/>
          </p:cNvSpPr>
          <p:nvPr/>
        </p:nvSpPr>
        <p:spPr>
          <a:xfrm>
            <a:off x="7088981" y="252000"/>
            <a:ext cx="2340000" cy="180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b="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FACAA45-DE98-71F8-0982-C985B5EFD73D}"/>
              </a:ext>
            </a:extLst>
          </p:cNvPr>
          <p:cNvSpPr/>
          <p:nvPr/>
        </p:nvSpPr>
        <p:spPr bwMode="auto">
          <a:xfrm>
            <a:off x="4712861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1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649B668-9F9E-2F60-9592-38F496CAB2C4}"/>
              </a:ext>
            </a:extLst>
          </p:cNvPr>
          <p:cNvSpPr/>
          <p:nvPr/>
        </p:nvSpPr>
        <p:spPr bwMode="auto">
          <a:xfrm>
            <a:off x="5927042" y="0"/>
            <a:ext cx="294701" cy="21938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2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1EF1419-3128-007B-A74E-75521224A8D8}"/>
              </a:ext>
            </a:extLst>
          </p:cNvPr>
          <p:cNvSpPr/>
          <p:nvPr/>
        </p:nvSpPr>
        <p:spPr bwMode="auto">
          <a:xfrm>
            <a:off x="7059464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3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328C964-8CE5-B48B-99B8-B9A8BEB49128}"/>
              </a:ext>
            </a:extLst>
          </p:cNvPr>
          <p:cNvSpPr/>
          <p:nvPr/>
        </p:nvSpPr>
        <p:spPr bwMode="auto">
          <a:xfrm>
            <a:off x="8264807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4</a:t>
            </a:r>
            <a:r>
              <a:rPr kumimoji="1" lang="en-US" altLang="ko-KR" sz="6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</a:t>
            </a: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A7378979-7EC4-4D4D-31C4-CD3814B1AAB7}"/>
              </a:ext>
            </a:extLst>
          </p:cNvPr>
          <p:cNvSpPr/>
          <p:nvPr/>
        </p:nvSpPr>
        <p:spPr bwMode="auto">
          <a:xfrm>
            <a:off x="9467081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5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69CCAE3-FF90-77B5-9E74-7EA10C7B5B0D}"/>
              </a:ext>
            </a:extLst>
          </p:cNvPr>
          <p:cNvSpPr/>
          <p:nvPr/>
        </p:nvSpPr>
        <p:spPr bwMode="auto">
          <a:xfrm>
            <a:off x="10574936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6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69" name="텍스트 개체 틀 28">
            <a:extLst>
              <a:ext uri="{FF2B5EF4-FFF2-40B4-BE49-F238E27FC236}">
                <a16:creationId xmlns:a16="http://schemas.microsoft.com/office/drawing/2014/main" id="{835853E3-88C9-D064-3502-07264F0D26BC}"/>
              </a:ext>
            </a:extLst>
          </p:cNvPr>
          <p:cNvSpPr txBox="1">
            <a:spLocks/>
          </p:cNvSpPr>
          <p:nvPr/>
        </p:nvSpPr>
        <p:spPr>
          <a:xfrm>
            <a:off x="10612354" y="252000"/>
            <a:ext cx="1080000" cy="16977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0"/>
              <a:t>2025-12-12</a:t>
            </a:r>
            <a:endParaRPr lang="ko-KR" altLang="en-US" b="0"/>
          </a:p>
        </p:txBody>
      </p:sp>
      <p:graphicFrame>
        <p:nvGraphicFramePr>
          <p:cNvPr id="126" name="Group 87">
            <a:extLst>
              <a:ext uri="{FF2B5EF4-FFF2-40B4-BE49-F238E27FC236}">
                <a16:creationId xmlns:a16="http://schemas.microsoft.com/office/drawing/2014/main" id="{5FE29B5E-9427-E196-39A5-17A37B3039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6334930"/>
              </p:ext>
            </p:extLst>
          </p:nvPr>
        </p:nvGraphicFramePr>
        <p:xfrm>
          <a:off x="9491386" y="520961"/>
          <a:ext cx="2698234" cy="2196744"/>
        </p:xfrm>
        <a:graphic>
          <a:graphicData uri="http://schemas.openxmlformats.org/drawingml/2006/table">
            <a:tbl>
              <a:tblPr/>
              <a:tblGrid>
                <a:gridCol w="1743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3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5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40">
                <a:tc gridSpan="2"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No.</a:t>
                      </a:r>
                      <a:endParaRPr kumimoji="0" lang="ko-KR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ko-KR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Component</a:t>
                      </a:r>
                      <a:endParaRPr kumimoji="0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Descriptions</a:t>
                      </a:r>
                      <a:endParaRPr kumimoji="0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514"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600" dirty="0">
                        <a:latin typeface="+mn-ea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OTP</a:t>
                      </a:r>
                      <a:r>
                        <a:rPr kumimoji="0" lang="ko-KR" altLang="en-US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발급 인증 페이지 </a:t>
                      </a:r>
                      <a:endParaRPr kumimoji="0" lang="en-US" altLang="ko-KR" sz="6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1267165"/>
                  </a:ext>
                </a:extLst>
              </a:tr>
              <a:tr h="158069"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600" dirty="0">
                        <a:latin typeface="+mn-ea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다른 방식으로 본인인증하기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]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클릭 시 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[OTP PIN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하기 페이지로 이동 </a:t>
                      </a:r>
                      <a:endParaRPr kumimoji="0" lang="en-US" altLang="ko-KR" sz="6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1803684"/>
                  </a:ext>
                </a:extLst>
              </a:tr>
              <a:tr h="285223">
                <a:tc gridSpan="4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REMARK</a:t>
                      </a: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9557">
                <a:tc gridSpan="4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5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5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5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5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6896">
                <a:tc gridSpan="4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FEEDBACK</a:t>
                      </a:r>
                      <a:endParaRPr kumimoji="0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5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5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76000">
                <a:tc gridSpan="4">
                  <a:txBody>
                    <a:bodyPr/>
                    <a:lstStyle/>
                    <a:p>
                      <a:pPr marL="0" marR="0" lvl="0" indent="0" algn="l" defTabSz="852488" rtl="0" eaLnBrk="0" fontAlgn="base" latinLnBrk="1" hangingPunct="0">
                        <a:lnSpc>
                          <a:spcPct val="15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+mj-lt"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852488" rtl="0" eaLnBrk="0" fontAlgn="base" latinLnBrk="1" hangingPunct="0">
                        <a:lnSpc>
                          <a:spcPct val="15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+mj-lt"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8D73AEC-BE9B-B3C3-FBA3-68FC554D5BF9}"/>
              </a:ext>
            </a:extLst>
          </p:cNvPr>
          <p:cNvSpPr txBox="1"/>
          <p:nvPr/>
        </p:nvSpPr>
        <p:spPr bwMode="auto">
          <a:xfrm>
            <a:off x="3111471" y="878353"/>
            <a:ext cx="3161058" cy="33855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b="1" i="0">
                <a:solidFill>
                  <a:srgbClr val="11111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카카오뱅크 </a:t>
            </a:r>
            <a:r>
              <a:rPr lang="en-US" altLang="ko-KR" b="1" i="0">
                <a:solidFill>
                  <a:srgbClr val="11111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OTP POC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A68096-F1BA-9C43-C38D-36ED3493CD26}"/>
              </a:ext>
            </a:extLst>
          </p:cNvPr>
          <p:cNvSpPr txBox="1"/>
          <p:nvPr/>
        </p:nvSpPr>
        <p:spPr bwMode="auto">
          <a:xfrm>
            <a:off x="2779560" y="1216907"/>
            <a:ext cx="3824880" cy="21544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8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PC</a:t>
            </a:r>
            <a:r>
              <a:rPr lang="en-US" altLang="ko-KR" sz="8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/ Mobile Web</a:t>
            </a:r>
            <a:r>
              <a:rPr lang="ko-KR" altLang="en-US" sz="8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에</a:t>
            </a:r>
            <a:r>
              <a:rPr lang="ko-KR" altLang="en-US" sz="8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서 </a:t>
            </a:r>
            <a:r>
              <a:rPr lang="en-US" altLang="ko-KR" sz="8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OTP </a:t>
            </a:r>
            <a:r>
              <a:rPr lang="ko-KR" altLang="en-US" sz="8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인증을 요청하는 상황을 가정합니다</a:t>
            </a:r>
            <a:r>
              <a:rPr lang="en-US" altLang="ko-KR" sz="8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80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4891EDC9-9546-74DE-A66F-A0C1A0720403}"/>
              </a:ext>
            </a:extLst>
          </p:cNvPr>
          <p:cNvSpPr/>
          <p:nvPr/>
        </p:nvSpPr>
        <p:spPr>
          <a:xfrm>
            <a:off x="3308861" y="1604255"/>
            <a:ext cx="2808000" cy="3192745"/>
          </a:xfrm>
          <a:prstGeom prst="roundRect">
            <a:avLst>
              <a:gd name="adj" fmla="val 8346"/>
            </a:avLst>
          </a:prstGeom>
          <a:solidFill>
            <a:schemeClr val="bg1"/>
          </a:solidFill>
        </p:spPr>
        <p:txBody>
          <a:bodyPr wrap="square" rtlCol="0" anchor="ctr">
            <a:noAutofit/>
          </a:bodyPr>
          <a:lstStyle/>
          <a:p>
            <a:pPr algn="l"/>
            <a:endParaRPr kumimoji="0" lang="ko-KR" altLang="en-US" sz="9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B44C4C-C406-6D6C-DBC2-7FBD1CEBD509}"/>
              </a:ext>
            </a:extLst>
          </p:cNvPr>
          <p:cNvSpPr txBox="1"/>
          <p:nvPr/>
        </p:nvSpPr>
        <p:spPr bwMode="auto">
          <a:xfrm>
            <a:off x="3111471" y="1845058"/>
            <a:ext cx="3161058" cy="33855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금융 서비스</a:t>
            </a:r>
            <a:endParaRPr lang="en-US" altLang="ko-KR" i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D29E59-0271-DFD3-B1E3-00DF6F1B4709}"/>
              </a:ext>
            </a:extLst>
          </p:cNvPr>
          <p:cNvSpPr txBox="1"/>
          <p:nvPr/>
        </p:nvSpPr>
        <p:spPr bwMode="auto">
          <a:xfrm>
            <a:off x="2779560" y="2257214"/>
            <a:ext cx="3824880" cy="2308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9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은행</a:t>
            </a:r>
            <a:r>
              <a:rPr lang="en-US" altLang="ko-KR" sz="9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, </a:t>
            </a:r>
            <a:r>
              <a:rPr lang="ko-KR" altLang="en-US" sz="9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증권 등 금융 </a:t>
            </a:r>
            <a:r>
              <a:rPr lang="ko-KR" altLang="en-US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시스템</a:t>
            </a:r>
            <a:r>
              <a:rPr lang="ko-KR" altLang="en-US" sz="9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로그인</a:t>
            </a:r>
            <a:endParaRPr lang="ko-KR" altLang="en-US" sz="900"/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E8C096DE-545D-A454-C7E8-24B8BFF9AADF}"/>
              </a:ext>
            </a:extLst>
          </p:cNvPr>
          <p:cNvSpPr/>
          <p:nvPr/>
        </p:nvSpPr>
        <p:spPr>
          <a:xfrm>
            <a:off x="3828000" y="3203012"/>
            <a:ext cx="1728000" cy="398272"/>
          </a:xfrm>
          <a:prstGeom prst="roundRect">
            <a:avLst>
              <a:gd name="adj" fmla="val 30214"/>
            </a:avLst>
          </a:prstGeom>
          <a:solidFill>
            <a:srgbClr val="FEE500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80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PUSH</a:t>
            </a:r>
            <a:r>
              <a:rPr lang="ko-KR" altLang="en-US" sz="80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인증 요청</a:t>
            </a:r>
            <a:endParaRPr lang="ko-KR" altLang="en-US" sz="800" dirty="0" err="1">
              <a:solidFill>
                <a:srgbClr val="11111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2" name="사각형: 둥근 모서리 61">
            <a:extLst>
              <a:ext uri="{FF2B5EF4-FFF2-40B4-BE49-F238E27FC236}">
                <a16:creationId xmlns:a16="http://schemas.microsoft.com/office/drawing/2014/main" id="{BA36C18F-61DF-51A5-59D5-405EC123B00C}"/>
              </a:ext>
            </a:extLst>
          </p:cNvPr>
          <p:cNvSpPr/>
          <p:nvPr/>
        </p:nvSpPr>
        <p:spPr>
          <a:xfrm>
            <a:off x="3828000" y="2767498"/>
            <a:ext cx="1728000" cy="327273"/>
          </a:xfrm>
          <a:prstGeom prst="roundRect">
            <a:avLst>
              <a:gd name="adj" fmla="val 30214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75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r>
              <a:rPr lang="ko-KR" altLang="en-US" sz="700" b="0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사번을 입력하세요</a:t>
            </a:r>
            <a:endParaRPr lang="ko-KR" altLang="en-US" sz="700" b="0" dirty="0" err="1">
              <a:solidFill>
                <a:schemeClr val="bg1">
                  <a:lumMod val="6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94F3BCC3-775B-304A-78A4-CDDBC080219E}"/>
              </a:ext>
            </a:extLst>
          </p:cNvPr>
          <p:cNvSpPr txBox="1"/>
          <p:nvPr/>
        </p:nvSpPr>
        <p:spPr bwMode="auto">
          <a:xfrm>
            <a:off x="3954671" y="4117405"/>
            <a:ext cx="1474657" cy="21544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800" u="sng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다른 방식으로 본인인증 하기</a:t>
            </a:r>
            <a:endParaRPr lang="ko-KR" altLang="en-US" sz="800" u="sng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9B03DC0D-9F6D-0F27-2AD2-8D4FD084C929}"/>
              </a:ext>
            </a:extLst>
          </p:cNvPr>
          <p:cNvSpPr txBox="1"/>
          <p:nvPr/>
        </p:nvSpPr>
        <p:spPr bwMode="auto">
          <a:xfrm>
            <a:off x="3710615" y="3922333"/>
            <a:ext cx="1962769" cy="21544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800" b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본인 명의에 휴대폰이 없으신가요</a:t>
            </a:r>
            <a:r>
              <a:rPr lang="en-US" altLang="ko-KR" sz="800" b="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?</a:t>
            </a:r>
            <a:endParaRPr lang="ko-KR" altLang="en-US" sz="800" b="0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3B6EBC21-D03A-4399-6BF5-1CC3FD70D7B8}"/>
              </a:ext>
            </a:extLst>
          </p:cNvPr>
          <p:cNvGrpSpPr/>
          <p:nvPr/>
        </p:nvGrpSpPr>
        <p:grpSpPr>
          <a:xfrm>
            <a:off x="3308861" y="5373000"/>
            <a:ext cx="2808000" cy="1485001"/>
            <a:chOff x="3308861" y="5373000"/>
            <a:chExt cx="2808000" cy="1485001"/>
          </a:xfrm>
        </p:grpSpPr>
        <p:sp>
          <p:nvSpPr>
            <p:cNvPr id="3" name="사각형: 둥근 모서리 2">
              <a:extLst>
                <a:ext uri="{FF2B5EF4-FFF2-40B4-BE49-F238E27FC236}">
                  <a16:creationId xmlns:a16="http://schemas.microsoft.com/office/drawing/2014/main" id="{A8F48A00-CC9F-97BF-353F-8EBCC25E8379}"/>
                </a:ext>
              </a:extLst>
            </p:cNvPr>
            <p:cNvSpPr/>
            <p:nvPr/>
          </p:nvSpPr>
          <p:spPr>
            <a:xfrm>
              <a:off x="3308861" y="5373000"/>
              <a:ext cx="2808000" cy="1194745"/>
            </a:xfrm>
            <a:prstGeom prst="roundRect">
              <a:avLst>
                <a:gd name="adj" fmla="val 20592"/>
              </a:avLst>
            </a:prstGeom>
            <a:solidFill>
              <a:schemeClr val="bg1"/>
            </a:solidFill>
          </p:spPr>
          <p:txBody>
            <a:bodyPr wrap="square" rtlCol="0" anchor="ctr">
              <a:noAutofit/>
            </a:bodyPr>
            <a:lstStyle/>
            <a:p>
              <a:pPr algn="l"/>
              <a:endParaRPr kumimoji="0" lang="ko-KR" altLang="en-US" sz="9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53913D9B-8079-8035-D19F-3FEDA1D49B49}"/>
                </a:ext>
              </a:extLst>
            </p:cNvPr>
            <p:cNvSpPr/>
            <p:nvPr/>
          </p:nvSpPr>
          <p:spPr>
            <a:xfrm>
              <a:off x="3308861" y="5970373"/>
              <a:ext cx="2808000" cy="887628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</p:spPr>
          <p:txBody>
            <a:bodyPr wrap="square" rtlCol="0" anchor="ctr">
              <a:noAutofit/>
            </a:bodyPr>
            <a:lstStyle/>
            <a:p>
              <a:pPr algn="l"/>
              <a:endParaRPr kumimoji="0" lang="ko-KR" altLang="en-US" sz="9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2E6B168-8B79-541B-EAFE-2D5510B5297C}"/>
              </a:ext>
            </a:extLst>
          </p:cNvPr>
          <p:cNvSpPr txBox="1"/>
          <p:nvPr/>
        </p:nvSpPr>
        <p:spPr bwMode="auto">
          <a:xfrm>
            <a:off x="3111471" y="6060188"/>
            <a:ext cx="3161058" cy="33855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i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경영 서비스</a:t>
            </a:r>
            <a:endParaRPr lang="en-US" altLang="ko-KR" i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C1ABE3-F904-8308-8435-A3F277A8D35D}"/>
              </a:ext>
            </a:extLst>
          </p:cNvPr>
          <p:cNvSpPr txBox="1"/>
          <p:nvPr/>
        </p:nvSpPr>
        <p:spPr bwMode="auto">
          <a:xfrm>
            <a:off x="2779560" y="6393096"/>
            <a:ext cx="3824880" cy="2308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내부 경영</a:t>
            </a:r>
            <a:r>
              <a:rPr lang="en-US" altLang="ko-KR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업무 지원 시스템 로그인</a:t>
            </a:r>
            <a:endParaRPr lang="ko-KR" altLang="en-US" sz="90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43C6A89-717E-89FD-A1E1-E8BF54C5DB87}"/>
              </a:ext>
            </a:extLst>
          </p:cNvPr>
          <p:cNvSpPr/>
          <p:nvPr/>
        </p:nvSpPr>
        <p:spPr>
          <a:xfrm>
            <a:off x="3731476" y="4088461"/>
            <a:ext cx="1962769" cy="376265"/>
          </a:xfrm>
          <a:prstGeom prst="rect">
            <a:avLst/>
          </a:prstGeom>
          <a:noFill/>
          <a:ln>
            <a:solidFill>
              <a:srgbClr val="00B050"/>
            </a:solidFill>
            <a:prstDash val="sysDot"/>
          </a:ln>
        </p:spPr>
        <p:txBody>
          <a:bodyPr wrap="square" rtlCol="0" anchor="ctr">
            <a:noAutofit/>
          </a:bodyPr>
          <a:lstStyle/>
          <a:p>
            <a:pPr algn="l"/>
            <a:endParaRPr kumimoji="0" lang="ko-KR" altLang="en-US" sz="9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모서리가 둥근 직사각형 209">
            <a:extLst>
              <a:ext uri="{FF2B5EF4-FFF2-40B4-BE49-F238E27FC236}">
                <a16:creationId xmlns:a16="http://schemas.microsoft.com/office/drawing/2014/main" id="{F7AEE476-DF48-4B18-03BC-7A3EFC7E229B}"/>
              </a:ext>
            </a:extLst>
          </p:cNvPr>
          <p:cNvSpPr/>
          <p:nvPr/>
        </p:nvSpPr>
        <p:spPr>
          <a:xfrm>
            <a:off x="3632981" y="4083658"/>
            <a:ext cx="321690" cy="1661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700" b="0">
                <a:latin typeface="+mn-ea"/>
              </a:rPr>
              <a:t>1-1</a:t>
            </a:r>
            <a:endParaRPr lang="ko-KR" altLang="en-US" sz="700" b="0" dirty="0">
              <a:latin typeface="+mn-ea"/>
            </a:endParaRP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3254BF0-F501-EA18-91A3-18CC620DBE80}"/>
              </a:ext>
            </a:extLst>
          </p:cNvPr>
          <p:cNvSpPr/>
          <p:nvPr/>
        </p:nvSpPr>
        <p:spPr>
          <a:xfrm>
            <a:off x="3361473" y="1660457"/>
            <a:ext cx="2636750" cy="3064543"/>
          </a:xfrm>
          <a:prstGeom prst="rect">
            <a:avLst/>
          </a:prstGeom>
          <a:noFill/>
          <a:ln>
            <a:solidFill>
              <a:srgbClr val="00B050"/>
            </a:solidFill>
            <a:prstDash val="sysDot"/>
          </a:ln>
        </p:spPr>
        <p:txBody>
          <a:bodyPr wrap="square" rtlCol="0" anchor="ctr">
            <a:noAutofit/>
          </a:bodyPr>
          <a:lstStyle/>
          <a:p>
            <a:pPr algn="l"/>
            <a:endParaRPr kumimoji="0" lang="ko-KR" altLang="en-US" sz="9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모서리가 둥근 직사각형 209">
            <a:extLst>
              <a:ext uri="{FF2B5EF4-FFF2-40B4-BE49-F238E27FC236}">
                <a16:creationId xmlns:a16="http://schemas.microsoft.com/office/drawing/2014/main" id="{09284860-E228-5C07-70AE-902F5BFB65B0}"/>
              </a:ext>
            </a:extLst>
          </p:cNvPr>
          <p:cNvSpPr/>
          <p:nvPr/>
        </p:nvSpPr>
        <p:spPr>
          <a:xfrm>
            <a:off x="3361473" y="1667862"/>
            <a:ext cx="231272" cy="1661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700" b="0">
                <a:latin typeface="+mn-ea"/>
              </a:rPr>
              <a:t>1</a:t>
            </a:r>
            <a:endParaRPr lang="ko-KR" altLang="en-US" sz="700" b="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308261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B4CF3-61A8-1788-3134-B4F60EB4A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D6EAEB47-8F4C-B973-EA99-611F84A29C0E}"/>
              </a:ext>
            </a:extLst>
          </p:cNvPr>
          <p:cNvSpPr/>
          <p:nvPr/>
        </p:nvSpPr>
        <p:spPr>
          <a:xfrm>
            <a:off x="0" y="520961"/>
            <a:ext cx="9467081" cy="6337039"/>
          </a:xfrm>
          <a:prstGeom prst="rect">
            <a:avLst/>
          </a:prstGeom>
          <a:solidFill>
            <a:srgbClr val="FEE500"/>
          </a:solidFill>
        </p:spPr>
        <p:txBody>
          <a:bodyPr wrap="square" rtlCol="0" anchor="ctr">
            <a:noAutofit/>
          </a:bodyPr>
          <a:lstStyle/>
          <a:p>
            <a:pPr algn="l"/>
            <a:endParaRPr kumimoji="0" lang="ko-KR" altLang="en-US" sz="9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7" name="텍스트 개체 틀 28">
            <a:extLst>
              <a:ext uri="{FF2B5EF4-FFF2-40B4-BE49-F238E27FC236}">
                <a16:creationId xmlns:a16="http://schemas.microsoft.com/office/drawing/2014/main" id="{4FFAFACA-10B7-5D95-67E8-360DDF1269F8}"/>
              </a:ext>
            </a:extLst>
          </p:cNvPr>
          <p:cNvSpPr txBox="1">
            <a:spLocks/>
          </p:cNvSpPr>
          <p:nvPr/>
        </p:nvSpPr>
        <p:spPr>
          <a:xfrm>
            <a:off x="1225975" y="20616"/>
            <a:ext cx="2160000" cy="180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[ATON] </a:t>
            </a:r>
            <a:r>
              <a:rPr lang="ko-KR" altLang="en-US"/>
              <a:t>카카오뱅크 </a:t>
            </a:r>
            <a:r>
              <a:rPr lang="en-US" altLang="ko-KR"/>
              <a:t>OTP POC</a:t>
            </a:r>
            <a:endParaRPr lang="ko-KR" altLang="en-US"/>
          </a:p>
        </p:txBody>
      </p:sp>
      <p:sp>
        <p:nvSpPr>
          <p:cNvPr id="214" name="텍스트 개체 틀 28">
            <a:extLst>
              <a:ext uri="{FF2B5EF4-FFF2-40B4-BE49-F238E27FC236}">
                <a16:creationId xmlns:a16="http://schemas.microsoft.com/office/drawing/2014/main" id="{32A1930F-5BE0-AF1D-0A8F-849BF7BA9CDD}"/>
              </a:ext>
            </a:extLst>
          </p:cNvPr>
          <p:cNvSpPr txBox="1">
            <a:spLocks/>
          </p:cNvSpPr>
          <p:nvPr/>
        </p:nvSpPr>
        <p:spPr>
          <a:xfrm>
            <a:off x="1235500" y="252000"/>
            <a:ext cx="2160000" cy="180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ko-KR" altLang="en-US" b="0"/>
              <a:t>임시 </a:t>
            </a:r>
            <a:r>
              <a:rPr kumimoji="0" lang="en-US" altLang="ko-KR" b="0"/>
              <a:t>OTP </a:t>
            </a:r>
            <a:r>
              <a:rPr kumimoji="0" lang="ko-KR" altLang="en-US" b="0"/>
              <a:t>인증 화면</a:t>
            </a:r>
            <a:endParaRPr kumimoji="0" lang="en-US" altLang="ko-KR" b="0" dirty="0"/>
          </a:p>
        </p:txBody>
      </p:sp>
      <p:sp>
        <p:nvSpPr>
          <p:cNvPr id="228" name="텍스트 개체 틀 28">
            <a:extLst>
              <a:ext uri="{FF2B5EF4-FFF2-40B4-BE49-F238E27FC236}">
                <a16:creationId xmlns:a16="http://schemas.microsoft.com/office/drawing/2014/main" id="{EBD0FA34-1252-91DD-457C-B0D615B9CFE2}"/>
              </a:ext>
            </a:extLst>
          </p:cNvPr>
          <p:cNvSpPr txBox="1">
            <a:spLocks/>
          </p:cNvSpPr>
          <p:nvPr/>
        </p:nvSpPr>
        <p:spPr>
          <a:xfrm>
            <a:off x="4751298" y="252000"/>
            <a:ext cx="1080000" cy="180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b="0" dirty="0">
              <a:solidFill>
                <a:srgbClr val="000000"/>
              </a:solidFill>
            </a:endParaRPr>
          </a:p>
        </p:txBody>
      </p:sp>
      <p:sp>
        <p:nvSpPr>
          <p:cNvPr id="235" name="텍스트 개체 틀 28">
            <a:extLst>
              <a:ext uri="{FF2B5EF4-FFF2-40B4-BE49-F238E27FC236}">
                <a16:creationId xmlns:a16="http://schemas.microsoft.com/office/drawing/2014/main" id="{C97A2F92-8872-877D-8626-505E8DAAAE9A}"/>
              </a:ext>
            </a:extLst>
          </p:cNvPr>
          <p:cNvSpPr txBox="1">
            <a:spLocks/>
          </p:cNvSpPr>
          <p:nvPr/>
        </p:nvSpPr>
        <p:spPr>
          <a:xfrm>
            <a:off x="7088981" y="252000"/>
            <a:ext cx="2340000" cy="180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b="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A8DDC3E-1074-DD72-B082-C6586B42ED6D}"/>
              </a:ext>
            </a:extLst>
          </p:cNvPr>
          <p:cNvSpPr/>
          <p:nvPr/>
        </p:nvSpPr>
        <p:spPr bwMode="auto">
          <a:xfrm>
            <a:off x="4712861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1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EBACD20-A5AE-D593-D8C7-5ADF999C3D8C}"/>
              </a:ext>
            </a:extLst>
          </p:cNvPr>
          <p:cNvSpPr/>
          <p:nvPr/>
        </p:nvSpPr>
        <p:spPr bwMode="auto">
          <a:xfrm>
            <a:off x="5927042" y="0"/>
            <a:ext cx="294701" cy="21938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2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E0913DA-ADF4-CB6B-0FC3-D83BA68B3E34}"/>
              </a:ext>
            </a:extLst>
          </p:cNvPr>
          <p:cNvSpPr/>
          <p:nvPr/>
        </p:nvSpPr>
        <p:spPr bwMode="auto">
          <a:xfrm>
            <a:off x="7059464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3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F86FC3BF-5F16-423D-0B61-B59040CA6498}"/>
              </a:ext>
            </a:extLst>
          </p:cNvPr>
          <p:cNvSpPr/>
          <p:nvPr/>
        </p:nvSpPr>
        <p:spPr bwMode="auto">
          <a:xfrm>
            <a:off x="8264807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4</a:t>
            </a:r>
            <a:r>
              <a:rPr kumimoji="1" lang="en-US" altLang="ko-KR" sz="6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</a:t>
            </a: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6136608-2BD0-7DD7-67D5-8D73F80E63F0}"/>
              </a:ext>
            </a:extLst>
          </p:cNvPr>
          <p:cNvSpPr/>
          <p:nvPr/>
        </p:nvSpPr>
        <p:spPr bwMode="auto">
          <a:xfrm>
            <a:off x="9467081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5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BC4F716-8014-A9D3-6071-F20DD26D815B}"/>
              </a:ext>
            </a:extLst>
          </p:cNvPr>
          <p:cNvSpPr/>
          <p:nvPr/>
        </p:nvSpPr>
        <p:spPr bwMode="auto">
          <a:xfrm>
            <a:off x="10574936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6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69" name="텍스트 개체 틀 28">
            <a:extLst>
              <a:ext uri="{FF2B5EF4-FFF2-40B4-BE49-F238E27FC236}">
                <a16:creationId xmlns:a16="http://schemas.microsoft.com/office/drawing/2014/main" id="{BE0AA6DE-D492-A21A-EE2C-40968B4A2D99}"/>
              </a:ext>
            </a:extLst>
          </p:cNvPr>
          <p:cNvSpPr txBox="1">
            <a:spLocks/>
          </p:cNvSpPr>
          <p:nvPr/>
        </p:nvSpPr>
        <p:spPr>
          <a:xfrm>
            <a:off x="10612354" y="252000"/>
            <a:ext cx="1080000" cy="16977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0"/>
              <a:t>2025-12-12</a:t>
            </a:r>
            <a:endParaRPr lang="ko-KR" altLang="en-US" b="0"/>
          </a:p>
        </p:txBody>
      </p:sp>
      <p:graphicFrame>
        <p:nvGraphicFramePr>
          <p:cNvPr id="126" name="Group 87">
            <a:extLst>
              <a:ext uri="{FF2B5EF4-FFF2-40B4-BE49-F238E27FC236}">
                <a16:creationId xmlns:a16="http://schemas.microsoft.com/office/drawing/2014/main" id="{B11F17E0-DBC4-416D-D0A7-26E130FC56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7109903"/>
              </p:ext>
            </p:extLst>
          </p:nvPr>
        </p:nvGraphicFramePr>
        <p:xfrm>
          <a:off x="9491386" y="520961"/>
          <a:ext cx="2698234" cy="3174412"/>
        </p:xfrm>
        <a:graphic>
          <a:graphicData uri="http://schemas.openxmlformats.org/drawingml/2006/table">
            <a:tbl>
              <a:tblPr/>
              <a:tblGrid>
                <a:gridCol w="1743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3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5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40">
                <a:tc gridSpan="2"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No.</a:t>
                      </a:r>
                      <a:endParaRPr kumimoji="0" lang="ko-KR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ko-KR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Component</a:t>
                      </a:r>
                      <a:endParaRPr kumimoji="0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Descriptions</a:t>
                      </a:r>
                      <a:endParaRPr kumimoji="0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069"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600" dirty="0">
                        <a:latin typeface="+mn-ea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임시 </a:t>
                      </a:r>
                      <a:r>
                        <a:rPr kumimoji="0" lang="en-US" altLang="ko-KR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OTP PIN</a:t>
                      </a:r>
                      <a:r>
                        <a:rPr kumimoji="0" lang="ko-KR" altLang="en-US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인증 페이지 </a:t>
                      </a:r>
                      <a:endParaRPr kumimoji="0" lang="en-US" altLang="ko-KR" sz="6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1803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Input box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6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이름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|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사번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OR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휴대폰번호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2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항목 미입력 후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1-2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버튼 클릭 시 </a:t>
                      </a:r>
                      <a:r>
                        <a:rPr kumimoji="0" lang="ko-KR" altLang="en-US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이름을 입력해주세요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확인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]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Alert </a:t>
                      </a: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0" lang="ko-KR" altLang="en-US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사번 또는 휴대폰 번호를 입력해주세요 </a:t>
                      </a:r>
                      <a:r>
                        <a:rPr kumimoji="0" lang="en-US" altLang="ko-KR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확인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]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Alert </a:t>
                      </a:r>
                    </a:p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57140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Button</a:t>
                      </a:r>
                      <a:endParaRPr kumimoji="0" lang="en-US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1-1 </a:t>
                      </a:r>
                      <a:r>
                        <a:rPr kumimoji="0" lang="ko-KR" altLang="en-US" sz="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항목 정상적으로 입력 후 </a:t>
                      </a:r>
                      <a:r>
                        <a:rPr kumimoji="0" lang="en-US" altLang="ko-KR" sz="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[OTP PIN </a:t>
                      </a:r>
                      <a:r>
                        <a:rPr kumimoji="0" lang="ko-KR" altLang="en-US" sz="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인증</a:t>
                      </a:r>
                      <a:r>
                        <a:rPr kumimoji="0" lang="en-US" altLang="ko-KR" sz="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] </a:t>
                      </a:r>
                      <a:r>
                        <a:rPr kumimoji="0" lang="ko-KR" altLang="en-US" sz="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버튼 입력 시 임시 </a:t>
                      </a:r>
                      <a:r>
                        <a:rPr kumimoji="0" lang="en-US" altLang="ko-KR" sz="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OTP </a:t>
                      </a:r>
                      <a:r>
                        <a:rPr kumimoji="0" lang="ko-KR" altLang="en-US" sz="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인증 승인 대기 페이지로 이동  </a:t>
                      </a:r>
                      <a:endParaRPr kumimoji="0" lang="en-US" altLang="ko-KR" sz="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5434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Button</a:t>
                      </a: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1-3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버튼 클릭 시 초기 페이지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(P11)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페이지로 전환</a:t>
                      </a:r>
                      <a:endParaRPr kumimoji="0" lang="en-US" altLang="ko-KR" sz="6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4872046"/>
                  </a:ext>
                </a:extLst>
              </a:tr>
              <a:tr h="285223">
                <a:tc gridSpan="4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REMARK</a:t>
                      </a: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9557">
                <a:tc gridSpan="4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5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5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5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5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6896">
                <a:tc gridSpan="4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FEEDBACK</a:t>
                      </a:r>
                      <a:endParaRPr kumimoji="0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5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5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12700" cmpd="sng">
                      <a:noFill/>
                      <a:prstDash val="solid"/>
                    </a:lnL>
                    <a:lnT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76000">
                <a:tc gridSpan="4">
                  <a:txBody>
                    <a:bodyPr/>
                    <a:lstStyle/>
                    <a:p>
                      <a:pPr marL="0" marR="0" lvl="0" indent="0" algn="l" defTabSz="852488" rtl="0" eaLnBrk="0" fontAlgn="base" latinLnBrk="1" hangingPunct="0">
                        <a:lnSpc>
                          <a:spcPct val="15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+mj-lt"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852488" rtl="0" eaLnBrk="0" fontAlgn="base" latinLnBrk="1" hangingPunct="0">
                        <a:lnSpc>
                          <a:spcPct val="15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+mj-lt"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A7CA1ED-BE43-E120-3859-5B9D65DE342E}"/>
              </a:ext>
            </a:extLst>
          </p:cNvPr>
          <p:cNvSpPr txBox="1"/>
          <p:nvPr/>
        </p:nvSpPr>
        <p:spPr bwMode="auto">
          <a:xfrm>
            <a:off x="3111471" y="878353"/>
            <a:ext cx="3161058" cy="33855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b="1" i="0">
                <a:solidFill>
                  <a:srgbClr val="11111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카카오뱅크 </a:t>
            </a:r>
            <a:r>
              <a:rPr lang="en-US" altLang="ko-KR" b="1" i="0">
                <a:solidFill>
                  <a:srgbClr val="11111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OTP POC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B16E6D-D1F3-5B22-E24B-4A6D1A7E3766}"/>
              </a:ext>
            </a:extLst>
          </p:cNvPr>
          <p:cNvSpPr txBox="1"/>
          <p:nvPr/>
        </p:nvSpPr>
        <p:spPr bwMode="auto">
          <a:xfrm>
            <a:off x="2779560" y="1216907"/>
            <a:ext cx="3824880" cy="21544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8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PC</a:t>
            </a:r>
            <a:r>
              <a:rPr lang="en-US" altLang="ko-KR" sz="8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/ Mobile Web</a:t>
            </a:r>
            <a:r>
              <a:rPr lang="ko-KR" altLang="en-US" sz="8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에</a:t>
            </a:r>
            <a:r>
              <a:rPr lang="ko-KR" altLang="en-US" sz="8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서 </a:t>
            </a:r>
            <a:r>
              <a:rPr lang="en-US" altLang="ko-KR" sz="8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OTP </a:t>
            </a:r>
            <a:r>
              <a:rPr lang="ko-KR" altLang="en-US" sz="8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인증을 요청하는 상황을 가정합니다</a:t>
            </a:r>
            <a:r>
              <a:rPr lang="en-US" altLang="ko-KR" sz="8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80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9AD95F4D-7AF6-5C4D-58F1-88747F6BC6F5}"/>
              </a:ext>
            </a:extLst>
          </p:cNvPr>
          <p:cNvSpPr/>
          <p:nvPr/>
        </p:nvSpPr>
        <p:spPr>
          <a:xfrm>
            <a:off x="3308861" y="1604255"/>
            <a:ext cx="2808000" cy="3192745"/>
          </a:xfrm>
          <a:prstGeom prst="roundRect">
            <a:avLst>
              <a:gd name="adj" fmla="val 8346"/>
            </a:avLst>
          </a:prstGeom>
          <a:solidFill>
            <a:schemeClr val="bg1"/>
          </a:solidFill>
        </p:spPr>
        <p:txBody>
          <a:bodyPr wrap="square" rtlCol="0" anchor="ctr">
            <a:noAutofit/>
          </a:bodyPr>
          <a:lstStyle/>
          <a:p>
            <a:pPr algn="l"/>
            <a:endParaRPr kumimoji="0" lang="ko-KR" altLang="en-US" sz="9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3DC95BEA-ECA3-1BCE-6580-2AD335A0E92E}"/>
              </a:ext>
            </a:extLst>
          </p:cNvPr>
          <p:cNvSpPr/>
          <p:nvPr/>
        </p:nvSpPr>
        <p:spPr>
          <a:xfrm>
            <a:off x="3824016" y="3810456"/>
            <a:ext cx="1728000" cy="398272"/>
          </a:xfrm>
          <a:prstGeom prst="roundRect">
            <a:avLst>
              <a:gd name="adj" fmla="val 30214"/>
            </a:avLst>
          </a:prstGeom>
          <a:solidFill>
            <a:srgbClr val="FEE500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80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OTP PIN </a:t>
            </a:r>
            <a:r>
              <a:rPr lang="ko-KR" altLang="en-US" sz="80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인증</a:t>
            </a:r>
            <a:endParaRPr lang="ko-KR" altLang="en-US" sz="800" dirty="0" err="1">
              <a:solidFill>
                <a:srgbClr val="11111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D7CCBE7B-00F7-C39B-C4ED-B050D0A9EB98}"/>
              </a:ext>
            </a:extLst>
          </p:cNvPr>
          <p:cNvGrpSpPr/>
          <p:nvPr/>
        </p:nvGrpSpPr>
        <p:grpSpPr>
          <a:xfrm>
            <a:off x="3824016" y="2817040"/>
            <a:ext cx="1728000" cy="755960"/>
            <a:chOff x="3824016" y="2463014"/>
            <a:chExt cx="1728000" cy="755960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C523261B-C166-3D6A-04BF-2DB9934C9D81}"/>
                </a:ext>
              </a:extLst>
            </p:cNvPr>
            <p:cNvSpPr/>
            <p:nvPr/>
          </p:nvSpPr>
          <p:spPr>
            <a:xfrm>
              <a:off x="3824016" y="2891701"/>
              <a:ext cx="1728000" cy="327273"/>
            </a:xfrm>
            <a:prstGeom prst="roundRect">
              <a:avLst>
                <a:gd name="adj" fmla="val 30214"/>
              </a:avLst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 anchor="ctr">
              <a:noAutofit/>
            </a:bodyPr>
            <a:lstStyle/>
            <a:p>
              <a:r>
                <a:rPr lang="ko-KR" altLang="en-US" sz="700" b="0">
                  <a:solidFill>
                    <a:schemeClr val="bg1">
                      <a:lumMod val="6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사번 또는 휴대폰 번호를 입력하세요</a:t>
              </a:r>
              <a:r>
                <a:rPr lang="en-US" altLang="ko-KR" sz="700" b="0">
                  <a:solidFill>
                    <a:schemeClr val="bg1">
                      <a:lumMod val="6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.</a:t>
              </a:r>
              <a:endParaRPr lang="ko-KR" altLang="en-US" sz="700" b="0" dirty="0" err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sp>
          <p:nvSpPr>
            <p:cNvPr id="20" name="사각형: 둥근 모서리 19">
              <a:extLst>
                <a:ext uri="{FF2B5EF4-FFF2-40B4-BE49-F238E27FC236}">
                  <a16:creationId xmlns:a16="http://schemas.microsoft.com/office/drawing/2014/main" id="{8FD388EB-BDF2-01CD-132D-A8E0673351DA}"/>
                </a:ext>
              </a:extLst>
            </p:cNvPr>
            <p:cNvSpPr/>
            <p:nvPr/>
          </p:nvSpPr>
          <p:spPr>
            <a:xfrm>
              <a:off x="3824016" y="2463014"/>
              <a:ext cx="1728000" cy="327273"/>
            </a:xfrm>
            <a:prstGeom prst="roundRect">
              <a:avLst>
                <a:gd name="adj" fmla="val 30214"/>
              </a:avLst>
            </a:prstGeom>
            <a:solidFill>
              <a:schemeClr val="bg1">
                <a:lumMod val="95000"/>
              </a:schemeClr>
            </a:solidFill>
            <a:ln w="6350">
              <a:solidFill>
                <a:schemeClr val="bg1">
                  <a:lumMod val="75000"/>
                </a:schemeClr>
              </a:solidFill>
            </a:ln>
          </p:spPr>
          <p:txBody>
            <a:bodyPr wrap="square" rtlCol="0" anchor="ctr">
              <a:noAutofit/>
            </a:bodyPr>
            <a:lstStyle/>
            <a:p>
              <a:r>
                <a:rPr lang="ko-KR" altLang="en-US" sz="700" b="0">
                  <a:solidFill>
                    <a:schemeClr val="bg1">
                      <a:lumMod val="6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이름을</a:t>
              </a:r>
              <a:r>
                <a:rPr lang="en-US" altLang="ko-KR" sz="700" b="0">
                  <a:solidFill>
                    <a:schemeClr val="bg1">
                      <a:lumMod val="6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</a:t>
              </a:r>
              <a:r>
                <a:rPr lang="ko-KR" altLang="en-US" sz="700" b="0">
                  <a:solidFill>
                    <a:schemeClr val="bg1">
                      <a:lumMod val="6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 입력해주세요</a:t>
              </a:r>
              <a:r>
                <a:rPr lang="en-US" altLang="ko-KR" sz="700" b="0">
                  <a:solidFill>
                    <a:schemeClr val="bg1">
                      <a:lumMod val="6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.</a:t>
              </a:r>
              <a:endParaRPr lang="ko-KR" altLang="en-US" sz="700" b="0" dirty="0" err="1">
                <a:solidFill>
                  <a:schemeClr val="bg1">
                    <a:lumMod val="6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0461B62C-75A1-7113-8D30-6BF2F3CA9723}"/>
              </a:ext>
            </a:extLst>
          </p:cNvPr>
          <p:cNvSpPr txBox="1"/>
          <p:nvPr/>
        </p:nvSpPr>
        <p:spPr bwMode="auto">
          <a:xfrm>
            <a:off x="3954671" y="4341686"/>
            <a:ext cx="1474657" cy="21544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800" u="sng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PUSH</a:t>
            </a:r>
            <a:r>
              <a:rPr lang="ko-KR" altLang="en-US" sz="800" u="sng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인증 요청</a:t>
            </a:r>
            <a:endParaRPr lang="ko-KR" altLang="en-US" sz="800" u="sng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F638D27-7F56-ECBD-41DC-750A9E9C085B}"/>
              </a:ext>
            </a:extLst>
          </p:cNvPr>
          <p:cNvSpPr txBox="1"/>
          <p:nvPr/>
        </p:nvSpPr>
        <p:spPr bwMode="auto">
          <a:xfrm>
            <a:off x="3385778" y="1967337"/>
            <a:ext cx="2612445" cy="2308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임시 </a:t>
            </a:r>
            <a:r>
              <a:rPr lang="en-US" altLang="ko-KR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OTP </a:t>
            </a:r>
            <a:r>
              <a:rPr lang="ko-KR" altLang="en-US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인증을 위해 정보를 입력해주세요</a:t>
            </a:r>
            <a:r>
              <a:rPr lang="en-US" altLang="ko-KR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F93575B1-9DA7-9AA2-3006-3069BDCD7364}"/>
              </a:ext>
            </a:extLst>
          </p:cNvPr>
          <p:cNvGrpSpPr/>
          <p:nvPr/>
        </p:nvGrpSpPr>
        <p:grpSpPr>
          <a:xfrm>
            <a:off x="3308861" y="5373000"/>
            <a:ext cx="2808000" cy="1485001"/>
            <a:chOff x="3308861" y="5373000"/>
            <a:chExt cx="2808000" cy="1485001"/>
          </a:xfrm>
        </p:grpSpPr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C6586644-E061-4BC0-64FD-27B085DEFFD7}"/>
                </a:ext>
              </a:extLst>
            </p:cNvPr>
            <p:cNvSpPr/>
            <p:nvPr/>
          </p:nvSpPr>
          <p:spPr>
            <a:xfrm>
              <a:off x="3308861" y="5373000"/>
              <a:ext cx="2808000" cy="1194745"/>
            </a:xfrm>
            <a:prstGeom prst="roundRect">
              <a:avLst>
                <a:gd name="adj" fmla="val 20592"/>
              </a:avLst>
            </a:prstGeom>
            <a:solidFill>
              <a:schemeClr val="bg1"/>
            </a:solidFill>
          </p:spPr>
          <p:txBody>
            <a:bodyPr wrap="square" rtlCol="0" anchor="ctr">
              <a:noAutofit/>
            </a:bodyPr>
            <a:lstStyle/>
            <a:p>
              <a:pPr algn="l"/>
              <a:endParaRPr kumimoji="0" lang="ko-KR" altLang="en-US" sz="9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7B4D8F15-BB90-1DBC-E7A9-EB79D47800DE}"/>
                </a:ext>
              </a:extLst>
            </p:cNvPr>
            <p:cNvSpPr/>
            <p:nvPr/>
          </p:nvSpPr>
          <p:spPr>
            <a:xfrm>
              <a:off x="3308861" y="5970373"/>
              <a:ext cx="2808000" cy="887628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</p:spPr>
          <p:txBody>
            <a:bodyPr wrap="square" rtlCol="0" anchor="ctr">
              <a:noAutofit/>
            </a:bodyPr>
            <a:lstStyle/>
            <a:p>
              <a:pPr algn="l"/>
              <a:endParaRPr kumimoji="0" lang="ko-KR" altLang="en-US" sz="9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4CC839A0-6AA9-93B8-554A-2587C79A54B2}"/>
              </a:ext>
            </a:extLst>
          </p:cNvPr>
          <p:cNvSpPr txBox="1"/>
          <p:nvPr/>
        </p:nvSpPr>
        <p:spPr bwMode="auto">
          <a:xfrm>
            <a:off x="3111471" y="6060188"/>
            <a:ext cx="3161058" cy="33855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i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경영 서비스</a:t>
            </a:r>
            <a:endParaRPr lang="en-US" altLang="ko-KR" i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1F46132-07BA-040A-61FD-D846A13D4E67}"/>
              </a:ext>
            </a:extLst>
          </p:cNvPr>
          <p:cNvSpPr txBox="1"/>
          <p:nvPr/>
        </p:nvSpPr>
        <p:spPr bwMode="auto">
          <a:xfrm>
            <a:off x="2779560" y="6393096"/>
            <a:ext cx="3824880" cy="2308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내부 경영</a:t>
            </a:r>
            <a:r>
              <a:rPr lang="en-US" altLang="ko-KR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업무 지원 시스템 로그인</a:t>
            </a:r>
            <a:endParaRPr lang="ko-KR" altLang="en-US" sz="90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7C10E96C-14C2-DB06-90A8-AAEABADD5ABC}"/>
              </a:ext>
            </a:extLst>
          </p:cNvPr>
          <p:cNvSpPr/>
          <p:nvPr/>
        </p:nvSpPr>
        <p:spPr>
          <a:xfrm>
            <a:off x="3361473" y="1660457"/>
            <a:ext cx="2636750" cy="3064543"/>
          </a:xfrm>
          <a:prstGeom prst="rect">
            <a:avLst/>
          </a:prstGeom>
          <a:noFill/>
          <a:ln>
            <a:solidFill>
              <a:srgbClr val="00B050"/>
            </a:solidFill>
            <a:prstDash val="sysDot"/>
          </a:ln>
        </p:spPr>
        <p:txBody>
          <a:bodyPr wrap="square" rtlCol="0" anchor="ctr">
            <a:noAutofit/>
          </a:bodyPr>
          <a:lstStyle/>
          <a:p>
            <a:pPr algn="l"/>
            <a:endParaRPr kumimoji="0" lang="ko-KR" altLang="en-US" sz="9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모서리가 둥근 직사각형 209">
            <a:extLst>
              <a:ext uri="{FF2B5EF4-FFF2-40B4-BE49-F238E27FC236}">
                <a16:creationId xmlns:a16="http://schemas.microsoft.com/office/drawing/2014/main" id="{80C5B6E6-37B0-F55A-0924-257B7638FA2D}"/>
              </a:ext>
            </a:extLst>
          </p:cNvPr>
          <p:cNvSpPr/>
          <p:nvPr/>
        </p:nvSpPr>
        <p:spPr>
          <a:xfrm>
            <a:off x="3361473" y="1667862"/>
            <a:ext cx="231272" cy="1661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700" b="0">
                <a:latin typeface="+mn-ea"/>
              </a:rPr>
              <a:t>1</a:t>
            </a:r>
            <a:endParaRPr lang="ko-KR" altLang="en-US" sz="700" b="0" dirty="0">
              <a:latin typeface="+mn-ea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7DF0CE4-BAAA-33CB-8514-63D6034D4A0D}"/>
              </a:ext>
            </a:extLst>
          </p:cNvPr>
          <p:cNvSpPr/>
          <p:nvPr/>
        </p:nvSpPr>
        <p:spPr>
          <a:xfrm>
            <a:off x="3681513" y="2666298"/>
            <a:ext cx="1982487" cy="975156"/>
          </a:xfrm>
          <a:prstGeom prst="rect">
            <a:avLst/>
          </a:prstGeom>
          <a:noFill/>
          <a:ln>
            <a:solidFill>
              <a:srgbClr val="00B050"/>
            </a:solidFill>
            <a:prstDash val="sysDot"/>
          </a:ln>
        </p:spPr>
        <p:txBody>
          <a:bodyPr wrap="square" rtlCol="0" anchor="ctr">
            <a:noAutofit/>
          </a:bodyPr>
          <a:lstStyle/>
          <a:p>
            <a:pPr algn="l"/>
            <a:endParaRPr kumimoji="0" lang="ko-KR" altLang="en-US" sz="9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모서리가 둥근 직사각형 209">
            <a:extLst>
              <a:ext uri="{FF2B5EF4-FFF2-40B4-BE49-F238E27FC236}">
                <a16:creationId xmlns:a16="http://schemas.microsoft.com/office/drawing/2014/main" id="{D7CAE767-2354-6ADB-2468-57306B009CE2}"/>
              </a:ext>
            </a:extLst>
          </p:cNvPr>
          <p:cNvSpPr/>
          <p:nvPr/>
        </p:nvSpPr>
        <p:spPr>
          <a:xfrm>
            <a:off x="3681512" y="2673702"/>
            <a:ext cx="326487" cy="1661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700" b="0">
                <a:latin typeface="+mn-ea"/>
              </a:rPr>
              <a:t>1-1</a:t>
            </a:r>
            <a:endParaRPr lang="ko-KR" altLang="en-US" sz="700" b="0" dirty="0">
              <a:latin typeface="+mn-ea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990A978-6067-D285-88EF-BFE0071DA64A}"/>
              </a:ext>
            </a:extLst>
          </p:cNvPr>
          <p:cNvSpPr/>
          <p:nvPr/>
        </p:nvSpPr>
        <p:spPr>
          <a:xfrm>
            <a:off x="3681513" y="3697538"/>
            <a:ext cx="1982487" cy="562650"/>
          </a:xfrm>
          <a:prstGeom prst="rect">
            <a:avLst/>
          </a:prstGeom>
          <a:noFill/>
          <a:ln>
            <a:solidFill>
              <a:srgbClr val="00B050"/>
            </a:solidFill>
            <a:prstDash val="sysDot"/>
          </a:ln>
        </p:spPr>
        <p:txBody>
          <a:bodyPr wrap="square" rtlCol="0" anchor="ctr">
            <a:noAutofit/>
          </a:bodyPr>
          <a:lstStyle/>
          <a:p>
            <a:pPr algn="l"/>
            <a:endParaRPr kumimoji="0" lang="ko-KR" altLang="en-US" sz="9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모서리가 둥근 직사각형 209">
            <a:extLst>
              <a:ext uri="{FF2B5EF4-FFF2-40B4-BE49-F238E27FC236}">
                <a16:creationId xmlns:a16="http://schemas.microsoft.com/office/drawing/2014/main" id="{F92F646B-0874-B888-6FD9-5A49F89C5A2D}"/>
              </a:ext>
            </a:extLst>
          </p:cNvPr>
          <p:cNvSpPr/>
          <p:nvPr/>
        </p:nvSpPr>
        <p:spPr>
          <a:xfrm>
            <a:off x="3681512" y="3704942"/>
            <a:ext cx="326487" cy="1661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700" b="0">
                <a:latin typeface="+mn-ea"/>
              </a:rPr>
              <a:t>1-2</a:t>
            </a:r>
            <a:endParaRPr lang="ko-KR" altLang="en-US" sz="700" b="0" dirty="0">
              <a:latin typeface="+mn-ea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2CD531C2-26B4-E0F7-4C76-BB75ECA3B197}"/>
              </a:ext>
            </a:extLst>
          </p:cNvPr>
          <p:cNvSpPr/>
          <p:nvPr/>
        </p:nvSpPr>
        <p:spPr>
          <a:xfrm>
            <a:off x="3681513" y="4368098"/>
            <a:ext cx="1982487" cy="173532"/>
          </a:xfrm>
          <a:prstGeom prst="rect">
            <a:avLst/>
          </a:prstGeom>
          <a:noFill/>
          <a:ln>
            <a:solidFill>
              <a:srgbClr val="00B050"/>
            </a:solidFill>
            <a:prstDash val="sysDot"/>
          </a:ln>
        </p:spPr>
        <p:txBody>
          <a:bodyPr wrap="square" rtlCol="0" anchor="ctr">
            <a:noAutofit/>
          </a:bodyPr>
          <a:lstStyle/>
          <a:p>
            <a:pPr algn="l"/>
            <a:endParaRPr kumimoji="0" lang="ko-KR" altLang="en-US" sz="9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모서리가 둥근 직사각형 209">
            <a:extLst>
              <a:ext uri="{FF2B5EF4-FFF2-40B4-BE49-F238E27FC236}">
                <a16:creationId xmlns:a16="http://schemas.microsoft.com/office/drawing/2014/main" id="{6E0B08F3-7BDC-57B2-E39D-82D77E79D1DF}"/>
              </a:ext>
            </a:extLst>
          </p:cNvPr>
          <p:cNvSpPr/>
          <p:nvPr/>
        </p:nvSpPr>
        <p:spPr>
          <a:xfrm>
            <a:off x="3681512" y="4375502"/>
            <a:ext cx="326487" cy="1661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700" b="0">
                <a:latin typeface="+mn-ea"/>
              </a:rPr>
              <a:t>1-3</a:t>
            </a:r>
            <a:endParaRPr lang="ko-KR" altLang="en-US" sz="700" b="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314900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62691F-B3F1-22F1-83F1-D0769DA6C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87">
            <a:extLst>
              <a:ext uri="{FF2B5EF4-FFF2-40B4-BE49-F238E27FC236}">
                <a16:creationId xmlns:a16="http://schemas.microsoft.com/office/drawing/2014/main" id="{8B0CB416-B1E5-841C-E185-EA0AC030B1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8530805"/>
              </p:ext>
            </p:extLst>
          </p:nvPr>
        </p:nvGraphicFramePr>
        <p:xfrm>
          <a:off x="9491386" y="520961"/>
          <a:ext cx="2698234" cy="5495070"/>
        </p:xfrm>
        <a:graphic>
          <a:graphicData uri="http://schemas.openxmlformats.org/drawingml/2006/table">
            <a:tbl>
              <a:tblPr/>
              <a:tblGrid>
                <a:gridCol w="1743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3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5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40">
                <a:tc gridSpan="2"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No.</a:t>
                      </a:r>
                      <a:endParaRPr kumimoji="0" lang="ko-KR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ko-KR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Component</a:t>
                      </a:r>
                      <a:endParaRPr kumimoji="0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Descriptions</a:t>
                      </a:r>
                      <a:endParaRPr kumimoji="0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069"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600" dirty="0">
                        <a:latin typeface="+mn-ea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임시 </a:t>
                      </a:r>
                      <a:r>
                        <a:rPr kumimoji="0" lang="en-US" altLang="ko-KR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OTP PIN</a:t>
                      </a:r>
                      <a:r>
                        <a:rPr kumimoji="0" lang="ko-KR" altLang="en-US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인증 승인 대기 페이지 </a:t>
                      </a:r>
                      <a:endParaRPr kumimoji="0" lang="en-US" altLang="ko-KR" sz="6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1803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Button</a:t>
                      </a:r>
                      <a:endParaRPr kumimoji="0" lang="en-US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[&lt; ] </a:t>
                      </a:r>
                      <a:r>
                        <a:rPr kumimoji="0" lang="ko-KR" altLang="en-US" sz="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버튼 클릭 시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임시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OTP PIN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인증 페이지 로 이동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뒤로가기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5434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정보요소</a:t>
                      </a:r>
                      <a:endParaRPr kumimoji="0" lang="en-US" altLang="ko-KR" sz="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상태 정보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페이지 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** </a:t>
                      </a:r>
                      <a:r>
                        <a:rPr kumimoji="0" lang="ko-KR" altLang="en-US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새로고침 시 상태 변경 확인 가능</a:t>
                      </a:r>
                      <a:endParaRPr kumimoji="0" lang="en-US" altLang="ko-KR" sz="6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관리자 승인 전 </a:t>
                      </a:r>
                      <a:endParaRPr kumimoji="0" lang="en-US" altLang="ko-KR" sz="600" b="1" i="0" u="none" strike="noStrike" kern="1200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임시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OTP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대기중입니다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사원명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|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사원정보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|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사원휴대폰번호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[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 승인 대기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상태값 표기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 1-3 [OTP PIN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버튼 비활성화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관리자 승인 반려 시 </a:t>
                      </a:r>
                      <a:endParaRPr kumimoji="0" lang="en-US" altLang="ko-KR" sz="6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담당자에게 문의하세요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사원명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|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사원정보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|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사원휴대폰번호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[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 승인 실패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상태값 표기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 1-3 [OTP PIN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버튼 활성화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관리자 승인 완료 시 </a:t>
                      </a:r>
                      <a:endParaRPr kumimoji="0" lang="en-US" altLang="ko-KR" sz="6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 승인이 완료되었습니다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사원명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|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사원정보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|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사원휴대폰번호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[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 승인 완료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상태값 표기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 1-3 [OTP PIN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버튼 활성화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1-3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버튼 클릭 시 초기 페이지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(P11)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페이지로 전환</a:t>
                      </a:r>
                      <a:endParaRPr kumimoji="0" lang="en-US" altLang="ko-KR" sz="6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4872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Button</a:t>
                      </a:r>
                      <a:endParaRPr kumimoji="0" lang="en-US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 승인 대기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|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 승인 실패 의 경우 버튼 비활성화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 승인 완료 시 버튼 활성화 되며 클릭 시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PIN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번호 인증 페이지로 전환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4742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Button</a:t>
                      </a:r>
                      <a:endParaRPr kumimoji="0" lang="en-US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PUSH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인증 요청 버튼 클릭 시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OTP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발급 인증 페이지로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진입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(P9)</a:t>
                      </a: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0134057"/>
                  </a:ext>
                </a:extLst>
              </a:tr>
              <a:tr h="285223">
                <a:tc gridSpan="4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REMARK</a:t>
                      </a: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9557">
                <a:tc gridSpan="4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5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데모 구현을 위해 인증 승인 대기 →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전체 화면 영역 아무곳 클릭 시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→ 인증 승인 실패 →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전체 화면 영역 아무곳 클릭 시 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→ 인증 승인 완료 로 임의 구현 </a:t>
                      </a:r>
                      <a:endParaRPr kumimoji="0" lang="en-US" altLang="ko-KR" sz="6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5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5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6896">
                <a:tc gridSpan="4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FEEDBACK</a:t>
                      </a:r>
                      <a:endParaRPr kumimoji="0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5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5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12700" cmpd="sng">
                      <a:noFill/>
                      <a:prstDash val="solid"/>
                    </a:lnL>
                    <a:lnT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76000">
                <a:tc gridSpan="4">
                  <a:txBody>
                    <a:bodyPr/>
                    <a:lstStyle/>
                    <a:p>
                      <a:pPr marL="0" marR="0" lvl="0" indent="0" algn="l" defTabSz="852488" rtl="0" eaLnBrk="0" fontAlgn="base" latinLnBrk="1" hangingPunct="0">
                        <a:lnSpc>
                          <a:spcPct val="15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+mj-lt"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852488" rtl="0" eaLnBrk="0" fontAlgn="base" latinLnBrk="1" hangingPunct="0">
                        <a:lnSpc>
                          <a:spcPct val="15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+mj-lt"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7A905A53-D772-F6FF-B4B9-0312833678D6}"/>
              </a:ext>
            </a:extLst>
          </p:cNvPr>
          <p:cNvSpPr/>
          <p:nvPr/>
        </p:nvSpPr>
        <p:spPr>
          <a:xfrm>
            <a:off x="0" y="520961"/>
            <a:ext cx="9467081" cy="6337039"/>
          </a:xfrm>
          <a:prstGeom prst="rect">
            <a:avLst/>
          </a:prstGeom>
          <a:solidFill>
            <a:srgbClr val="FEE500"/>
          </a:solidFill>
        </p:spPr>
        <p:txBody>
          <a:bodyPr wrap="square" rtlCol="0" anchor="ctr">
            <a:noAutofit/>
          </a:bodyPr>
          <a:lstStyle/>
          <a:p>
            <a:pPr algn="l"/>
            <a:endParaRPr kumimoji="0" lang="ko-KR" altLang="en-US" sz="9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7" name="텍스트 개체 틀 28">
            <a:extLst>
              <a:ext uri="{FF2B5EF4-FFF2-40B4-BE49-F238E27FC236}">
                <a16:creationId xmlns:a16="http://schemas.microsoft.com/office/drawing/2014/main" id="{1258B5EC-D572-4977-9FBE-A285EED7BEAA}"/>
              </a:ext>
            </a:extLst>
          </p:cNvPr>
          <p:cNvSpPr txBox="1">
            <a:spLocks/>
          </p:cNvSpPr>
          <p:nvPr/>
        </p:nvSpPr>
        <p:spPr>
          <a:xfrm>
            <a:off x="1225975" y="20616"/>
            <a:ext cx="2160000" cy="180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[ATON] </a:t>
            </a:r>
            <a:r>
              <a:rPr lang="ko-KR" altLang="en-US"/>
              <a:t>카카오뱅크 </a:t>
            </a:r>
            <a:r>
              <a:rPr lang="en-US" altLang="ko-KR"/>
              <a:t>OTP POC</a:t>
            </a:r>
            <a:endParaRPr lang="ko-KR" altLang="en-US"/>
          </a:p>
        </p:txBody>
      </p:sp>
      <p:sp>
        <p:nvSpPr>
          <p:cNvPr id="214" name="텍스트 개체 틀 28">
            <a:extLst>
              <a:ext uri="{FF2B5EF4-FFF2-40B4-BE49-F238E27FC236}">
                <a16:creationId xmlns:a16="http://schemas.microsoft.com/office/drawing/2014/main" id="{8D20F1B6-B890-2916-98DC-3B63C6F7151F}"/>
              </a:ext>
            </a:extLst>
          </p:cNvPr>
          <p:cNvSpPr txBox="1">
            <a:spLocks/>
          </p:cNvSpPr>
          <p:nvPr/>
        </p:nvSpPr>
        <p:spPr>
          <a:xfrm>
            <a:off x="1235500" y="252000"/>
            <a:ext cx="2160000" cy="180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ko-KR" altLang="en-US" b="0"/>
              <a:t>임시 </a:t>
            </a:r>
            <a:r>
              <a:rPr kumimoji="0" lang="en-US" altLang="ko-KR" b="0"/>
              <a:t>OTP </a:t>
            </a:r>
            <a:r>
              <a:rPr kumimoji="0" lang="ko-KR" altLang="en-US" b="0"/>
              <a:t>인증 </a:t>
            </a:r>
            <a:r>
              <a:rPr kumimoji="0" lang="en-US" altLang="ko-KR" b="0"/>
              <a:t>&gt; </a:t>
            </a:r>
            <a:r>
              <a:rPr kumimoji="0" lang="ko-KR" altLang="en-US" b="0"/>
              <a:t>인증 승인 대기</a:t>
            </a:r>
            <a:endParaRPr kumimoji="0" lang="en-US" altLang="ko-KR" b="0" dirty="0"/>
          </a:p>
        </p:txBody>
      </p:sp>
      <p:sp>
        <p:nvSpPr>
          <p:cNvPr id="228" name="텍스트 개체 틀 28">
            <a:extLst>
              <a:ext uri="{FF2B5EF4-FFF2-40B4-BE49-F238E27FC236}">
                <a16:creationId xmlns:a16="http://schemas.microsoft.com/office/drawing/2014/main" id="{E4A8D178-E9CA-3A9A-3DB0-D3C368915324}"/>
              </a:ext>
            </a:extLst>
          </p:cNvPr>
          <p:cNvSpPr txBox="1">
            <a:spLocks/>
          </p:cNvSpPr>
          <p:nvPr/>
        </p:nvSpPr>
        <p:spPr>
          <a:xfrm>
            <a:off x="4751298" y="252000"/>
            <a:ext cx="1080000" cy="180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b="0" dirty="0">
              <a:solidFill>
                <a:srgbClr val="000000"/>
              </a:solidFill>
            </a:endParaRPr>
          </a:p>
        </p:txBody>
      </p:sp>
      <p:sp>
        <p:nvSpPr>
          <p:cNvPr id="235" name="텍스트 개체 틀 28">
            <a:extLst>
              <a:ext uri="{FF2B5EF4-FFF2-40B4-BE49-F238E27FC236}">
                <a16:creationId xmlns:a16="http://schemas.microsoft.com/office/drawing/2014/main" id="{AA76F8CA-820B-DA60-6D66-17D9C56441C2}"/>
              </a:ext>
            </a:extLst>
          </p:cNvPr>
          <p:cNvSpPr txBox="1">
            <a:spLocks/>
          </p:cNvSpPr>
          <p:nvPr/>
        </p:nvSpPr>
        <p:spPr>
          <a:xfrm>
            <a:off x="7088981" y="252000"/>
            <a:ext cx="2340000" cy="180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b="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3C87841-7212-19F8-9FF1-923B00B486EB}"/>
              </a:ext>
            </a:extLst>
          </p:cNvPr>
          <p:cNvSpPr/>
          <p:nvPr/>
        </p:nvSpPr>
        <p:spPr bwMode="auto">
          <a:xfrm>
            <a:off x="4712861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1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44FACC8-B33F-9F15-F915-9AEBD8C1A4DB}"/>
              </a:ext>
            </a:extLst>
          </p:cNvPr>
          <p:cNvSpPr/>
          <p:nvPr/>
        </p:nvSpPr>
        <p:spPr bwMode="auto">
          <a:xfrm>
            <a:off x="5927042" y="0"/>
            <a:ext cx="294701" cy="21938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2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A3EE0D2-8A29-D39C-4578-5FD7D6924167}"/>
              </a:ext>
            </a:extLst>
          </p:cNvPr>
          <p:cNvSpPr/>
          <p:nvPr/>
        </p:nvSpPr>
        <p:spPr bwMode="auto">
          <a:xfrm>
            <a:off x="7059464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3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5645F2D-2271-DC11-B6AF-E886415C90E6}"/>
              </a:ext>
            </a:extLst>
          </p:cNvPr>
          <p:cNvSpPr/>
          <p:nvPr/>
        </p:nvSpPr>
        <p:spPr bwMode="auto">
          <a:xfrm>
            <a:off x="8264807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4</a:t>
            </a:r>
            <a:r>
              <a:rPr kumimoji="1" lang="en-US" altLang="ko-KR" sz="6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</a:t>
            </a: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178F69F-E093-CC2F-3AC6-7808263C714C}"/>
              </a:ext>
            </a:extLst>
          </p:cNvPr>
          <p:cNvSpPr/>
          <p:nvPr/>
        </p:nvSpPr>
        <p:spPr bwMode="auto">
          <a:xfrm>
            <a:off x="9467081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5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B4705EB-5AF9-0476-C27A-ED00DFAA7C2D}"/>
              </a:ext>
            </a:extLst>
          </p:cNvPr>
          <p:cNvSpPr/>
          <p:nvPr/>
        </p:nvSpPr>
        <p:spPr bwMode="auto">
          <a:xfrm>
            <a:off x="10574936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6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69" name="텍스트 개체 틀 28">
            <a:extLst>
              <a:ext uri="{FF2B5EF4-FFF2-40B4-BE49-F238E27FC236}">
                <a16:creationId xmlns:a16="http://schemas.microsoft.com/office/drawing/2014/main" id="{9DF8CC7B-3A74-9FF8-9542-22FE57AE7B19}"/>
              </a:ext>
            </a:extLst>
          </p:cNvPr>
          <p:cNvSpPr txBox="1">
            <a:spLocks/>
          </p:cNvSpPr>
          <p:nvPr/>
        </p:nvSpPr>
        <p:spPr>
          <a:xfrm>
            <a:off x="10612354" y="252000"/>
            <a:ext cx="1080000" cy="16977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0"/>
              <a:t>2025-12-12</a:t>
            </a:r>
            <a:endParaRPr lang="ko-KR" altLang="en-US" b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86AE05-8E51-E661-5311-F209B8424441}"/>
              </a:ext>
            </a:extLst>
          </p:cNvPr>
          <p:cNvSpPr txBox="1"/>
          <p:nvPr/>
        </p:nvSpPr>
        <p:spPr bwMode="auto">
          <a:xfrm>
            <a:off x="3111471" y="878353"/>
            <a:ext cx="3161058" cy="33855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b="1" i="0">
                <a:solidFill>
                  <a:srgbClr val="11111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카카오뱅크 </a:t>
            </a:r>
            <a:r>
              <a:rPr lang="en-US" altLang="ko-KR" b="1" i="0">
                <a:solidFill>
                  <a:srgbClr val="11111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OTP POC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8015FF3-D11A-93B6-8F12-AC8E26798451}"/>
              </a:ext>
            </a:extLst>
          </p:cNvPr>
          <p:cNvSpPr txBox="1"/>
          <p:nvPr/>
        </p:nvSpPr>
        <p:spPr bwMode="auto">
          <a:xfrm>
            <a:off x="2779560" y="1216907"/>
            <a:ext cx="3824880" cy="21544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8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PC</a:t>
            </a:r>
            <a:r>
              <a:rPr lang="en-US" altLang="ko-KR" sz="8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/ Mobile Web</a:t>
            </a:r>
            <a:r>
              <a:rPr lang="ko-KR" altLang="en-US" sz="8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에</a:t>
            </a:r>
            <a:r>
              <a:rPr lang="ko-KR" altLang="en-US" sz="8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서 </a:t>
            </a:r>
            <a:r>
              <a:rPr lang="en-US" altLang="ko-KR" sz="8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OTP </a:t>
            </a:r>
            <a:r>
              <a:rPr lang="ko-KR" altLang="en-US" sz="8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인증을 요청하는 상황을 가정합니다</a:t>
            </a:r>
            <a:r>
              <a:rPr lang="en-US" altLang="ko-KR" sz="8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80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FDB3B8CF-F1E6-1FF1-C41C-C01A91A05369}"/>
              </a:ext>
            </a:extLst>
          </p:cNvPr>
          <p:cNvSpPr/>
          <p:nvPr/>
        </p:nvSpPr>
        <p:spPr>
          <a:xfrm>
            <a:off x="3308861" y="1604187"/>
            <a:ext cx="2808000" cy="3192745"/>
          </a:xfrm>
          <a:prstGeom prst="roundRect">
            <a:avLst>
              <a:gd name="adj" fmla="val 8346"/>
            </a:avLst>
          </a:prstGeom>
          <a:solidFill>
            <a:schemeClr val="bg1"/>
          </a:solidFill>
        </p:spPr>
        <p:txBody>
          <a:bodyPr wrap="square" rtlCol="0" anchor="ctr">
            <a:noAutofit/>
          </a:bodyPr>
          <a:lstStyle/>
          <a:p>
            <a:pPr algn="l"/>
            <a:endParaRPr kumimoji="0" lang="ko-KR" altLang="en-US" sz="9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9A09B02E-3BE8-D3D1-6BB6-463177E1F320}"/>
              </a:ext>
            </a:extLst>
          </p:cNvPr>
          <p:cNvSpPr/>
          <p:nvPr/>
        </p:nvSpPr>
        <p:spPr>
          <a:xfrm>
            <a:off x="3824016" y="3810456"/>
            <a:ext cx="1728000" cy="398272"/>
          </a:xfrm>
          <a:prstGeom prst="roundRect">
            <a:avLst>
              <a:gd name="adj" fmla="val 30214"/>
            </a:avLst>
          </a:prstGeom>
          <a:solidFill>
            <a:schemeClr val="bg1">
              <a:lumMod val="8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OTP PIN </a:t>
            </a:r>
            <a:r>
              <a:rPr lang="ko-KR" altLang="en-US" sz="80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인증</a:t>
            </a:r>
            <a:endParaRPr lang="ko-KR" altLang="en-US" sz="800" dirty="0" err="1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FB51520F-CF51-2835-9CC6-4AF22C6DBED2}"/>
              </a:ext>
            </a:extLst>
          </p:cNvPr>
          <p:cNvSpPr/>
          <p:nvPr/>
        </p:nvSpPr>
        <p:spPr>
          <a:xfrm>
            <a:off x="3869540" y="2638201"/>
            <a:ext cx="1728000" cy="327273"/>
          </a:xfrm>
          <a:prstGeom prst="roundRect">
            <a:avLst>
              <a:gd name="adj" fmla="val 30214"/>
            </a:avLst>
          </a:prstGeom>
          <a:solidFill>
            <a:schemeClr val="bg1"/>
          </a:solidFill>
          <a:ln w="6350"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700" b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홍길동  </a:t>
            </a:r>
            <a:r>
              <a:rPr lang="en-US" altLang="ko-KR" sz="700" b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|    </a:t>
            </a:r>
            <a:r>
              <a:rPr lang="ko-KR" altLang="en-US" sz="700" b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700" b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165457  |    010-4568-7894</a:t>
            </a:r>
            <a:endParaRPr lang="ko-KR" altLang="en-US" sz="700" b="0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1679CD0-4EFF-8E2A-F817-2BE2B042FF7B}"/>
              </a:ext>
            </a:extLst>
          </p:cNvPr>
          <p:cNvSpPr txBox="1"/>
          <p:nvPr/>
        </p:nvSpPr>
        <p:spPr bwMode="auto">
          <a:xfrm>
            <a:off x="3954671" y="4341686"/>
            <a:ext cx="1474657" cy="21544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800" u="sng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PUSH</a:t>
            </a:r>
            <a:r>
              <a:rPr lang="ko-KR" altLang="en-US" sz="800" u="sng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인증 요청</a:t>
            </a:r>
            <a:endParaRPr lang="ko-KR" altLang="en-US" sz="800" u="sng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CEE2D74C-2B27-20DC-64CF-984F06D3F59F}"/>
              </a:ext>
            </a:extLst>
          </p:cNvPr>
          <p:cNvSpPr/>
          <p:nvPr/>
        </p:nvSpPr>
        <p:spPr>
          <a:xfrm>
            <a:off x="4284954" y="3075363"/>
            <a:ext cx="806125" cy="224814"/>
          </a:xfrm>
          <a:prstGeom prst="roundRect">
            <a:avLst>
              <a:gd name="adj" fmla="val 50000"/>
            </a:avLst>
          </a:prstGeom>
          <a:solidFill>
            <a:schemeClr val="bg2">
              <a:lumMod val="2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6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인증 승인 대기 </a:t>
            </a:r>
            <a:endParaRPr lang="ko-KR" altLang="en-US" sz="600" dirty="0" err="1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9C3ED4E1-FD47-6369-F408-721E8B2EC374}"/>
              </a:ext>
            </a:extLst>
          </p:cNvPr>
          <p:cNvGrpSpPr/>
          <p:nvPr/>
        </p:nvGrpSpPr>
        <p:grpSpPr>
          <a:xfrm>
            <a:off x="3308861" y="5373000"/>
            <a:ext cx="2808000" cy="1485001"/>
            <a:chOff x="3308861" y="5373000"/>
            <a:chExt cx="2808000" cy="1485001"/>
          </a:xfrm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B932F53B-8897-09B0-AAE4-6F9B5A274865}"/>
                </a:ext>
              </a:extLst>
            </p:cNvPr>
            <p:cNvSpPr/>
            <p:nvPr/>
          </p:nvSpPr>
          <p:spPr>
            <a:xfrm>
              <a:off x="3308861" y="5373000"/>
              <a:ext cx="2808000" cy="1194745"/>
            </a:xfrm>
            <a:prstGeom prst="roundRect">
              <a:avLst>
                <a:gd name="adj" fmla="val 20592"/>
              </a:avLst>
            </a:prstGeom>
            <a:solidFill>
              <a:schemeClr val="bg1"/>
            </a:solidFill>
          </p:spPr>
          <p:txBody>
            <a:bodyPr wrap="square" rtlCol="0" anchor="ctr">
              <a:noAutofit/>
            </a:bodyPr>
            <a:lstStyle/>
            <a:p>
              <a:pPr algn="l"/>
              <a:endParaRPr kumimoji="0" lang="ko-KR" altLang="en-US" sz="9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98C33F3A-28F8-A4CA-BD9A-96B7A8581319}"/>
                </a:ext>
              </a:extLst>
            </p:cNvPr>
            <p:cNvSpPr/>
            <p:nvPr/>
          </p:nvSpPr>
          <p:spPr>
            <a:xfrm>
              <a:off x="3308861" y="5970373"/>
              <a:ext cx="2808000" cy="887628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</p:spPr>
          <p:txBody>
            <a:bodyPr wrap="square" rtlCol="0" anchor="ctr">
              <a:noAutofit/>
            </a:bodyPr>
            <a:lstStyle/>
            <a:p>
              <a:pPr algn="l"/>
              <a:endParaRPr kumimoji="0" lang="ko-KR" altLang="en-US" sz="9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02BF966B-3B45-33B9-FC50-1BA05523FC93}"/>
              </a:ext>
            </a:extLst>
          </p:cNvPr>
          <p:cNvSpPr txBox="1"/>
          <p:nvPr/>
        </p:nvSpPr>
        <p:spPr bwMode="auto">
          <a:xfrm>
            <a:off x="3111471" y="6060188"/>
            <a:ext cx="3161058" cy="33855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i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경영 서비스</a:t>
            </a:r>
            <a:endParaRPr lang="en-US" altLang="ko-KR" i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210C1E0-ACB7-461C-3597-FDA2D63EEB68}"/>
              </a:ext>
            </a:extLst>
          </p:cNvPr>
          <p:cNvSpPr txBox="1"/>
          <p:nvPr/>
        </p:nvSpPr>
        <p:spPr bwMode="auto">
          <a:xfrm>
            <a:off x="2779560" y="6393096"/>
            <a:ext cx="3824880" cy="2308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내부 경영</a:t>
            </a:r>
            <a:r>
              <a:rPr lang="en-US" altLang="ko-KR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업무 지원 시스템 로그인</a:t>
            </a:r>
            <a:endParaRPr lang="ko-KR" altLang="en-US" sz="90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4AAB381-F37A-58BC-1729-6D31A5BC7921}"/>
              </a:ext>
            </a:extLst>
          </p:cNvPr>
          <p:cNvSpPr txBox="1"/>
          <p:nvPr/>
        </p:nvSpPr>
        <p:spPr bwMode="auto">
          <a:xfrm>
            <a:off x="3385778" y="2262168"/>
            <a:ext cx="2612445" cy="2308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90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임시 </a:t>
            </a:r>
            <a:r>
              <a:rPr lang="en-US" altLang="ko-KR" sz="90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OTP </a:t>
            </a:r>
            <a:r>
              <a:rPr lang="ko-KR" altLang="en-US" sz="90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인증  대기 중입니다</a:t>
            </a:r>
            <a:r>
              <a:rPr lang="en-US" altLang="ko-KR" sz="90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pic>
        <p:nvPicPr>
          <p:cNvPr id="40" name="그림 39" descr="모래 시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1A2C410-9A35-0237-67CB-EB9896976D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7782" y="1858163"/>
            <a:ext cx="280469" cy="277131"/>
          </a:xfrm>
          <a:prstGeom prst="rect">
            <a:avLst/>
          </a:prstGeom>
        </p:spPr>
      </p:pic>
      <p:sp>
        <p:nvSpPr>
          <p:cNvPr id="14" name="모서리가 둥근 직사각형 209">
            <a:extLst>
              <a:ext uri="{FF2B5EF4-FFF2-40B4-BE49-F238E27FC236}">
                <a16:creationId xmlns:a16="http://schemas.microsoft.com/office/drawing/2014/main" id="{011C961B-5630-1B31-15AC-7E0003B07E97}"/>
              </a:ext>
            </a:extLst>
          </p:cNvPr>
          <p:cNvSpPr/>
          <p:nvPr/>
        </p:nvSpPr>
        <p:spPr>
          <a:xfrm>
            <a:off x="3361473" y="1667862"/>
            <a:ext cx="231272" cy="1661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700" b="0">
                <a:latin typeface="+mn-ea"/>
              </a:rPr>
              <a:t>1</a:t>
            </a:r>
            <a:endParaRPr lang="ko-KR" altLang="en-US" sz="700" b="0" dirty="0">
              <a:latin typeface="+mn-ea"/>
            </a:endParaRPr>
          </a:p>
        </p:txBody>
      </p:sp>
      <p:sp>
        <p:nvSpPr>
          <p:cNvPr id="18" name="Chevron Down">
            <a:extLst>
              <a:ext uri="{FF2B5EF4-FFF2-40B4-BE49-F238E27FC236}">
                <a16:creationId xmlns:a16="http://schemas.microsoft.com/office/drawing/2014/main" id="{F4FF117A-01B8-DFF7-1579-1FF22DF6FA2E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3457510" y="1966280"/>
            <a:ext cx="141428" cy="102230"/>
          </a:xfrm>
          <a:custGeom>
            <a:avLst/>
            <a:gdLst>
              <a:gd name="T0" fmla="*/ 594 w 594"/>
              <a:gd name="T1" fmla="*/ 27 h 324"/>
              <a:gd name="T2" fmla="*/ 566 w 594"/>
              <a:gd name="T3" fmla="*/ 0 h 324"/>
              <a:gd name="T4" fmla="*/ 297 w 594"/>
              <a:gd name="T5" fmla="*/ 268 h 324"/>
              <a:gd name="T6" fmla="*/ 28 w 594"/>
              <a:gd name="T7" fmla="*/ 0 h 324"/>
              <a:gd name="T8" fmla="*/ 0 w 594"/>
              <a:gd name="T9" fmla="*/ 27 h 324"/>
              <a:gd name="T10" fmla="*/ 297 w 594"/>
              <a:gd name="T11" fmla="*/ 324 h 324"/>
              <a:gd name="T12" fmla="*/ 594 w 594"/>
              <a:gd name="T13" fmla="*/ 27 h 3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94" h="324">
                <a:moveTo>
                  <a:pt x="594" y="27"/>
                </a:moveTo>
                <a:lnTo>
                  <a:pt x="566" y="0"/>
                </a:lnTo>
                <a:lnTo>
                  <a:pt x="297" y="268"/>
                </a:lnTo>
                <a:lnTo>
                  <a:pt x="28" y="0"/>
                </a:lnTo>
                <a:lnTo>
                  <a:pt x="0" y="27"/>
                </a:lnTo>
                <a:lnTo>
                  <a:pt x="297" y="324"/>
                </a:lnTo>
                <a:lnTo>
                  <a:pt x="594" y="27"/>
                </a:lnTo>
                <a:close/>
              </a:path>
            </a:pathLst>
          </a:custGeom>
          <a:solidFill>
            <a:srgbClr val="5F5F5F"/>
          </a:solidFill>
          <a:ln w="6350">
            <a:solidFill>
              <a:schemeClr val="tx1">
                <a:lumMod val="85000"/>
                <a:lumOff val="15000"/>
              </a:schemeClr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모서리가 둥근 직사각형 209">
            <a:extLst>
              <a:ext uri="{FF2B5EF4-FFF2-40B4-BE49-F238E27FC236}">
                <a16:creationId xmlns:a16="http://schemas.microsoft.com/office/drawing/2014/main" id="{0395A427-A964-A7DF-12BE-15DFD691BCCC}"/>
              </a:ext>
            </a:extLst>
          </p:cNvPr>
          <p:cNvSpPr/>
          <p:nvPr/>
        </p:nvSpPr>
        <p:spPr>
          <a:xfrm>
            <a:off x="3146601" y="1866991"/>
            <a:ext cx="280468" cy="1414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700" b="0">
                <a:latin typeface="+mn-ea"/>
              </a:rPr>
              <a:t>1-1</a:t>
            </a:r>
            <a:endParaRPr lang="ko-KR" altLang="en-US" sz="700" b="0" dirty="0">
              <a:latin typeface="+mn-ea"/>
            </a:endParaRPr>
          </a:p>
        </p:txBody>
      </p:sp>
      <p:grpSp>
        <p:nvGrpSpPr>
          <p:cNvPr id="36" name="그룹 35">
            <a:extLst>
              <a:ext uri="{FF2B5EF4-FFF2-40B4-BE49-F238E27FC236}">
                <a16:creationId xmlns:a16="http://schemas.microsoft.com/office/drawing/2014/main" id="{DCFD3690-AED2-7C31-501D-BE17A80AF522}"/>
              </a:ext>
            </a:extLst>
          </p:cNvPr>
          <p:cNvGrpSpPr/>
          <p:nvPr/>
        </p:nvGrpSpPr>
        <p:grpSpPr>
          <a:xfrm>
            <a:off x="3361473" y="1660457"/>
            <a:ext cx="2636750" cy="3064543"/>
            <a:chOff x="3361473" y="1660457"/>
            <a:chExt cx="2636750" cy="3064543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CB08C255-2FE9-E9DE-1B81-3302CF78A360}"/>
                </a:ext>
              </a:extLst>
            </p:cNvPr>
            <p:cNvSpPr/>
            <p:nvPr/>
          </p:nvSpPr>
          <p:spPr>
            <a:xfrm>
              <a:off x="3361473" y="1660457"/>
              <a:ext cx="2636750" cy="3064543"/>
            </a:xfrm>
            <a:prstGeom prst="rect">
              <a:avLst/>
            </a:prstGeom>
            <a:noFill/>
            <a:ln>
              <a:solidFill>
                <a:srgbClr val="00B050"/>
              </a:solidFill>
              <a:prstDash val="sysDot"/>
            </a:ln>
          </p:spPr>
          <p:txBody>
            <a:bodyPr wrap="square" rtlCol="0" anchor="ctr">
              <a:noAutofit/>
            </a:bodyPr>
            <a:lstStyle/>
            <a:p>
              <a:pPr algn="l"/>
              <a:endParaRPr kumimoji="0" lang="ko-KR" altLang="en-US" sz="9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CD8ED44B-44E4-B76E-0DEE-DFDCDBACBE12}"/>
                </a:ext>
              </a:extLst>
            </p:cNvPr>
            <p:cNvSpPr/>
            <p:nvPr/>
          </p:nvSpPr>
          <p:spPr>
            <a:xfrm>
              <a:off x="3422433" y="1873818"/>
              <a:ext cx="401583" cy="254480"/>
            </a:xfrm>
            <a:prstGeom prst="rect">
              <a:avLst/>
            </a:prstGeom>
            <a:noFill/>
            <a:ln>
              <a:solidFill>
                <a:srgbClr val="00B050"/>
              </a:solidFill>
              <a:prstDash val="sysDot"/>
            </a:ln>
          </p:spPr>
          <p:txBody>
            <a:bodyPr wrap="square" rtlCol="0" anchor="ctr">
              <a:noAutofit/>
            </a:bodyPr>
            <a:lstStyle/>
            <a:p>
              <a:pPr algn="l"/>
              <a:endParaRPr kumimoji="0" lang="ko-KR" altLang="en-US" sz="9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49DA326A-0611-1619-C123-86207247278E}"/>
                </a:ext>
              </a:extLst>
            </p:cNvPr>
            <p:cNvSpPr/>
            <p:nvPr/>
          </p:nvSpPr>
          <p:spPr>
            <a:xfrm>
              <a:off x="3884860" y="1873818"/>
              <a:ext cx="1765292" cy="1555181"/>
            </a:xfrm>
            <a:prstGeom prst="rect">
              <a:avLst/>
            </a:prstGeom>
            <a:noFill/>
            <a:ln>
              <a:solidFill>
                <a:srgbClr val="00B050"/>
              </a:solidFill>
              <a:prstDash val="sysDot"/>
            </a:ln>
          </p:spPr>
          <p:txBody>
            <a:bodyPr wrap="square" rtlCol="0" anchor="ctr">
              <a:noAutofit/>
            </a:bodyPr>
            <a:lstStyle/>
            <a:p>
              <a:pPr algn="l"/>
              <a:endParaRPr kumimoji="0" lang="ko-KR" altLang="en-US" sz="9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4" name="모서리가 둥근 직사각형 209">
              <a:extLst>
                <a:ext uri="{FF2B5EF4-FFF2-40B4-BE49-F238E27FC236}">
                  <a16:creationId xmlns:a16="http://schemas.microsoft.com/office/drawing/2014/main" id="{C40E2538-CE5B-95A6-01C0-21F5DFDCED08}"/>
                </a:ext>
              </a:extLst>
            </p:cNvPr>
            <p:cNvSpPr/>
            <p:nvPr/>
          </p:nvSpPr>
          <p:spPr>
            <a:xfrm>
              <a:off x="3869540" y="1862146"/>
              <a:ext cx="280468" cy="141428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r>
                <a:rPr lang="en-US" altLang="ko-KR" sz="700" b="0">
                  <a:latin typeface="+mn-ea"/>
                </a:rPr>
                <a:t>1-2</a:t>
              </a:r>
              <a:endParaRPr lang="ko-KR" altLang="en-US" sz="700" b="0" dirty="0">
                <a:latin typeface="+mn-ea"/>
              </a:endParaRPr>
            </a:p>
          </p:txBody>
        </p:sp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8981AF8A-86DA-D0BF-B53A-7E3054D1F0F7}"/>
                </a:ext>
              </a:extLst>
            </p:cNvPr>
            <p:cNvSpPr/>
            <p:nvPr/>
          </p:nvSpPr>
          <p:spPr>
            <a:xfrm>
              <a:off x="3814437" y="3712779"/>
              <a:ext cx="1835715" cy="554500"/>
            </a:xfrm>
            <a:prstGeom prst="rect">
              <a:avLst/>
            </a:prstGeom>
            <a:noFill/>
            <a:ln>
              <a:solidFill>
                <a:srgbClr val="00B050"/>
              </a:solidFill>
              <a:prstDash val="sysDot"/>
            </a:ln>
          </p:spPr>
          <p:txBody>
            <a:bodyPr wrap="square" rtlCol="0" anchor="ctr">
              <a:noAutofit/>
            </a:bodyPr>
            <a:lstStyle/>
            <a:p>
              <a:pPr algn="l"/>
              <a:endParaRPr kumimoji="0" lang="ko-KR" altLang="en-US" sz="9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8" name="모서리가 둥근 직사각형 209">
              <a:extLst>
                <a:ext uri="{FF2B5EF4-FFF2-40B4-BE49-F238E27FC236}">
                  <a16:creationId xmlns:a16="http://schemas.microsoft.com/office/drawing/2014/main" id="{189A1FCC-482C-59DC-186D-29E3A028F79E}"/>
                </a:ext>
              </a:extLst>
            </p:cNvPr>
            <p:cNvSpPr/>
            <p:nvPr/>
          </p:nvSpPr>
          <p:spPr>
            <a:xfrm>
              <a:off x="3814437" y="3629726"/>
              <a:ext cx="280468" cy="141428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r>
                <a:rPr lang="en-US" altLang="ko-KR" sz="700" b="0">
                  <a:latin typeface="+mn-ea"/>
                </a:rPr>
                <a:t>1-3</a:t>
              </a:r>
              <a:endParaRPr lang="ko-KR" altLang="en-US" sz="700" b="0" dirty="0">
                <a:latin typeface="+mn-ea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CE000D29-E355-A29B-BD5C-F409B61EE050}"/>
                </a:ext>
              </a:extLst>
            </p:cNvPr>
            <p:cNvSpPr/>
            <p:nvPr/>
          </p:nvSpPr>
          <p:spPr>
            <a:xfrm>
              <a:off x="3814437" y="4327459"/>
              <a:ext cx="1835715" cy="230211"/>
            </a:xfrm>
            <a:prstGeom prst="rect">
              <a:avLst/>
            </a:prstGeom>
            <a:noFill/>
            <a:ln>
              <a:solidFill>
                <a:srgbClr val="00B050"/>
              </a:solidFill>
              <a:prstDash val="sysDot"/>
            </a:ln>
          </p:spPr>
          <p:txBody>
            <a:bodyPr wrap="square" rtlCol="0" anchor="ctr">
              <a:noAutofit/>
            </a:bodyPr>
            <a:lstStyle/>
            <a:p>
              <a:pPr algn="l"/>
              <a:endParaRPr kumimoji="0" lang="ko-KR" altLang="en-US" sz="9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4" name="모서리가 둥근 직사각형 209">
              <a:extLst>
                <a:ext uri="{FF2B5EF4-FFF2-40B4-BE49-F238E27FC236}">
                  <a16:creationId xmlns:a16="http://schemas.microsoft.com/office/drawing/2014/main" id="{3D419401-494B-4F90-D027-F6E31E0D1899}"/>
                </a:ext>
              </a:extLst>
            </p:cNvPr>
            <p:cNvSpPr/>
            <p:nvPr/>
          </p:nvSpPr>
          <p:spPr>
            <a:xfrm>
              <a:off x="3814437" y="4325985"/>
              <a:ext cx="280468" cy="141428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r>
                <a:rPr lang="en-US" altLang="ko-KR" sz="700" b="0">
                  <a:latin typeface="+mn-ea"/>
                </a:rPr>
                <a:t>1-4</a:t>
              </a:r>
              <a:endParaRPr lang="ko-KR" altLang="en-US" sz="700" b="0" dirty="0"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53465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130A6-614E-E957-4C16-700A522C1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93456831-C7F2-7E0D-FFD9-D7B5012029A0}"/>
              </a:ext>
            </a:extLst>
          </p:cNvPr>
          <p:cNvSpPr/>
          <p:nvPr/>
        </p:nvSpPr>
        <p:spPr>
          <a:xfrm>
            <a:off x="0" y="520961"/>
            <a:ext cx="9467081" cy="6337039"/>
          </a:xfrm>
          <a:prstGeom prst="rect">
            <a:avLst/>
          </a:prstGeom>
          <a:solidFill>
            <a:srgbClr val="FEE500"/>
          </a:solidFill>
        </p:spPr>
        <p:txBody>
          <a:bodyPr wrap="square" rtlCol="0" anchor="ctr">
            <a:noAutofit/>
          </a:bodyPr>
          <a:lstStyle/>
          <a:p>
            <a:pPr algn="l"/>
            <a:endParaRPr kumimoji="0" lang="ko-KR" altLang="en-US" sz="9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7" name="텍스트 개체 틀 28">
            <a:extLst>
              <a:ext uri="{FF2B5EF4-FFF2-40B4-BE49-F238E27FC236}">
                <a16:creationId xmlns:a16="http://schemas.microsoft.com/office/drawing/2014/main" id="{C4582B22-B2A5-0880-C5FC-ABCB2F40DBFC}"/>
              </a:ext>
            </a:extLst>
          </p:cNvPr>
          <p:cNvSpPr txBox="1">
            <a:spLocks/>
          </p:cNvSpPr>
          <p:nvPr/>
        </p:nvSpPr>
        <p:spPr>
          <a:xfrm>
            <a:off x="1225975" y="20616"/>
            <a:ext cx="2160000" cy="180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[ATON] </a:t>
            </a:r>
            <a:r>
              <a:rPr lang="ko-KR" altLang="en-US"/>
              <a:t>카카오뱅크 </a:t>
            </a:r>
            <a:r>
              <a:rPr lang="en-US" altLang="ko-KR"/>
              <a:t>OTP POC</a:t>
            </a:r>
            <a:endParaRPr lang="ko-KR" altLang="en-US"/>
          </a:p>
        </p:txBody>
      </p:sp>
      <p:sp>
        <p:nvSpPr>
          <p:cNvPr id="214" name="텍스트 개체 틀 28">
            <a:extLst>
              <a:ext uri="{FF2B5EF4-FFF2-40B4-BE49-F238E27FC236}">
                <a16:creationId xmlns:a16="http://schemas.microsoft.com/office/drawing/2014/main" id="{6C22FC7E-93A2-8D62-950B-D089EA8E017A}"/>
              </a:ext>
            </a:extLst>
          </p:cNvPr>
          <p:cNvSpPr txBox="1">
            <a:spLocks/>
          </p:cNvSpPr>
          <p:nvPr/>
        </p:nvSpPr>
        <p:spPr>
          <a:xfrm>
            <a:off x="1235500" y="252000"/>
            <a:ext cx="2160000" cy="180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ko-KR" altLang="en-US" b="0"/>
              <a:t>임시 </a:t>
            </a:r>
            <a:r>
              <a:rPr kumimoji="0" lang="en-US" altLang="ko-KR" b="0"/>
              <a:t>OTP </a:t>
            </a:r>
            <a:r>
              <a:rPr kumimoji="0" lang="ko-KR" altLang="en-US" b="0"/>
              <a:t>인증 </a:t>
            </a:r>
            <a:r>
              <a:rPr kumimoji="0" lang="en-US" altLang="ko-KR" b="0"/>
              <a:t>&gt; </a:t>
            </a:r>
            <a:r>
              <a:rPr kumimoji="0" lang="ko-KR" altLang="en-US" b="0"/>
              <a:t>인증 승인 실패</a:t>
            </a:r>
            <a:endParaRPr kumimoji="0" lang="en-US" altLang="ko-KR" b="0" dirty="0"/>
          </a:p>
        </p:txBody>
      </p:sp>
      <p:sp>
        <p:nvSpPr>
          <p:cNvPr id="228" name="텍스트 개체 틀 28">
            <a:extLst>
              <a:ext uri="{FF2B5EF4-FFF2-40B4-BE49-F238E27FC236}">
                <a16:creationId xmlns:a16="http://schemas.microsoft.com/office/drawing/2014/main" id="{A2FC291D-CEE7-9BC0-B31B-0B65C786A531}"/>
              </a:ext>
            </a:extLst>
          </p:cNvPr>
          <p:cNvSpPr txBox="1">
            <a:spLocks/>
          </p:cNvSpPr>
          <p:nvPr/>
        </p:nvSpPr>
        <p:spPr>
          <a:xfrm>
            <a:off x="4751298" y="252000"/>
            <a:ext cx="1080000" cy="180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b="0" dirty="0">
              <a:solidFill>
                <a:srgbClr val="000000"/>
              </a:solidFill>
            </a:endParaRPr>
          </a:p>
        </p:txBody>
      </p:sp>
      <p:sp>
        <p:nvSpPr>
          <p:cNvPr id="235" name="텍스트 개체 틀 28">
            <a:extLst>
              <a:ext uri="{FF2B5EF4-FFF2-40B4-BE49-F238E27FC236}">
                <a16:creationId xmlns:a16="http://schemas.microsoft.com/office/drawing/2014/main" id="{1C9BB2EC-0B96-F112-B920-D7D23E7BD801}"/>
              </a:ext>
            </a:extLst>
          </p:cNvPr>
          <p:cNvSpPr txBox="1">
            <a:spLocks/>
          </p:cNvSpPr>
          <p:nvPr/>
        </p:nvSpPr>
        <p:spPr>
          <a:xfrm>
            <a:off x="7088981" y="252000"/>
            <a:ext cx="2340000" cy="180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b="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6C2723A-E894-7745-ACB5-3AEE57630DD6}"/>
              </a:ext>
            </a:extLst>
          </p:cNvPr>
          <p:cNvSpPr/>
          <p:nvPr/>
        </p:nvSpPr>
        <p:spPr bwMode="auto">
          <a:xfrm>
            <a:off x="4712861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1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56D2DE58-BB89-A02C-86D2-5D07C59D41AA}"/>
              </a:ext>
            </a:extLst>
          </p:cNvPr>
          <p:cNvSpPr/>
          <p:nvPr/>
        </p:nvSpPr>
        <p:spPr bwMode="auto">
          <a:xfrm>
            <a:off x="5927042" y="0"/>
            <a:ext cx="294701" cy="21938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2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2BE120D-07D1-53A1-3551-18A8716941EF}"/>
              </a:ext>
            </a:extLst>
          </p:cNvPr>
          <p:cNvSpPr/>
          <p:nvPr/>
        </p:nvSpPr>
        <p:spPr bwMode="auto">
          <a:xfrm>
            <a:off x="7059464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3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00F194C-B0DC-01C9-4C20-11769427F6A1}"/>
              </a:ext>
            </a:extLst>
          </p:cNvPr>
          <p:cNvSpPr/>
          <p:nvPr/>
        </p:nvSpPr>
        <p:spPr bwMode="auto">
          <a:xfrm>
            <a:off x="8264807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4</a:t>
            </a:r>
            <a:r>
              <a:rPr kumimoji="1" lang="en-US" altLang="ko-KR" sz="6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</a:t>
            </a: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331A037-4620-94E6-5DEC-B22EC53829FB}"/>
              </a:ext>
            </a:extLst>
          </p:cNvPr>
          <p:cNvSpPr/>
          <p:nvPr/>
        </p:nvSpPr>
        <p:spPr bwMode="auto">
          <a:xfrm>
            <a:off x="9467081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5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1088630-967D-C657-BAA6-31E813DDB0F6}"/>
              </a:ext>
            </a:extLst>
          </p:cNvPr>
          <p:cNvSpPr/>
          <p:nvPr/>
        </p:nvSpPr>
        <p:spPr bwMode="auto">
          <a:xfrm>
            <a:off x="10574936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6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69" name="텍스트 개체 틀 28">
            <a:extLst>
              <a:ext uri="{FF2B5EF4-FFF2-40B4-BE49-F238E27FC236}">
                <a16:creationId xmlns:a16="http://schemas.microsoft.com/office/drawing/2014/main" id="{CE8F2716-2416-05F4-57BB-73D4817C0E6E}"/>
              </a:ext>
            </a:extLst>
          </p:cNvPr>
          <p:cNvSpPr txBox="1">
            <a:spLocks/>
          </p:cNvSpPr>
          <p:nvPr/>
        </p:nvSpPr>
        <p:spPr>
          <a:xfrm>
            <a:off x="10612354" y="252000"/>
            <a:ext cx="1080000" cy="16977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0"/>
              <a:t>2025-12-12</a:t>
            </a:r>
            <a:endParaRPr lang="ko-KR" altLang="en-US" b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572E4E-777D-E9D5-EBFA-81E576796AA8}"/>
              </a:ext>
            </a:extLst>
          </p:cNvPr>
          <p:cNvSpPr txBox="1"/>
          <p:nvPr/>
        </p:nvSpPr>
        <p:spPr bwMode="auto">
          <a:xfrm>
            <a:off x="3111471" y="878353"/>
            <a:ext cx="3161058" cy="33855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b="1" i="0">
                <a:solidFill>
                  <a:srgbClr val="11111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카카오뱅크 </a:t>
            </a:r>
            <a:r>
              <a:rPr lang="en-US" altLang="ko-KR" b="1" i="0">
                <a:solidFill>
                  <a:srgbClr val="11111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OTP POC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A2A57B4-75B8-09CA-EFE0-B03C8CDB915D}"/>
              </a:ext>
            </a:extLst>
          </p:cNvPr>
          <p:cNvSpPr txBox="1"/>
          <p:nvPr/>
        </p:nvSpPr>
        <p:spPr bwMode="auto">
          <a:xfrm>
            <a:off x="2779560" y="1216907"/>
            <a:ext cx="3824880" cy="21544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8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PC</a:t>
            </a:r>
            <a:r>
              <a:rPr lang="en-US" altLang="ko-KR" sz="8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/ Mobile Web</a:t>
            </a:r>
            <a:r>
              <a:rPr lang="ko-KR" altLang="en-US" sz="8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에</a:t>
            </a:r>
            <a:r>
              <a:rPr lang="ko-KR" altLang="en-US" sz="8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서 </a:t>
            </a:r>
            <a:r>
              <a:rPr lang="en-US" altLang="ko-KR" sz="8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OTP </a:t>
            </a:r>
            <a:r>
              <a:rPr lang="ko-KR" altLang="en-US" sz="8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인증을 요청하는 상황을 가정합니다</a:t>
            </a:r>
            <a:r>
              <a:rPr lang="en-US" altLang="ko-KR" sz="8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80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C5D7AA95-1154-38BB-3C7D-2855B790406B}"/>
              </a:ext>
            </a:extLst>
          </p:cNvPr>
          <p:cNvSpPr/>
          <p:nvPr/>
        </p:nvSpPr>
        <p:spPr>
          <a:xfrm>
            <a:off x="3308861" y="1604255"/>
            <a:ext cx="2808000" cy="3192745"/>
          </a:xfrm>
          <a:prstGeom prst="roundRect">
            <a:avLst>
              <a:gd name="adj" fmla="val 8346"/>
            </a:avLst>
          </a:prstGeom>
          <a:solidFill>
            <a:schemeClr val="bg1"/>
          </a:solidFill>
        </p:spPr>
        <p:txBody>
          <a:bodyPr wrap="square" rtlCol="0" anchor="ctr">
            <a:noAutofit/>
          </a:bodyPr>
          <a:lstStyle/>
          <a:p>
            <a:pPr algn="l"/>
            <a:endParaRPr kumimoji="0" lang="ko-KR" altLang="en-US" sz="9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C4C4A7E5-8ABE-7A1A-92E2-4CCCD90335DC}"/>
              </a:ext>
            </a:extLst>
          </p:cNvPr>
          <p:cNvSpPr/>
          <p:nvPr/>
        </p:nvSpPr>
        <p:spPr>
          <a:xfrm>
            <a:off x="3824016" y="3810456"/>
            <a:ext cx="1728000" cy="398272"/>
          </a:xfrm>
          <a:prstGeom prst="roundRect">
            <a:avLst>
              <a:gd name="adj" fmla="val 30214"/>
            </a:avLst>
          </a:prstGeom>
          <a:solidFill>
            <a:schemeClr val="bg1">
              <a:lumMod val="8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80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OTP PIN </a:t>
            </a:r>
            <a:r>
              <a:rPr lang="ko-KR" altLang="en-US" sz="800">
                <a:solidFill>
                  <a:schemeClr val="tx1">
                    <a:lumMod val="65000"/>
                    <a:lumOff val="3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인증</a:t>
            </a:r>
            <a:endParaRPr lang="ko-KR" altLang="en-US" sz="800" dirty="0" err="1">
              <a:solidFill>
                <a:schemeClr val="tx1">
                  <a:lumMod val="65000"/>
                  <a:lumOff val="35000"/>
                </a:schemeClr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D694725F-FE66-4FFD-91AC-C417A400D8EC}"/>
              </a:ext>
            </a:extLst>
          </p:cNvPr>
          <p:cNvSpPr/>
          <p:nvPr/>
        </p:nvSpPr>
        <p:spPr>
          <a:xfrm>
            <a:off x="3869540" y="2638201"/>
            <a:ext cx="1728000" cy="327273"/>
          </a:xfrm>
          <a:prstGeom prst="roundRect">
            <a:avLst>
              <a:gd name="adj" fmla="val 30214"/>
            </a:avLst>
          </a:prstGeom>
          <a:solidFill>
            <a:schemeClr val="bg1"/>
          </a:solidFill>
          <a:ln w="6350"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700" b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홍길동  </a:t>
            </a:r>
            <a:r>
              <a:rPr lang="en-US" altLang="ko-KR" sz="700" b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|    </a:t>
            </a:r>
            <a:r>
              <a:rPr lang="ko-KR" altLang="en-US" sz="700" b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700" b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165457  |    010-4568-7894</a:t>
            </a:r>
            <a:endParaRPr lang="ko-KR" altLang="en-US" sz="700" b="0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23F2EEC-5EA1-3FF5-9954-A91BC393520A}"/>
              </a:ext>
            </a:extLst>
          </p:cNvPr>
          <p:cNvSpPr txBox="1"/>
          <p:nvPr/>
        </p:nvSpPr>
        <p:spPr bwMode="auto">
          <a:xfrm>
            <a:off x="3954671" y="4341686"/>
            <a:ext cx="1474657" cy="21544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800" u="sng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PUSH</a:t>
            </a:r>
            <a:r>
              <a:rPr lang="ko-KR" altLang="en-US" sz="800" u="sng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인증 요청</a:t>
            </a:r>
            <a:endParaRPr lang="ko-KR" altLang="en-US" sz="800" u="sng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B74CAC1E-6BF0-961C-B872-D79E939DD340}"/>
              </a:ext>
            </a:extLst>
          </p:cNvPr>
          <p:cNvSpPr/>
          <p:nvPr/>
        </p:nvSpPr>
        <p:spPr>
          <a:xfrm>
            <a:off x="4284954" y="3075363"/>
            <a:ext cx="806125" cy="224814"/>
          </a:xfrm>
          <a:prstGeom prst="roundRect">
            <a:avLst>
              <a:gd name="adj" fmla="val 50000"/>
            </a:avLst>
          </a:prstGeom>
          <a:solidFill>
            <a:srgbClr val="C00000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6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인증 승인 실패</a:t>
            </a:r>
            <a:endParaRPr lang="ko-KR" altLang="en-US" sz="600" dirty="0" err="1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9CB26B87-0E07-231C-0DAF-FCFAE1910956}"/>
              </a:ext>
            </a:extLst>
          </p:cNvPr>
          <p:cNvGrpSpPr/>
          <p:nvPr/>
        </p:nvGrpSpPr>
        <p:grpSpPr>
          <a:xfrm>
            <a:off x="3308861" y="5373000"/>
            <a:ext cx="2808000" cy="1485001"/>
            <a:chOff x="3308861" y="5373000"/>
            <a:chExt cx="2808000" cy="1485001"/>
          </a:xfrm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FE1B79EF-3DFE-350A-5229-58913D60AA38}"/>
                </a:ext>
              </a:extLst>
            </p:cNvPr>
            <p:cNvSpPr/>
            <p:nvPr/>
          </p:nvSpPr>
          <p:spPr>
            <a:xfrm>
              <a:off x="3308861" y="5373000"/>
              <a:ext cx="2808000" cy="1194745"/>
            </a:xfrm>
            <a:prstGeom prst="roundRect">
              <a:avLst>
                <a:gd name="adj" fmla="val 20592"/>
              </a:avLst>
            </a:prstGeom>
            <a:solidFill>
              <a:schemeClr val="bg1"/>
            </a:solidFill>
          </p:spPr>
          <p:txBody>
            <a:bodyPr wrap="square" rtlCol="0" anchor="ctr">
              <a:noAutofit/>
            </a:bodyPr>
            <a:lstStyle/>
            <a:p>
              <a:pPr algn="l"/>
              <a:endParaRPr kumimoji="0" lang="ko-KR" altLang="en-US" sz="9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9ADDD459-7266-A9F7-0284-6C01C4701CB3}"/>
                </a:ext>
              </a:extLst>
            </p:cNvPr>
            <p:cNvSpPr/>
            <p:nvPr/>
          </p:nvSpPr>
          <p:spPr>
            <a:xfrm>
              <a:off x="3308861" y="5970373"/>
              <a:ext cx="2808000" cy="887628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</p:spPr>
          <p:txBody>
            <a:bodyPr wrap="square" rtlCol="0" anchor="ctr">
              <a:noAutofit/>
            </a:bodyPr>
            <a:lstStyle/>
            <a:p>
              <a:pPr algn="l"/>
              <a:endParaRPr kumimoji="0" lang="ko-KR" altLang="en-US" sz="9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298871D3-2513-0780-C309-CF4D918EB1AE}"/>
              </a:ext>
            </a:extLst>
          </p:cNvPr>
          <p:cNvSpPr txBox="1"/>
          <p:nvPr/>
        </p:nvSpPr>
        <p:spPr bwMode="auto">
          <a:xfrm>
            <a:off x="3111471" y="6060188"/>
            <a:ext cx="3161058" cy="33855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i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경영 서비스</a:t>
            </a:r>
            <a:endParaRPr lang="en-US" altLang="ko-KR" i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43BE28F-E647-1177-9B70-358C2E880714}"/>
              </a:ext>
            </a:extLst>
          </p:cNvPr>
          <p:cNvSpPr txBox="1"/>
          <p:nvPr/>
        </p:nvSpPr>
        <p:spPr bwMode="auto">
          <a:xfrm>
            <a:off x="2779560" y="6393096"/>
            <a:ext cx="3824880" cy="2308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내부 경영</a:t>
            </a:r>
            <a:r>
              <a:rPr lang="en-US" altLang="ko-KR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업무 지원 시스템 로그인</a:t>
            </a:r>
            <a:endParaRPr lang="ko-KR" altLang="en-US" sz="9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CA59F7-335E-3BD2-6AA3-0E604ABF5477}"/>
              </a:ext>
            </a:extLst>
          </p:cNvPr>
          <p:cNvSpPr txBox="1"/>
          <p:nvPr/>
        </p:nvSpPr>
        <p:spPr bwMode="auto">
          <a:xfrm>
            <a:off x="3385778" y="2262168"/>
            <a:ext cx="2612445" cy="2308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90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담당자에게 문의하세요</a:t>
            </a:r>
            <a:r>
              <a:rPr lang="en-US" altLang="ko-KR" sz="90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14A8AEDA-1A77-DD92-292C-B5088CD7A67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512" y="1890111"/>
            <a:ext cx="231009" cy="231009"/>
          </a:xfrm>
          <a:prstGeom prst="rect">
            <a:avLst/>
          </a:prstGeom>
        </p:spPr>
      </p:pic>
      <p:sp>
        <p:nvSpPr>
          <p:cNvPr id="4" name="Chevron Down">
            <a:extLst>
              <a:ext uri="{FF2B5EF4-FFF2-40B4-BE49-F238E27FC236}">
                <a16:creationId xmlns:a16="http://schemas.microsoft.com/office/drawing/2014/main" id="{CD495D6D-AE44-C380-B7C3-407BA3845018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3457510" y="1966280"/>
            <a:ext cx="141428" cy="102230"/>
          </a:xfrm>
          <a:custGeom>
            <a:avLst/>
            <a:gdLst>
              <a:gd name="T0" fmla="*/ 594 w 594"/>
              <a:gd name="T1" fmla="*/ 27 h 324"/>
              <a:gd name="T2" fmla="*/ 566 w 594"/>
              <a:gd name="T3" fmla="*/ 0 h 324"/>
              <a:gd name="T4" fmla="*/ 297 w 594"/>
              <a:gd name="T5" fmla="*/ 268 h 324"/>
              <a:gd name="T6" fmla="*/ 28 w 594"/>
              <a:gd name="T7" fmla="*/ 0 h 324"/>
              <a:gd name="T8" fmla="*/ 0 w 594"/>
              <a:gd name="T9" fmla="*/ 27 h 324"/>
              <a:gd name="T10" fmla="*/ 297 w 594"/>
              <a:gd name="T11" fmla="*/ 324 h 324"/>
              <a:gd name="T12" fmla="*/ 594 w 594"/>
              <a:gd name="T13" fmla="*/ 27 h 3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94" h="324">
                <a:moveTo>
                  <a:pt x="594" y="27"/>
                </a:moveTo>
                <a:lnTo>
                  <a:pt x="566" y="0"/>
                </a:lnTo>
                <a:lnTo>
                  <a:pt x="297" y="268"/>
                </a:lnTo>
                <a:lnTo>
                  <a:pt x="28" y="0"/>
                </a:lnTo>
                <a:lnTo>
                  <a:pt x="0" y="27"/>
                </a:lnTo>
                <a:lnTo>
                  <a:pt x="297" y="324"/>
                </a:lnTo>
                <a:lnTo>
                  <a:pt x="594" y="27"/>
                </a:lnTo>
                <a:close/>
              </a:path>
            </a:pathLst>
          </a:custGeom>
          <a:solidFill>
            <a:srgbClr val="5F5F5F"/>
          </a:solidFill>
          <a:ln w="6350">
            <a:solidFill>
              <a:schemeClr val="tx1">
                <a:lumMod val="85000"/>
                <a:lumOff val="15000"/>
              </a:schemeClr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aphicFrame>
        <p:nvGraphicFramePr>
          <p:cNvPr id="14" name="Group 87">
            <a:extLst>
              <a:ext uri="{FF2B5EF4-FFF2-40B4-BE49-F238E27FC236}">
                <a16:creationId xmlns:a16="http://schemas.microsoft.com/office/drawing/2014/main" id="{22D4057F-60AC-5F30-A45E-F045E926F2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3492213"/>
              </p:ext>
            </p:extLst>
          </p:nvPr>
        </p:nvGraphicFramePr>
        <p:xfrm>
          <a:off x="9491386" y="520961"/>
          <a:ext cx="2698234" cy="5495070"/>
        </p:xfrm>
        <a:graphic>
          <a:graphicData uri="http://schemas.openxmlformats.org/drawingml/2006/table">
            <a:tbl>
              <a:tblPr/>
              <a:tblGrid>
                <a:gridCol w="1743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3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5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40">
                <a:tc gridSpan="2"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No.</a:t>
                      </a:r>
                      <a:endParaRPr kumimoji="0" lang="ko-KR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ko-KR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Component</a:t>
                      </a:r>
                      <a:endParaRPr kumimoji="0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Descriptions</a:t>
                      </a:r>
                      <a:endParaRPr kumimoji="0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069"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600" dirty="0">
                        <a:latin typeface="+mn-ea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임시 </a:t>
                      </a:r>
                      <a:r>
                        <a:rPr kumimoji="0" lang="en-US" altLang="ko-KR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OTP PIN</a:t>
                      </a:r>
                      <a:r>
                        <a:rPr kumimoji="0" lang="ko-KR" altLang="en-US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인증 승인 실패 페이지 </a:t>
                      </a:r>
                      <a:endParaRPr kumimoji="0" lang="en-US" altLang="ko-KR" sz="6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1803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Button</a:t>
                      </a:r>
                      <a:endParaRPr kumimoji="0" lang="en-US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[&lt; ] </a:t>
                      </a:r>
                      <a:r>
                        <a:rPr kumimoji="0" lang="ko-KR" altLang="en-US" sz="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버튼 클릭 시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임시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OTP PIN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인증 페이지 로 이동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뒤로가기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5434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정보요소</a:t>
                      </a:r>
                      <a:endParaRPr kumimoji="0" lang="en-US" altLang="ko-KR" sz="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상태 정보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페이지 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** </a:t>
                      </a:r>
                      <a:r>
                        <a:rPr kumimoji="0" lang="ko-KR" altLang="en-US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새로고침 시 상태 변경 확인 가능</a:t>
                      </a:r>
                      <a:endParaRPr kumimoji="0" lang="en-US" altLang="ko-KR" sz="6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관리자 승인 전 </a:t>
                      </a:r>
                      <a:endParaRPr kumimoji="0" lang="en-US" altLang="ko-KR" sz="6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임시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OTP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대기중입니다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사원명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|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사원정보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|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사원휴대폰번호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[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 승인 대기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상태값 표기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 1-3 [OTP PIN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버튼 비활성화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관리자 승인 반려 시 </a:t>
                      </a:r>
                      <a:endParaRPr kumimoji="0" lang="en-US" altLang="ko-KR" sz="600" b="1" i="0" u="none" strike="noStrike" kern="1200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담당자에게 문의하세요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사원명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|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사원정보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|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사원휴대폰번호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[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 승인 실패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상태값 표기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 1-3 [OTP PIN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버튼 활성화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관리자 승인 완료 시 </a:t>
                      </a:r>
                      <a:endParaRPr kumimoji="0" lang="en-US" altLang="ko-KR" sz="6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 승인이 완료되었습니다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사원명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|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사원정보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|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사원휴대폰번호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[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 승인 완료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상태값 표기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 1-3 [OTP PIN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버튼 활성화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1-3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버튼 클릭 시 초기 페이지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(P11)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페이지로 전환</a:t>
                      </a:r>
                      <a:endParaRPr kumimoji="0" lang="en-US" altLang="ko-KR" sz="6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4872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Button</a:t>
                      </a:r>
                      <a:endParaRPr kumimoji="0" lang="en-US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 승인 대기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|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 승인 실패 의 경우 버튼 비활성화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 승인 완료 시 버튼 활성화 되며 클릭 시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PIN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번호 인증 페이지로 전환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4742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Button</a:t>
                      </a:r>
                      <a:endParaRPr kumimoji="0" lang="en-US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PUSH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인증 요청 버튼 클릭 시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OTP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발급 인증 페이지로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진입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(P9)</a:t>
                      </a: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0134057"/>
                  </a:ext>
                </a:extLst>
              </a:tr>
              <a:tr h="285223">
                <a:tc gridSpan="4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REMARK</a:t>
                      </a: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9557">
                <a:tc gridSpan="4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5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데모 구현을 위해 인증 승인 대기 →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전체 화면 영역 아무곳 클릭 시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→ 인증 승인 실패 →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전체 화면 영역 아무곳 클릭 시 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→ 인증 승인 완료 로 임의 구현 </a:t>
                      </a:r>
                      <a:endParaRPr kumimoji="0" lang="en-US" altLang="ko-KR" sz="6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5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5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6896">
                <a:tc gridSpan="4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FEEDBACK</a:t>
                      </a:r>
                      <a:endParaRPr kumimoji="0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5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5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12700" cmpd="sng">
                      <a:noFill/>
                      <a:prstDash val="solid"/>
                    </a:lnL>
                    <a:lnT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76000">
                <a:tc gridSpan="4">
                  <a:txBody>
                    <a:bodyPr/>
                    <a:lstStyle/>
                    <a:p>
                      <a:pPr marL="0" marR="0" lvl="0" indent="0" algn="l" defTabSz="852488" rtl="0" eaLnBrk="0" fontAlgn="base" latinLnBrk="1" hangingPunct="0">
                        <a:lnSpc>
                          <a:spcPct val="15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+mj-lt"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852488" rtl="0" eaLnBrk="0" fontAlgn="base" latinLnBrk="1" hangingPunct="0">
                        <a:lnSpc>
                          <a:spcPct val="15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+mj-lt"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pSp>
        <p:nvGrpSpPr>
          <p:cNvPr id="18" name="그룹 17">
            <a:extLst>
              <a:ext uri="{FF2B5EF4-FFF2-40B4-BE49-F238E27FC236}">
                <a16:creationId xmlns:a16="http://schemas.microsoft.com/office/drawing/2014/main" id="{449991D5-4A20-3A4E-C2A5-EAC06D09FD63}"/>
              </a:ext>
            </a:extLst>
          </p:cNvPr>
          <p:cNvGrpSpPr/>
          <p:nvPr/>
        </p:nvGrpSpPr>
        <p:grpSpPr>
          <a:xfrm>
            <a:off x="3361473" y="1660457"/>
            <a:ext cx="2636750" cy="3064543"/>
            <a:chOff x="3361473" y="1660457"/>
            <a:chExt cx="2636750" cy="3064543"/>
          </a:xfrm>
        </p:grpSpPr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69B9459C-9F92-9746-F84B-FC425C7BB079}"/>
                </a:ext>
              </a:extLst>
            </p:cNvPr>
            <p:cNvSpPr/>
            <p:nvPr/>
          </p:nvSpPr>
          <p:spPr>
            <a:xfrm>
              <a:off x="3361473" y="1660457"/>
              <a:ext cx="2636750" cy="3064543"/>
            </a:xfrm>
            <a:prstGeom prst="rect">
              <a:avLst/>
            </a:prstGeom>
            <a:noFill/>
            <a:ln>
              <a:solidFill>
                <a:srgbClr val="00B050"/>
              </a:solidFill>
              <a:prstDash val="sysDot"/>
            </a:ln>
          </p:spPr>
          <p:txBody>
            <a:bodyPr wrap="square" rtlCol="0" anchor="ctr">
              <a:noAutofit/>
            </a:bodyPr>
            <a:lstStyle/>
            <a:p>
              <a:pPr algn="l"/>
              <a:endParaRPr kumimoji="0" lang="ko-KR" altLang="en-US" sz="9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7ABFF8DC-4989-99F2-D914-E1DF5231F1A2}"/>
                </a:ext>
              </a:extLst>
            </p:cNvPr>
            <p:cNvSpPr/>
            <p:nvPr/>
          </p:nvSpPr>
          <p:spPr>
            <a:xfrm>
              <a:off x="3422433" y="1873818"/>
              <a:ext cx="401583" cy="254480"/>
            </a:xfrm>
            <a:prstGeom prst="rect">
              <a:avLst/>
            </a:prstGeom>
            <a:noFill/>
            <a:ln>
              <a:solidFill>
                <a:srgbClr val="00B050"/>
              </a:solidFill>
              <a:prstDash val="sysDot"/>
            </a:ln>
          </p:spPr>
          <p:txBody>
            <a:bodyPr wrap="square" rtlCol="0" anchor="ctr">
              <a:noAutofit/>
            </a:bodyPr>
            <a:lstStyle/>
            <a:p>
              <a:pPr algn="l"/>
              <a:endParaRPr kumimoji="0" lang="ko-KR" altLang="en-US" sz="9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CEC9E47A-CD5A-7B5A-0E9C-5A1512A3809D}"/>
                </a:ext>
              </a:extLst>
            </p:cNvPr>
            <p:cNvSpPr/>
            <p:nvPr/>
          </p:nvSpPr>
          <p:spPr>
            <a:xfrm>
              <a:off x="3884860" y="1873818"/>
              <a:ext cx="1765292" cy="1555181"/>
            </a:xfrm>
            <a:prstGeom prst="rect">
              <a:avLst/>
            </a:prstGeom>
            <a:noFill/>
            <a:ln>
              <a:solidFill>
                <a:srgbClr val="00B050"/>
              </a:solidFill>
              <a:prstDash val="sysDot"/>
            </a:ln>
          </p:spPr>
          <p:txBody>
            <a:bodyPr wrap="square" rtlCol="0" anchor="ctr">
              <a:noAutofit/>
            </a:bodyPr>
            <a:lstStyle/>
            <a:p>
              <a:pPr algn="l"/>
              <a:endParaRPr kumimoji="0" lang="ko-KR" altLang="en-US" sz="9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4" name="모서리가 둥근 직사각형 209">
              <a:extLst>
                <a:ext uri="{FF2B5EF4-FFF2-40B4-BE49-F238E27FC236}">
                  <a16:creationId xmlns:a16="http://schemas.microsoft.com/office/drawing/2014/main" id="{D1108F41-4D0F-90BE-656C-83BDE7652DFB}"/>
                </a:ext>
              </a:extLst>
            </p:cNvPr>
            <p:cNvSpPr/>
            <p:nvPr/>
          </p:nvSpPr>
          <p:spPr>
            <a:xfrm>
              <a:off x="3869540" y="1862146"/>
              <a:ext cx="280468" cy="141428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r>
                <a:rPr lang="en-US" altLang="ko-KR" sz="700" b="0">
                  <a:latin typeface="+mn-ea"/>
                </a:rPr>
                <a:t>1-2</a:t>
              </a:r>
              <a:endParaRPr lang="ko-KR" altLang="en-US" sz="700" b="0" dirty="0">
                <a:latin typeface="+mn-ea"/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B3257ADE-A6B4-1D04-0D7E-36265D9AC956}"/>
                </a:ext>
              </a:extLst>
            </p:cNvPr>
            <p:cNvSpPr/>
            <p:nvPr/>
          </p:nvSpPr>
          <p:spPr>
            <a:xfrm>
              <a:off x="3814437" y="3712779"/>
              <a:ext cx="1835715" cy="554500"/>
            </a:xfrm>
            <a:prstGeom prst="rect">
              <a:avLst/>
            </a:prstGeom>
            <a:noFill/>
            <a:ln>
              <a:solidFill>
                <a:srgbClr val="00B050"/>
              </a:solidFill>
              <a:prstDash val="sysDot"/>
            </a:ln>
          </p:spPr>
          <p:txBody>
            <a:bodyPr wrap="square" rtlCol="0" anchor="ctr">
              <a:noAutofit/>
            </a:bodyPr>
            <a:lstStyle/>
            <a:p>
              <a:pPr algn="l"/>
              <a:endParaRPr kumimoji="0" lang="ko-KR" altLang="en-US" sz="9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6" name="모서리가 둥근 직사각형 209">
              <a:extLst>
                <a:ext uri="{FF2B5EF4-FFF2-40B4-BE49-F238E27FC236}">
                  <a16:creationId xmlns:a16="http://schemas.microsoft.com/office/drawing/2014/main" id="{DF7FD0CC-861E-3EB5-8055-45D447DD20FF}"/>
                </a:ext>
              </a:extLst>
            </p:cNvPr>
            <p:cNvSpPr/>
            <p:nvPr/>
          </p:nvSpPr>
          <p:spPr>
            <a:xfrm>
              <a:off x="3814437" y="3629726"/>
              <a:ext cx="280468" cy="141428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r>
                <a:rPr lang="en-US" altLang="ko-KR" sz="700" b="0">
                  <a:latin typeface="+mn-ea"/>
                </a:rPr>
                <a:t>1-3</a:t>
              </a:r>
              <a:endParaRPr lang="ko-KR" altLang="en-US" sz="700" b="0" dirty="0">
                <a:latin typeface="+mn-ea"/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9350D6B9-6605-27F9-A638-6C5B7EFE70E8}"/>
                </a:ext>
              </a:extLst>
            </p:cNvPr>
            <p:cNvSpPr/>
            <p:nvPr/>
          </p:nvSpPr>
          <p:spPr>
            <a:xfrm>
              <a:off x="3814437" y="4327459"/>
              <a:ext cx="1835715" cy="230211"/>
            </a:xfrm>
            <a:prstGeom prst="rect">
              <a:avLst/>
            </a:prstGeom>
            <a:noFill/>
            <a:ln>
              <a:solidFill>
                <a:srgbClr val="00B050"/>
              </a:solidFill>
              <a:prstDash val="sysDot"/>
            </a:ln>
          </p:spPr>
          <p:txBody>
            <a:bodyPr wrap="square" rtlCol="0" anchor="ctr">
              <a:noAutofit/>
            </a:bodyPr>
            <a:lstStyle/>
            <a:p>
              <a:pPr algn="l"/>
              <a:endParaRPr kumimoji="0" lang="ko-KR" altLang="en-US" sz="9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9" name="모서리가 둥근 직사각형 209">
              <a:extLst>
                <a:ext uri="{FF2B5EF4-FFF2-40B4-BE49-F238E27FC236}">
                  <a16:creationId xmlns:a16="http://schemas.microsoft.com/office/drawing/2014/main" id="{6852998C-ADAB-F0CD-9D4E-EA8B3357F77D}"/>
                </a:ext>
              </a:extLst>
            </p:cNvPr>
            <p:cNvSpPr/>
            <p:nvPr/>
          </p:nvSpPr>
          <p:spPr>
            <a:xfrm>
              <a:off x="3814437" y="4325985"/>
              <a:ext cx="280468" cy="141428"/>
            </a:xfrm>
            <a:prstGeom prst="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r>
                <a:rPr lang="en-US" altLang="ko-KR" sz="700" b="0">
                  <a:latin typeface="+mn-ea"/>
                </a:rPr>
                <a:t>1-4</a:t>
              </a:r>
              <a:endParaRPr lang="ko-KR" altLang="en-US" sz="700" b="0" dirty="0">
                <a:latin typeface="+mn-ea"/>
              </a:endParaRPr>
            </a:p>
          </p:txBody>
        </p:sp>
      </p:grpSp>
      <p:sp>
        <p:nvSpPr>
          <p:cNvPr id="34" name="모서리가 둥근 직사각형 209">
            <a:extLst>
              <a:ext uri="{FF2B5EF4-FFF2-40B4-BE49-F238E27FC236}">
                <a16:creationId xmlns:a16="http://schemas.microsoft.com/office/drawing/2014/main" id="{0DC3591B-F60B-6F4D-F00C-24E712E57340}"/>
              </a:ext>
            </a:extLst>
          </p:cNvPr>
          <p:cNvSpPr/>
          <p:nvPr/>
        </p:nvSpPr>
        <p:spPr>
          <a:xfrm>
            <a:off x="3361473" y="1667862"/>
            <a:ext cx="231272" cy="1661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700" b="0">
                <a:latin typeface="+mn-ea"/>
              </a:rPr>
              <a:t>1</a:t>
            </a:r>
            <a:endParaRPr lang="ko-KR" altLang="en-US" sz="700" b="0" dirty="0">
              <a:latin typeface="+mn-ea"/>
            </a:endParaRPr>
          </a:p>
        </p:txBody>
      </p:sp>
      <p:sp>
        <p:nvSpPr>
          <p:cNvPr id="35" name="모서리가 둥근 직사각형 209">
            <a:extLst>
              <a:ext uri="{FF2B5EF4-FFF2-40B4-BE49-F238E27FC236}">
                <a16:creationId xmlns:a16="http://schemas.microsoft.com/office/drawing/2014/main" id="{AB0AB505-C5D2-9251-5D3A-D4E4F4249EEE}"/>
              </a:ext>
            </a:extLst>
          </p:cNvPr>
          <p:cNvSpPr/>
          <p:nvPr/>
        </p:nvSpPr>
        <p:spPr>
          <a:xfrm>
            <a:off x="3146601" y="1866991"/>
            <a:ext cx="280468" cy="1414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700" b="0">
                <a:latin typeface="+mn-ea"/>
              </a:rPr>
              <a:t>1-1</a:t>
            </a:r>
            <a:endParaRPr lang="ko-KR" altLang="en-US" sz="700" b="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446375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2A589F-DA95-8E71-4646-ED452C1DB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984CC32A-4A36-66F9-AF71-23B7FB1C27A7}"/>
              </a:ext>
            </a:extLst>
          </p:cNvPr>
          <p:cNvSpPr/>
          <p:nvPr/>
        </p:nvSpPr>
        <p:spPr>
          <a:xfrm>
            <a:off x="0" y="520961"/>
            <a:ext cx="9467081" cy="6337039"/>
          </a:xfrm>
          <a:prstGeom prst="rect">
            <a:avLst/>
          </a:prstGeom>
          <a:solidFill>
            <a:srgbClr val="FEE500"/>
          </a:solidFill>
        </p:spPr>
        <p:txBody>
          <a:bodyPr wrap="square" rtlCol="0" anchor="ctr">
            <a:noAutofit/>
          </a:bodyPr>
          <a:lstStyle/>
          <a:p>
            <a:pPr algn="l"/>
            <a:endParaRPr kumimoji="0" lang="ko-KR" altLang="en-US" sz="9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7" name="텍스트 개체 틀 28">
            <a:extLst>
              <a:ext uri="{FF2B5EF4-FFF2-40B4-BE49-F238E27FC236}">
                <a16:creationId xmlns:a16="http://schemas.microsoft.com/office/drawing/2014/main" id="{EC1F4B98-DCC0-9942-C9CA-DC603BBA3E15}"/>
              </a:ext>
            </a:extLst>
          </p:cNvPr>
          <p:cNvSpPr txBox="1">
            <a:spLocks/>
          </p:cNvSpPr>
          <p:nvPr/>
        </p:nvSpPr>
        <p:spPr>
          <a:xfrm>
            <a:off x="1225975" y="20616"/>
            <a:ext cx="2160000" cy="180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[ATON] </a:t>
            </a:r>
            <a:r>
              <a:rPr lang="ko-KR" altLang="en-US"/>
              <a:t>카카오뱅크 </a:t>
            </a:r>
            <a:r>
              <a:rPr lang="en-US" altLang="ko-KR"/>
              <a:t>OTP POC</a:t>
            </a:r>
            <a:endParaRPr lang="ko-KR" altLang="en-US"/>
          </a:p>
        </p:txBody>
      </p:sp>
      <p:sp>
        <p:nvSpPr>
          <p:cNvPr id="214" name="텍스트 개체 틀 28">
            <a:extLst>
              <a:ext uri="{FF2B5EF4-FFF2-40B4-BE49-F238E27FC236}">
                <a16:creationId xmlns:a16="http://schemas.microsoft.com/office/drawing/2014/main" id="{2948F10D-B49D-A367-D6C9-7198EDFEC820}"/>
              </a:ext>
            </a:extLst>
          </p:cNvPr>
          <p:cNvSpPr txBox="1">
            <a:spLocks/>
          </p:cNvSpPr>
          <p:nvPr/>
        </p:nvSpPr>
        <p:spPr>
          <a:xfrm>
            <a:off x="1235500" y="252000"/>
            <a:ext cx="2160000" cy="180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ko-KR" altLang="en-US" b="0"/>
              <a:t>임시 </a:t>
            </a:r>
            <a:r>
              <a:rPr kumimoji="0" lang="en-US" altLang="ko-KR" b="0"/>
              <a:t>OTP </a:t>
            </a:r>
            <a:r>
              <a:rPr kumimoji="0" lang="ko-KR" altLang="en-US" b="0"/>
              <a:t>인증 </a:t>
            </a:r>
            <a:r>
              <a:rPr kumimoji="0" lang="en-US" altLang="ko-KR" b="0"/>
              <a:t>&gt; </a:t>
            </a:r>
            <a:r>
              <a:rPr kumimoji="0" lang="ko-KR" altLang="en-US" b="0"/>
              <a:t>인증 승인 완료</a:t>
            </a:r>
            <a:endParaRPr kumimoji="0" lang="en-US" altLang="ko-KR" b="0" dirty="0"/>
          </a:p>
        </p:txBody>
      </p:sp>
      <p:sp>
        <p:nvSpPr>
          <p:cNvPr id="228" name="텍스트 개체 틀 28">
            <a:extLst>
              <a:ext uri="{FF2B5EF4-FFF2-40B4-BE49-F238E27FC236}">
                <a16:creationId xmlns:a16="http://schemas.microsoft.com/office/drawing/2014/main" id="{A4B0C585-49DB-537F-04CC-5B7E85BC8B0B}"/>
              </a:ext>
            </a:extLst>
          </p:cNvPr>
          <p:cNvSpPr txBox="1">
            <a:spLocks/>
          </p:cNvSpPr>
          <p:nvPr/>
        </p:nvSpPr>
        <p:spPr>
          <a:xfrm>
            <a:off x="4751298" y="252000"/>
            <a:ext cx="1080000" cy="180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b="0" dirty="0">
              <a:solidFill>
                <a:srgbClr val="000000"/>
              </a:solidFill>
            </a:endParaRPr>
          </a:p>
        </p:txBody>
      </p:sp>
      <p:sp>
        <p:nvSpPr>
          <p:cNvPr id="235" name="텍스트 개체 틀 28">
            <a:extLst>
              <a:ext uri="{FF2B5EF4-FFF2-40B4-BE49-F238E27FC236}">
                <a16:creationId xmlns:a16="http://schemas.microsoft.com/office/drawing/2014/main" id="{B6660947-288C-AC67-0D29-14A9D253145A}"/>
              </a:ext>
            </a:extLst>
          </p:cNvPr>
          <p:cNvSpPr txBox="1">
            <a:spLocks/>
          </p:cNvSpPr>
          <p:nvPr/>
        </p:nvSpPr>
        <p:spPr>
          <a:xfrm>
            <a:off x="7088981" y="252000"/>
            <a:ext cx="2340000" cy="180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b="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9EBDCEE-8D29-E806-9567-8983E9B44EF1}"/>
              </a:ext>
            </a:extLst>
          </p:cNvPr>
          <p:cNvSpPr/>
          <p:nvPr/>
        </p:nvSpPr>
        <p:spPr bwMode="auto">
          <a:xfrm>
            <a:off x="4712861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1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90FA47B-F2FF-3D1B-5773-0064FC40D17A}"/>
              </a:ext>
            </a:extLst>
          </p:cNvPr>
          <p:cNvSpPr/>
          <p:nvPr/>
        </p:nvSpPr>
        <p:spPr bwMode="auto">
          <a:xfrm>
            <a:off x="5927042" y="0"/>
            <a:ext cx="294701" cy="21938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2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406B2BC-7D15-25A6-5F9B-BABB2F52578B}"/>
              </a:ext>
            </a:extLst>
          </p:cNvPr>
          <p:cNvSpPr/>
          <p:nvPr/>
        </p:nvSpPr>
        <p:spPr bwMode="auto">
          <a:xfrm>
            <a:off x="7059464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3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CFCA877-EDA9-171C-7CC3-A4C9015D8545}"/>
              </a:ext>
            </a:extLst>
          </p:cNvPr>
          <p:cNvSpPr/>
          <p:nvPr/>
        </p:nvSpPr>
        <p:spPr bwMode="auto">
          <a:xfrm>
            <a:off x="8264807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4</a:t>
            </a:r>
            <a:r>
              <a:rPr kumimoji="1" lang="en-US" altLang="ko-KR" sz="6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</a:t>
            </a: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8DD4CD0B-7BEA-617D-D12F-E91949DEE8EE}"/>
              </a:ext>
            </a:extLst>
          </p:cNvPr>
          <p:cNvSpPr/>
          <p:nvPr/>
        </p:nvSpPr>
        <p:spPr bwMode="auto">
          <a:xfrm>
            <a:off x="9467081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5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014BD4D8-1E1E-700B-4229-5AA34CFF6A25}"/>
              </a:ext>
            </a:extLst>
          </p:cNvPr>
          <p:cNvSpPr/>
          <p:nvPr/>
        </p:nvSpPr>
        <p:spPr bwMode="auto">
          <a:xfrm>
            <a:off x="10574936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6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69" name="텍스트 개체 틀 28">
            <a:extLst>
              <a:ext uri="{FF2B5EF4-FFF2-40B4-BE49-F238E27FC236}">
                <a16:creationId xmlns:a16="http://schemas.microsoft.com/office/drawing/2014/main" id="{BC20178F-B5BC-038A-C0A7-8BC795EE4A7A}"/>
              </a:ext>
            </a:extLst>
          </p:cNvPr>
          <p:cNvSpPr txBox="1">
            <a:spLocks/>
          </p:cNvSpPr>
          <p:nvPr/>
        </p:nvSpPr>
        <p:spPr>
          <a:xfrm>
            <a:off x="10612354" y="252000"/>
            <a:ext cx="1080000" cy="16977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0"/>
              <a:t>2025-12-12</a:t>
            </a:r>
            <a:endParaRPr lang="ko-KR" altLang="en-US" b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07CF8B-B2BC-CB75-25D0-BB346FDC2333}"/>
              </a:ext>
            </a:extLst>
          </p:cNvPr>
          <p:cNvSpPr txBox="1"/>
          <p:nvPr/>
        </p:nvSpPr>
        <p:spPr bwMode="auto">
          <a:xfrm>
            <a:off x="3111471" y="878353"/>
            <a:ext cx="3161058" cy="33855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b="1" i="0">
                <a:solidFill>
                  <a:srgbClr val="11111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카카오뱅크 </a:t>
            </a:r>
            <a:r>
              <a:rPr lang="en-US" altLang="ko-KR" b="1" i="0">
                <a:solidFill>
                  <a:srgbClr val="11111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OTP POC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9A934A-F472-AFEB-3790-B0F21276B4B9}"/>
              </a:ext>
            </a:extLst>
          </p:cNvPr>
          <p:cNvSpPr txBox="1"/>
          <p:nvPr/>
        </p:nvSpPr>
        <p:spPr bwMode="auto">
          <a:xfrm>
            <a:off x="2779560" y="1216907"/>
            <a:ext cx="3824880" cy="21544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8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PC</a:t>
            </a:r>
            <a:r>
              <a:rPr lang="en-US" altLang="ko-KR" sz="8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/ Mobile Web</a:t>
            </a:r>
            <a:r>
              <a:rPr lang="ko-KR" altLang="en-US" sz="8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에</a:t>
            </a:r>
            <a:r>
              <a:rPr lang="ko-KR" altLang="en-US" sz="8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서 </a:t>
            </a:r>
            <a:r>
              <a:rPr lang="en-US" altLang="ko-KR" sz="8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OTP </a:t>
            </a:r>
            <a:r>
              <a:rPr lang="ko-KR" altLang="en-US" sz="8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인증을 요청하는 상황을 가정합니다</a:t>
            </a:r>
            <a:r>
              <a:rPr lang="en-US" altLang="ko-KR" sz="8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80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FC84FC76-8C41-4E7A-6F05-7EFB85722316}"/>
              </a:ext>
            </a:extLst>
          </p:cNvPr>
          <p:cNvSpPr/>
          <p:nvPr/>
        </p:nvSpPr>
        <p:spPr>
          <a:xfrm>
            <a:off x="3308861" y="1604255"/>
            <a:ext cx="2808000" cy="3192745"/>
          </a:xfrm>
          <a:prstGeom prst="roundRect">
            <a:avLst>
              <a:gd name="adj" fmla="val 8346"/>
            </a:avLst>
          </a:prstGeom>
          <a:solidFill>
            <a:schemeClr val="bg1"/>
          </a:solidFill>
        </p:spPr>
        <p:txBody>
          <a:bodyPr wrap="square" rtlCol="0" anchor="ctr">
            <a:noAutofit/>
          </a:bodyPr>
          <a:lstStyle/>
          <a:p>
            <a:pPr algn="l"/>
            <a:endParaRPr kumimoji="0" lang="ko-KR" altLang="en-US" sz="9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0822FD5F-FCD7-D6F2-C80E-46A6ACE953A0}"/>
              </a:ext>
            </a:extLst>
          </p:cNvPr>
          <p:cNvSpPr/>
          <p:nvPr/>
        </p:nvSpPr>
        <p:spPr>
          <a:xfrm>
            <a:off x="3824016" y="3810456"/>
            <a:ext cx="1728000" cy="398272"/>
          </a:xfrm>
          <a:prstGeom prst="roundRect">
            <a:avLst>
              <a:gd name="adj" fmla="val 30214"/>
            </a:avLst>
          </a:prstGeom>
          <a:solidFill>
            <a:srgbClr val="FEE500"/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80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OTP PIN </a:t>
            </a:r>
            <a:r>
              <a:rPr lang="ko-KR" altLang="en-US" sz="800">
                <a:solidFill>
                  <a:srgbClr val="11111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인증</a:t>
            </a:r>
            <a:endParaRPr lang="ko-KR" altLang="en-US" sz="800" dirty="0" err="1">
              <a:solidFill>
                <a:srgbClr val="11111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BA5D2796-0A86-DEA8-4BE6-8D023D5B4AAB}"/>
              </a:ext>
            </a:extLst>
          </p:cNvPr>
          <p:cNvSpPr/>
          <p:nvPr/>
        </p:nvSpPr>
        <p:spPr>
          <a:xfrm>
            <a:off x="3869540" y="2638201"/>
            <a:ext cx="1728000" cy="327273"/>
          </a:xfrm>
          <a:prstGeom prst="roundRect">
            <a:avLst>
              <a:gd name="adj" fmla="val 30214"/>
            </a:avLst>
          </a:prstGeom>
          <a:solidFill>
            <a:schemeClr val="bg1"/>
          </a:solidFill>
          <a:ln w="6350"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700" b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홍길동  </a:t>
            </a:r>
            <a:r>
              <a:rPr lang="en-US" altLang="ko-KR" sz="700" b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|    </a:t>
            </a:r>
            <a:r>
              <a:rPr lang="ko-KR" altLang="en-US" sz="700" b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en-US" altLang="ko-KR" sz="700" b="0">
                <a:solidFill>
                  <a:schemeClr val="tx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165457  |    010-4568-7894</a:t>
            </a:r>
            <a:endParaRPr lang="ko-KR" altLang="en-US" sz="700" b="0" dirty="0" err="1">
              <a:solidFill>
                <a:schemeClr val="tx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42286B1-F5EC-B801-0E4E-D4C59487090D}"/>
              </a:ext>
            </a:extLst>
          </p:cNvPr>
          <p:cNvSpPr txBox="1"/>
          <p:nvPr/>
        </p:nvSpPr>
        <p:spPr bwMode="auto">
          <a:xfrm>
            <a:off x="3954671" y="4341686"/>
            <a:ext cx="1474657" cy="21544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800" u="sng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PUSH</a:t>
            </a:r>
            <a:r>
              <a:rPr lang="ko-KR" altLang="en-US" sz="800" u="sng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인증 요청</a:t>
            </a:r>
            <a:endParaRPr lang="ko-KR" altLang="en-US" sz="800" u="sng"/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8F5781E8-B57B-4097-1C9E-7E74765B3F7D}"/>
              </a:ext>
            </a:extLst>
          </p:cNvPr>
          <p:cNvSpPr/>
          <p:nvPr/>
        </p:nvSpPr>
        <p:spPr>
          <a:xfrm>
            <a:off x="4284954" y="3075363"/>
            <a:ext cx="806125" cy="224814"/>
          </a:xfrm>
          <a:prstGeom prst="roundRect">
            <a:avLst>
              <a:gd name="adj" fmla="val 50000"/>
            </a:avLst>
          </a:prstGeom>
          <a:solidFill>
            <a:schemeClr val="accent5">
              <a:lumMod val="75000"/>
            </a:schemeClr>
          </a:solidFill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600">
                <a:solidFill>
                  <a:schemeClr val="bg1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인증 승인 완료</a:t>
            </a:r>
            <a:endParaRPr lang="ko-KR" altLang="en-US" sz="600" dirty="0" err="1">
              <a:solidFill>
                <a:schemeClr val="bg1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4FE66787-CC1C-7D1F-A421-A3DDF0078008}"/>
              </a:ext>
            </a:extLst>
          </p:cNvPr>
          <p:cNvGrpSpPr/>
          <p:nvPr/>
        </p:nvGrpSpPr>
        <p:grpSpPr>
          <a:xfrm>
            <a:off x="3308861" y="5373000"/>
            <a:ext cx="2808000" cy="1485001"/>
            <a:chOff x="3308861" y="5373000"/>
            <a:chExt cx="2808000" cy="1485001"/>
          </a:xfrm>
        </p:grpSpPr>
        <p:sp>
          <p:nvSpPr>
            <p:cNvPr id="5" name="사각형: 둥근 모서리 4">
              <a:extLst>
                <a:ext uri="{FF2B5EF4-FFF2-40B4-BE49-F238E27FC236}">
                  <a16:creationId xmlns:a16="http://schemas.microsoft.com/office/drawing/2014/main" id="{BEDB9EFA-5D28-C377-5420-D6C7D4D3B953}"/>
                </a:ext>
              </a:extLst>
            </p:cNvPr>
            <p:cNvSpPr/>
            <p:nvPr/>
          </p:nvSpPr>
          <p:spPr>
            <a:xfrm>
              <a:off x="3308861" y="5373000"/>
              <a:ext cx="2808000" cy="1194745"/>
            </a:xfrm>
            <a:prstGeom prst="roundRect">
              <a:avLst>
                <a:gd name="adj" fmla="val 20592"/>
              </a:avLst>
            </a:prstGeom>
            <a:solidFill>
              <a:schemeClr val="bg1"/>
            </a:solidFill>
          </p:spPr>
          <p:txBody>
            <a:bodyPr wrap="square" rtlCol="0" anchor="ctr">
              <a:noAutofit/>
            </a:bodyPr>
            <a:lstStyle/>
            <a:p>
              <a:pPr algn="l"/>
              <a:endParaRPr kumimoji="0" lang="ko-KR" altLang="en-US" sz="9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" name="사각형: 둥근 모서리 5">
              <a:extLst>
                <a:ext uri="{FF2B5EF4-FFF2-40B4-BE49-F238E27FC236}">
                  <a16:creationId xmlns:a16="http://schemas.microsoft.com/office/drawing/2014/main" id="{DA797228-7D6B-A4B5-5F9F-F93A64C2D051}"/>
                </a:ext>
              </a:extLst>
            </p:cNvPr>
            <p:cNvSpPr/>
            <p:nvPr/>
          </p:nvSpPr>
          <p:spPr>
            <a:xfrm>
              <a:off x="3308861" y="5970373"/>
              <a:ext cx="2808000" cy="887628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</p:spPr>
          <p:txBody>
            <a:bodyPr wrap="square" rtlCol="0" anchor="ctr">
              <a:noAutofit/>
            </a:bodyPr>
            <a:lstStyle/>
            <a:p>
              <a:pPr algn="l"/>
              <a:endParaRPr kumimoji="0" lang="ko-KR" altLang="en-US" sz="9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C2F5FF9E-5ED7-E4E5-BDE9-70B833F05181}"/>
              </a:ext>
            </a:extLst>
          </p:cNvPr>
          <p:cNvSpPr txBox="1"/>
          <p:nvPr/>
        </p:nvSpPr>
        <p:spPr bwMode="auto">
          <a:xfrm>
            <a:off x="3111471" y="6060188"/>
            <a:ext cx="3161058" cy="33855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i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경영 서비스</a:t>
            </a:r>
            <a:endParaRPr lang="en-US" altLang="ko-KR" i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3A58A6-8D45-FC90-76FE-D30C60FB804F}"/>
              </a:ext>
            </a:extLst>
          </p:cNvPr>
          <p:cNvSpPr txBox="1"/>
          <p:nvPr/>
        </p:nvSpPr>
        <p:spPr bwMode="auto">
          <a:xfrm>
            <a:off x="2779560" y="6393096"/>
            <a:ext cx="3824880" cy="2308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내부 경영</a:t>
            </a:r>
            <a:r>
              <a:rPr lang="en-US" altLang="ko-KR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업무 지원 시스템 로그인</a:t>
            </a:r>
            <a:endParaRPr lang="ko-KR" altLang="en-US" sz="9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4C518B9-9D14-2BEE-1F59-45908963B464}"/>
              </a:ext>
            </a:extLst>
          </p:cNvPr>
          <p:cNvSpPr txBox="1"/>
          <p:nvPr/>
        </p:nvSpPr>
        <p:spPr bwMode="auto">
          <a:xfrm>
            <a:off x="3385778" y="2262168"/>
            <a:ext cx="2612445" cy="2308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90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인증 승인이 완료되었습니다</a:t>
            </a:r>
            <a:r>
              <a:rPr lang="en-US" altLang="ko-KR" sz="90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</a:p>
        </p:txBody>
      </p:sp>
      <p:pic>
        <p:nvPicPr>
          <p:cNvPr id="21" name="그림 20" descr="원, 그래픽, 스크린샷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245528E-5A17-EBDF-4E50-9646896600B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2416" y="1925500"/>
            <a:ext cx="191201" cy="191201"/>
          </a:xfrm>
          <a:prstGeom prst="rect">
            <a:avLst/>
          </a:prstGeom>
        </p:spPr>
      </p:pic>
      <p:sp>
        <p:nvSpPr>
          <p:cNvPr id="19" name="Chevron Down">
            <a:extLst>
              <a:ext uri="{FF2B5EF4-FFF2-40B4-BE49-F238E27FC236}">
                <a16:creationId xmlns:a16="http://schemas.microsoft.com/office/drawing/2014/main" id="{3FFE2B28-BD68-B299-9FE0-C3F278F57E7C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3457510" y="1966280"/>
            <a:ext cx="141428" cy="102230"/>
          </a:xfrm>
          <a:custGeom>
            <a:avLst/>
            <a:gdLst>
              <a:gd name="T0" fmla="*/ 594 w 594"/>
              <a:gd name="T1" fmla="*/ 27 h 324"/>
              <a:gd name="T2" fmla="*/ 566 w 594"/>
              <a:gd name="T3" fmla="*/ 0 h 324"/>
              <a:gd name="T4" fmla="*/ 297 w 594"/>
              <a:gd name="T5" fmla="*/ 268 h 324"/>
              <a:gd name="T6" fmla="*/ 28 w 594"/>
              <a:gd name="T7" fmla="*/ 0 h 324"/>
              <a:gd name="T8" fmla="*/ 0 w 594"/>
              <a:gd name="T9" fmla="*/ 27 h 324"/>
              <a:gd name="T10" fmla="*/ 297 w 594"/>
              <a:gd name="T11" fmla="*/ 324 h 324"/>
              <a:gd name="T12" fmla="*/ 594 w 594"/>
              <a:gd name="T13" fmla="*/ 27 h 3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94" h="324">
                <a:moveTo>
                  <a:pt x="594" y="27"/>
                </a:moveTo>
                <a:lnTo>
                  <a:pt x="566" y="0"/>
                </a:lnTo>
                <a:lnTo>
                  <a:pt x="297" y="268"/>
                </a:lnTo>
                <a:lnTo>
                  <a:pt x="28" y="0"/>
                </a:lnTo>
                <a:lnTo>
                  <a:pt x="0" y="27"/>
                </a:lnTo>
                <a:lnTo>
                  <a:pt x="297" y="324"/>
                </a:lnTo>
                <a:lnTo>
                  <a:pt x="594" y="27"/>
                </a:lnTo>
                <a:close/>
              </a:path>
            </a:pathLst>
          </a:custGeom>
          <a:solidFill>
            <a:srgbClr val="5F5F5F"/>
          </a:solidFill>
          <a:ln w="6350">
            <a:solidFill>
              <a:schemeClr val="tx1">
                <a:lumMod val="85000"/>
                <a:lumOff val="15000"/>
              </a:schemeClr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7B80544-B8CC-6BCF-EA71-BA6857962005}"/>
              </a:ext>
            </a:extLst>
          </p:cNvPr>
          <p:cNvSpPr/>
          <p:nvPr/>
        </p:nvSpPr>
        <p:spPr>
          <a:xfrm>
            <a:off x="3361473" y="1660457"/>
            <a:ext cx="2636750" cy="3064543"/>
          </a:xfrm>
          <a:prstGeom prst="rect">
            <a:avLst/>
          </a:prstGeom>
          <a:noFill/>
          <a:ln>
            <a:solidFill>
              <a:srgbClr val="00B050"/>
            </a:solidFill>
            <a:prstDash val="sysDot"/>
          </a:ln>
        </p:spPr>
        <p:txBody>
          <a:bodyPr wrap="square" rtlCol="0" anchor="ctr">
            <a:noAutofit/>
          </a:bodyPr>
          <a:lstStyle/>
          <a:p>
            <a:pPr algn="l"/>
            <a:endParaRPr kumimoji="0" lang="ko-KR" altLang="en-US" sz="9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D2C8BD3-650D-D0EF-D0FA-81ACE4C997C9}"/>
              </a:ext>
            </a:extLst>
          </p:cNvPr>
          <p:cNvSpPr/>
          <p:nvPr/>
        </p:nvSpPr>
        <p:spPr>
          <a:xfrm>
            <a:off x="3422433" y="1873818"/>
            <a:ext cx="401583" cy="254480"/>
          </a:xfrm>
          <a:prstGeom prst="rect">
            <a:avLst/>
          </a:prstGeom>
          <a:noFill/>
          <a:ln>
            <a:solidFill>
              <a:srgbClr val="00B050"/>
            </a:solidFill>
            <a:prstDash val="sysDot"/>
          </a:ln>
        </p:spPr>
        <p:txBody>
          <a:bodyPr wrap="square" rtlCol="0" anchor="ctr">
            <a:noAutofit/>
          </a:bodyPr>
          <a:lstStyle/>
          <a:p>
            <a:pPr algn="l"/>
            <a:endParaRPr kumimoji="0" lang="ko-KR" altLang="en-US" sz="9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740104A9-6FF5-5A76-8444-4E70A9A53126}"/>
              </a:ext>
            </a:extLst>
          </p:cNvPr>
          <p:cNvSpPr/>
          <p:nvPr/>
        </p:nvSpPr>
        <p:spPr>
          <a:xfrm>
            <a:off x="3884860" y="1873818"/>
            <a:ext cx="1765292" cy="1555181"/>
          </a:xfrm>
          <a:prstGeom prst="rect">
            <a:avLst/>
          </a:prstGeom>
          <a:noFill/>
          <a:ln>
            <a:solidFill>
              <a:srgbClr val="00B050"/>
            </a:solidFill>
            <a:prstDash val="sysDot"/>
          </a:ln>
        </p:spPr>
        <p:txBody>
          <a:bodyPr wrap="square" rtlCol="0" anchor="ctr">
            <a:noAutofit/>
          </a:bodyPr>
          <a:lstStyle/>
          <a:p>
            <a:pPr algn="l"/>
            <a:endParaRPr kumimoji="0" lang="ko-KR" altLang="en-US" sz="9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모서리가 둥근 직사각형 209">
            <a:extLst>
              <a:ext uri="{FF2B5EF4-FFF2-40B4-BE49-F238E27FC236}">
                <a16:creationId xmlns:a16="http://schemas.microsoft.com/office/drawing/2014/main" id="{CE37AB30-2438-4BED-72ED-B0646B8A5FE1}"/>
              </a:ext>
            </a:extLst>
          </p:cNvPr>
          <p:cNvSpPr/>
          <p:nvPr/>
        </p:nvSpPr>
        <p:spPr>
          <a:xfrm>
            <a:off x="3869540" y="1862146"/>
            <a:ext cx="280468" cy="1414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700" b="0">
                <a:latin typeface="+mn-ea"/>
              </a:rPr>
              <a:t>1-2</a:t>
            </a:r>
            <a:endParaRPr lang="ko-KR" altLang="en-US" sz="700" b="0" dirty="0">
              <a:latin typeface="+mn-ea"/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B95286AA-1F91-3127-FB52-E956D5A44053}"/>
              </a:ext>
            </a:extLst>
          </p:cNvPr>
          <p:cNvSpPr/>
          <p:nvPr/>
        </p:nvSpPr>
        <p:spPr>
          <a:xfrm>
            <a:off x="3814437" y="3712779"/>
            <a:ext cx="1835715" cy="554500"/>
          </a:xfrm>
          <a:prstGeom prst="rect">
            <a:avLst/>
          </a:prstGeom>
          <a:noFill/>
          <a:ln>
            <a:solidFill>
              <a:srgbClr val="00B050"/>
            </a:solidFill>
            <a:prstDash val="sysDot"/>
          </a:ln>
        </p:spPr>
        <p:txBody>
          <a:bodyPr wrap="square" rtlCol="0" anchor="ctr">
            <a:noAutofit/>
          </a:bodyPr>
          <a:lstStyle/>
          <a:p>
            <a:pPr algn="l"/>
            <a:endParaRPr kumimoji="0" lang="ko-KR" altLang="en-US" sz="9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모서리가 둥근 직사각형 209">
            <a:extLst>
              <a:ext uri="{FF2B5EF4-FFF2-40B4-BE49-F238E27FC236}">
                <a16:creationId xmlns:a16="http://schemas.microsoft.com/office/drawing/2014/main" id="{0F0E954B-021A-A5A6-EC5F-64C7A6416613}"/>
              </a:ext>
            </a:extLst>
          </p:cNvPr>
          <p:cNvSpPr/>
          <p:nvPr/>
        </p:nvSpPr>
        <p:spPr>
          <a:xfrm>
            <a:off x="3814437" y="3629726"/>
            <a:ext cx="280468" cy="1414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700" b="0">
                <a:latin typeface="+mn-ea"/>
              </a:rPr>
              <a:t>1-3</a:t>
            </a:r>
            <a:endParaRPr lang="ko-KR" altLang="en-US" sz="700" b="0" dirty="0">
              <a:latin typeface="+mn-ea"/>
            </a:endParaRP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8104E1B8-7646-F0EE-0A9D-5C25C8A760AD}"/>
              </a:ext>
            </a:extLst>
          </p:cNvPr>
          <p:cNvSpPr/>
          <p:nvPr/>
        </p:nvSpPr>
        <p:spPr>
          <a:xfrm>
            <a:off x="3814437" y="4327459"/>
            <a:ext cx="1835715" cy="230211"/>
          </a:xfrm>
          <a:prstGeom prst="rect">
            <a:avLst/>
          </a:prstGeom>
          <a:noFill/>
          <a:ln>
            <a:solidFill>
              <a:srgbClr val="00B050"/>
            </a:solidFill>
            <a:prstDash val="sysDot"/>
          </a:ln>
        </p:spPr>
        <p:txBody>
          <a:bodyPr wrap="square" rtlCol="0" anchor="ctr">
            <a:noAutofit/>
          </a:bodyPr>
          <a:lstStyle/>
          <a:p>
            <a:pPr algn="l"/>
            <a:endParaRPr kumimoji="0" lang="ko-KR" altLang="en-US" sz="9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모서리가 둥근 직사각형 209">
            <a:extLst>
              <a:ext uri="{FF2B5EF4-FFF2-40B4-BE49-F238E27FC236}">
                <a16:creationId xmlns:a16="http://schemas.microsoft.com/office/drawing/2014/main" id="{0923D9BA-4332-DEC1-E190-BC2F2EABF2C6}"/>
              </a:ext>
            </a:extLst>
          </p:cNvPr>
          <p:cNvSpPr/>
          <p:nvPr/>
        </p:nvSpPr>
        <p:spPr>
          <a:xfrm>
            <a:off x="3814437" y="4325985"/>
            <a:ext cx="280468" cy="1414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700" b="0">
                <a:latin typeface="+mn-ea"/>
              </a:rPr>
              <a:t>1-4</a:t>
            </a:r>
            <a:endParaRPr lang="ko-KR" altLang="en-US" sz="700" b="0" dirty="0">
              <a:latin typeface="+mn-ea"/>
            </a:endParaRPr>
          </a:p>
        </p:txBody>
      </p:sp>
      <p:sp>
        <p:nvSpPr>
          <p:cNvPr id="33" name="모서리가 둥근 직사각형 209">
            <a:extLst>
              <a:ext uri="{FF2B5EF4-FFF2-40B4-BE49-F238E27FC236}">
                <a16:creationId xmlns:a16="http://schemas.microsoft.com/office/drawing/2014/main" id="{2C0C1727-4AC4-95DA-CAC5-23148575EE3E}"/>
              </a:ext>
            </a:extLst>
          </p:cNvPr>
          <p:cNvSpPr/>
          <p:nvPr/>
        </p:nvSpPr>
        <p:spPr>
          <a:xfrm>
            <a:off x="3361473" y="1667862"/>
            <a:ext cx="231272" cy="1661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700" b="0">
                <a:latin typeface="+mn-ea"/>
              </a:rPr>
              <a:t>1</a:t>
            </a:r>
            <a:endParaRPr lang="ko-KR" altLang="en-US" sz="700" b="0" dirty="0">
              <a:latin typeface="+mn-ea"/>
            </a:endParaRPr>
          </a:p>
        </p:txBody>
      </p:sp>
      <p:sp>
        <p:nvSpPr>
          <p:cNvPr id="34" name="모서리가 둥근 직사각형 209">
            <a:extLst>
              <a:ext uri="{FF2B5EF4-FFF2-40B4-BE49-F238E27FC236}">
                <a16:creationId xmlns:a16="http://schemas.microsoft.com/office/drawing/2014/main" id="{FE7B2AD5-823C-1F3E-A250-F3DE9988F2EA}"/>
              </a:ext>
            </a:extLst>
          </p:cNvPr>
          <p:cNvSpPr/>
          <p:nvPr/>
        </p:nvSpPr>
        <p:spPr>
          <a:xfrm>
            <a:off x="3146601" y="1866991"/>
            <a:ext cx="280468" cy="1414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700" b="0">
                <a:latin typeface="+mn-ea"/>
              </a:rPr>
              <a:t>1-1</a:t>
            </a:r>
            <a:endParaRPr lang="ko-KR" altLang="en-US" sz="700" b="0" dirty="0">
              <a:latin typeface="+mn-ea"/>
            </a:endParaRPr>
          </a:p>
        </p:txBody>
      </p:sp>
      <p:graphicFrame>
        <p:nvGraphicFramePr>
          <p:cNvPr id="35" name="Group 87">
            <a:extLst>
              <a:ext uri="{FF2B5EF4-FFF2-40B4-BE49-F238E27FC236}">
                <a16:creationId xmlns:a16="http://schemas.microsoft.com/office/drawing/2014/main" id="{6CB4D6F6-7062-089C-A267-A509CFA454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5550207"/>
              </p:ext>
            </p:extLst>
          </p:nvPr>
        </p:nvGraphicFramePr>
        <p:xfrm>
          <a:off x="9491386" y="520961"/>
          <a:ext cx="2698234" cy="5495070"/>
        </p:xfrm>
        <a:graphic>
          <a:graphicData uri="http://schemas.openxmlformats.org/drawingml/2006/table">
            <a:tbl>
              <a:tblPr/>
              <a:tblGrid>
                <a:gridCol w="1743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3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5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40">
                <a:tc gridSpan="2"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No.</a:t>
                      </a:r>
                      <a:endParaRPr kumimoji="0" lang="ko-KR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ko-KR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Component</a:t>
                      </a:r>
                      <a:endParaRPr kumimoji="0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Descriptions</a:t>
                      </a:r>
                      <a:endParaRPr kumimoji="0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069"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600" dirty="0">
                        <a:latin typeface="+mn-ea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임시 </a:t>
                      </a:r>
                      <a:r>
                        <a:rPr kumimoji="0" lang="en-US" altLang="ko-KR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OTP PIN</a:t>
                      </a:r>
                      <a:r>
                        <a:rPr kumimoji="0" lang="ko-KR" altLang="en-US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인증 승인 완료 페이지 </a:t>
                      </a:r>
                      <a:endParaRPr kumimoji="0" lang="en-US" altLang="ko-KR" sz="6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1803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Button</a:t>
                      </a:r>
                      <a:endParaRPr kumimoji="0" lang="en-US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[&lt; ] </a:t>
                      </a:r>
                      <a:r>
                        <a:rPr kumimoji="0" lang="ko-KR" altLang="en-US" sz="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버튼 클릭 시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임시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OTP PIN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인증 페이지 로 이동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뒤로가기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5434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정보요소</a:t>
                      </a:r>
                      <a:endParaRPr kumimoji="0" lang="en-US" altLang="ko-KR" sz="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상태 정보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페이지 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** </a:t>
                      </a:r>
                      <a:r>
                        <a:rPr kumimoji="0" lang="ko-KR" altLang="en-US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새로고침 시 상태 변경 확인 가능</a:t>
                      </a:r>
                      <a:endParaRPr kumimoji="0" lang="en-US" altLang="ko-KR" sz="6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관리자 승인 전 </a:t>
                      </a:r>
                      <a:endParaRPr kumimoji="0" lang="en-US" altLang="ko-KR" sz="6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임시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OTP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대기중입니다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사원명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|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사원정보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|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사원휴대폰번호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[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 승인 대기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상태값 표기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 1-3 [OTP PIN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버튼 비활성화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관리자 승인 반려 시 </a:t>
                      </a:r>
                      <a:endParaRPr kumimoji="0" lang="en-US" altLang="ko-KR" sz="6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담당자에게 문의하세요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사원명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|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사원정보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|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사원휴대폰번호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[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 승인 실패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상태값 표기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 1-3 [OTP PIN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버튼 활성화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관리자 승인 완료 시 </a:t>
                      </a:r>
                      <a:endParaRPr kumimoji="0" lang="en-US" altLang="ko-KR" sz="600" b="1" i="0" u="none" strike="noStrike" kern="1200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 승인이 완료되었습니다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사원명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|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사원정보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|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사원휴대폰번호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[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 승인 완료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상태값 표기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 1-3 [OTP PIN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버튼 활성화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1-3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버튼 클릭 시 초기 페이지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(P11)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페이지로 전환</a:t>
                      </a:r>
                      <a:endParaRPr kumimoji="0" lang="en-US" altLang="ko-KR" sz="6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48720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3</a:t>
                      </a: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Button</a:t>
                      </a:r>
                      <a:endParaRPr kumimoji="0" lang="en-US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 승인 대기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|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 승인 실패 의 경우 버튼 비활성화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 승인 완료 시 버튼 활성화 되며 클릭 시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PIN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번호 인증 페이지로 전환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47423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4</a:t>
                      </a: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Button</a:t>
                      </a:r>
                      <a:endParaRPr kumimoji="0" lang="en-US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PUSH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인증 요청 버튼 클릭 시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OTP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발급 인증 페이지로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진입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(P9)</a:t>
                      </a: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0134057"/>
                  </a:ext>
                </a:extLst>
              </a:tr>
              <a:tr h="285223">
                <a:tc gridSpan="4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REMARK</a:t>
                      </a: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9557">
                <a:tc gridSpan="4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5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데모 구현을 위해 인증 승인 대기 →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전체 화면 영역 아무곳 클릭 시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→ 인증 승인 실패 →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전체 화면 영역 아무곳 클릭 시 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→ 인증 승인 완료 로 임의 구현 </a:t>
                      </a:r>
                      <a:endParaRPr kumimoji="0" lang="en-US" altLang="ko-KR" sz="6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5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5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6896">
                <a:tc gridSpan="4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FEEDBACK</a:t>
                      </a:r>
                      <a:endParaRPr kumimoji="0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5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5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12700" cmpd="sng">
                      <a:noFill/>
                      <a:prstDash val="solid"/>
                    </a:lnL>
                    <a:lnT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76000">
                <a:tc gridSpan="4">
                  <a:txBody>
                    <a:bodyPr/>
                    <a:lstStyle/>
                    <a:p>
                      <a:pPr marL="0" marR="0" lvl="0" indent="0" algn="l" defTabSz="852488" rtl="0" eaLnBrk="0" fontAlgn="base" latinLnBrk="1" hangingPunct="0">
                        <a:lnSpc>
                          <a:spcPct val="15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+mj-lt"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852488" rtl="0" eaLnBrk="0" fontAlgn="base" latinLnBrk="1" hangingPunct="0">
                        <a:lnSpc>
                          <a:spcPct val="15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+mj-lt"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1445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1D9B69-3B10-9A36-A54A-983A940D53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1054D2D4-240E-1CC2-1671-2308C27E75A0}"/>
              </a:ext>
            </a:extLst>
          </p:cNvPr>
          <p:cNvSpPr/>
          <p:nvPr/>
        </p:nvSpPr>
        <p:spPr>
          <a:xfrm>
            <a:off x="0" y="520961"/>
            <a:ext cx="9467081" cy="6337039"/>
          </a:xfrm>
          <a:prstGeom prst="rect">
            <a:avLst/>
          </a:prstGeom>
          <a:solidFill>
            <a:srgbClr val="FEE500"/>
          </a:solidFill>
        </p:spPr>
        <p:txBody>
          <a:bodyPr wrap="square" rtlCol="0" anchor="ctr">
            <a:noAutofit/>
          </a:bodyPr>
          <a:lstStyle/>
          <a:p>
            <a:pPr algn="l"/>
            <a:endParaRPr kumimoji="0" lang="ko-KR" altLang="en-US" sz="9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7" name="텍스트 개체 틀 28">
            <a:extLst>
              <a:ext uri="{FF2B5EF4-FFF2-40B4-BE49-F238E27FC236}">
                <a16:creationId xmlns:a16="http://schemas.microsoft.com/office/drawing/2014/main" id="{3AC4DE8E-9E4F-F6C4-30FE-D0278DF62EBC}"/>
              </a:ext>
            </a:extLst>
          </p:cNvPr>
          <p:cNvSpPr txBox="1">
            <a:spLocks/>
          </p:cNvSpPr>
          <p:nvPr/>
        </p:nvSpPr>
        <p:spPr>
          <a:xfrm>
            <a:off x="1225975" y="20616"/>
            <a:ext cx="2160000" cy="180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[ATON] </a:t>
            </a:r>
            <a:r>
              <a:rPr lang="ko-KR" altLang="en-US"/>
              <a:t>카카오뱅크 </a:t>
            </a:r>
            <a:r>
              <a:rPr lang="en-US" altLang="ko-KR"/>
              <a:t>OTP POC</a:t>
            </a:r>
            <a:endParaRPr lang="ko-KR" altLang="en-US"/>
          </a:p>
        </p:txBody>
      </p:sp>
      <p:sp>
        <p:nvSpPr>
          <p:cNvPr id="214" name="텍스트 개체 틀 28">
            <a:extLst>
              <a:ext uri="{FF2B5EF4-FFF2-40B4-BE49-F238E27FC236}">
                <a16:creationId xmlns:a16="http://schemas.microsoft.com/office/drawing/2014/main" id="{AA7126C8-0DD5-D6CF-74B3-31D91CDF5E14}"/>
              </a:ext>
            </a:extLst>
          </p:cNvPr>
          <p:cNvSpPr txBox="1">
            <a:spLocks/>
          </p:cNvSpPr>
          <p:nvPr/>
        </p:nvSpPr>
        <p:spPr>
          <a:xfrm>
            <a:off x="1235500" y="252000"/>
            <a:ext cx="2160000" cy="180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ko-KR" altLang="en-US" b="0"/>
              <a:t>임시 </a:t>
            </a:r>
            <a:r>
              <a:rPr kumimoji="0" lang="en-US" altLang="ko-KR" b="0"/>
              <a:t>OTP </a:t>
            </a:r>
            <a:r>
              <a:rPr kumimoji="0" lang="ko-KR" altLang="en-US" b="0"/>
              <a:t>인증 </a:t>
            </a:r>
            <a:r>
              <a:rPr kumimoji="0" lang="en-US" altLang="ko-KR" b="0"/>
              <a:t>&gt; </a:t>
            </a:r>
            <a:r>
              <a:rPr kumimoji="0" lang="ko-KR" altLang="en-US" b="0"/>
              <a:t>인증 승인 완료</a:t>
            </a:r>
            <a:r>
              <a:rPr kumimoji="0" lang="en-US" altLang="ko-KR" b="0"/>
              <a:t>&gt; PIN </a:t>
            </a:r>
            <a:r>
              <a:rPr kumimoji="0" lang="ko-KR" altLang="en-US" b="0"/>
              <a:t>입력</a:t>
            </a:r>
            <a:endParaRPr kumimoji="0" lang="en-US" altLang="ko-KR" b="0" dirty="0"/>
          </a:p>
        </p:txBody>
      </p:sp>
      <p:sp>
        <p:nvSpPr>
          <p:cNvPr id="228" name="텍스트 개체 틀 28">
            <a:extLst>
              <a:ext uri="{FF2B5EF4-FFF2-40B4-BE49-F238E27FC236}">
                <a16:creationId xmlns:a16="http://schemas.microsoft.com/office/drawing/2014/main" id="{05999574-6158-757B-B086-EE8125380319}"/>
              </a:ext>
            </a:extLst>
          </p:cNvPr>
          <p:cNvSpPr txBox="1">
            <a:spLocks/>
          </p:cNvSpPr>
          <p:nvPr/>
        </p:nvSpPr>
        <p:spPr>
          <a:xfrm>
            <a:off x="4751298" y="252000"/>
            <a:ext cx="1080000" cy="180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b="0" dirty="0">
              <a:solidFill>
                <a:srgbClr val="000000"/>
              </a:solidFill>
            </a:endParaRPr>
          </a:p>
        </p:txBody>
      </p:sp>
      <p:sp>
        <p:nvSpPr>
          <p:cNvPr id="235" name="텍스트 개체 틀 28">
            <a:extLst>
              <a:ext uri="{FF2B5EF4-FFF2-40B4-BE49-F238E27FC236}">
                <a16:creationId xmlns:a16="http://schemas.microsoft.com/office/drawing/2014/main" id="{45FB5CB5-FA96-E742-B66C-B8E619679620}"/>
              </a:ext>
            </a:extLst>
          </p:cNvPr>
          <p:cNvSpPr txBox="1">
            <a:spLocks/>
          </p:cNvSpPr>
          <p:nvPr/>
        </p:nvSpPr>
        <p:spPr>
          <a:xfrm>
            <a:off x="7088981" y="252000"/>
            <a:ext cx="2340000" cy="180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b="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BC502B8-0EFD-0662-6AF6-486B1857A2D3}"/>
              </a:ext>
            </a:extLst>
          </p:cNvPr>
          <p:cNvSpPr/>
          <p:nvPr/>
        </p:nvSpPr>
        <p:spPr bwMode="auto">
          <a:xfrm>
            <a:off x="4712861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1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3A1DE8B-18F7-BC63-3255-5E8C541BA93B}"/>
              </a:ext>
            </a:extLst>
          </p:cNvPr>
          <p:cNvSpPr/>
          <p:nvPr/>
        </p:nvSpPr>
        <p:spPr bwMode="auto">
          <a:xfrm>
            <a:off x="5927042" y="0"/>
            <a:ext cx="294701" cy="21938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2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6A13C8E-3F50-033E-3D57-A7CBCE52D139}"/>
              </a:ext>
            </a:extLst>
          </p:cNvPr>
          <p:cNvSpPr/>
          <p:nvPr/>
        </p:nvSpPr>
        <p:spPr bwMode="auto">
          <a:xfrm>
            <a:off x="7059464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3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9499EF6-E8E3-27AE-0E7B-B5022397B906}"/>
              </a:ext>
            </a:extLst>
          </p:cNvPr>
          <p:cNvSpPr/>
          <p:nvPr/>
        </p:nvSpPr>
        <p:spPr bwMode="auto">
          <a:xfrm>
            <a:off x="8264807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4</a:t>
            </a:r>
            <a:r>
              <a:rPr kumimoji="1" lang="en-US" altLang="ko-KR" sz="6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</a:t>
            </a: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B37439E-B986-DFDA-F9EC-6CAB38805212}"/>
              </a:ext>
            </a:extLst>
          </p:cNvPr>
          <p:cNvSpPr/>
          <p:nvPr/>
        </p:nvSpPr>
        <p:spPr bwMode="auto">
          <a:xfrm>
            <a:off x="9467081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5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007C11E-CD02-5EF1-F342-CBC4D8959AD0}"/>
              </a:ext>
            </a:extLst>
          </p:cNvPr>
          <p:cNvSpPr/>
          <p:nvPr/>
        </p:nvSpPr>
        <p:spPr bwMode="auto">
          <a:xfrm>
            <a:off x="10574936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6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69" name="텍스트 개체 틀 28">
            <a:extLst>
              <a:ext uri="{FF2B5EF4-FFF2-40B4-BE49-F238E27FC236}">
                <a16:creationId xmlns:a16="http://schemas.microsoft.com/office/drawing/2014/main" id="{67B17154-87B2-5ED6-7FBB-6CE08DA4B857}"/>
              </a:ext>
            </a:extLst>
          </p:cNvPr>
          <p:cNvSpPr txBox="1">
            <a:spLocks/>
          </p:cNvSpPr>
          <p:nvPr/>
        </p:nvSpPr>
        <p:spPr>
          <a:xfrm>
            <a:off x="10612354" y="252000"/>
            <a:ext cx="1080000" cy="16977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0"/>
              <a:t>2025-12-12</a:t>
            </a:r>
            <a:endParaRPr lang="ko-KR" altLang="en-US" b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E696F2-C404-925D-271E-3C9A21566BB6}"/>
              </a:ext>
            </a:extLst>
          </p:cNvPr>
          <p:cNvSpPr txBox="1"/>
          <p:nvPr/>
        </p:nvSpPr>
        <p:spPr bwMode="auto">
          <a:xfrm>
            <a:off x="3111471" y="878353"/>
            <a:ext cx="3161058" cy="33855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b="1" i="0">
                <a:solidFill>
                  <a:srgbClr val="11111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카카오뱅크 </a:t>
            </a:r>
            <a:r>
              <a:rPr lang="en-US" altLang="ko-KR" b="1" i="0">
                <a:solidFill>
                  <a:srgbClr val="11111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OTP POC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BECAF89-BB86-FF80-A34D-58584D4565A6}"/>
              </a:ext>
            </a:extLst>
          </p:cNvPr>
          <p:cNvSpPr txBox="1"/>
          <p:nvPr/>
        </p:nvSpPr>
        <p:spPr bwMode="auto">
          <a:xfrm>
            <a:off x="2779560" y="1216907"/>
            <a:ext cx="3824880" cy="21544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8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PC</a:t>
            </a:r>
            <a:r>
              <a:rPr lang="en-US" altLang="ko-KR" sz="8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/ Mobile Web</a:t>
            </a:r>
            <a:r>
              <a:rPr lang="ko-KR" altLang="en-US" sz="8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에</a:t>
            </a:r>
            <a:r>
              <a:rPr lang="ko-KR" altLang="en-US" sz="8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서 </a:t>
            </a:r>
            <a:r>
              <a:rPr lang="en-US" altLang="ko-KR" sz="8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OTP </a:t>
            </a:r>
            <a:r>
              <a:rPr lang="ko-KR" altLang="en-US" sz="8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인증을 요청하는 상황을 가정합니다</a:t>
            </a:r>
            <a:r>
              <a:rPr lang="en-US" altLang="ko-KR" sz="8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80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0EF11ACA-966F-83AA-117A-D4D98B3F1B7F}"/>
              </a:ext>
            </a:extLst>
          </p:cNvPr>
          <p:cNvSpPr/>
          <p:nvPr/>
        </p:nvSpPr>
        <p:spPr>
          <a:xfrm>
            <a:off x="3308861" y="1604255"/>
            <a:ext cx="2808000" cy="3192745"/>
          </a:xfrm>
          <a:prstGeom prst="roundRect">
            <a:avLst>
              <a:gd name="adj" fmla="val 8346"/>
            </a:avLst>
          </a:prstGeom>
          <a:solidFill>
            <a:schemeClr val="bg1"/>
          </a:solidFill>
        </p:spPr>
        <p:txBody>
          <a:bodyPr wrap="square" rtlCol="0" anchor="ctr">
            <a:noAutofit/>
          </a:bodyPr>
          <a:lstStyle/>
          <a:p>
            <a:pPr algn="l"/>
            <a:endParaRPr kumimoji="0" lang="ko-KR" altLang="en-US" sz="9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06FEE8B-E224-9685-FDFD-05CBDDFB41DD}"/>
              </a:ext>
            </a:extLst>
          </p:cNvPr>
          <p:cNvSpPr txBox="1"/>
          <p:nvPr/>
        </p:nvSpPr>
        <p:spPr bwMode="auto">
          <a:xfrm>
            <a:off x="3385778" y="2257214"/>
            <a:ext cx="2612445" cy="2308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9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임시 </a:t>
            </a:r>
            <a:r>
              <a:rPr lang="en-US" altLang="ko-KR" sz="9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OTP </a:t>
            </a:r>
            <a:r>
              <a:rPr lang="ko-KR" altLang="en-US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인증을</a:t>
            </a:r>
            <a:r>
              <a:rPr lang="ko-KR" altLang="en-US" sz="9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위해 설정한 </a:t>
            </a:r>
            <a:r>
              <a:rPr lang="en-US" altLang="ko-KR" sz="9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PIN</a:t>
            </a:r>
            <a:r>
              <a:rPr lang="ko-KR" altLang="en-US" sz="9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을</a:t>
            </a:r>
            <a:r>
              <a:rPr lang="en-US" altLang="ko-KR" sz="9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9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입력하세요</a:t>
            </a:r>
            <a:r>
              <a:rPr lang="en-US" altLang="ko-KR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900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409C40F6-4408-37E3-F3F3-EB42F0CE5F0E}"/>
              </a:ext>
            </a:extLst>
          </p:cNvPr>
          <p:cNvGrpSpPr/>
          <p:nvPr/>
        </p:nvGrpSpPr>
        <p:grpSpPr>
          <a:xfrm>
            <a:off x="4197021" y="2655288"/>
            <a:ext cx="900434" cy="109987"/>
            <a:chOff x="3440832" y="4005064"/>
            <a:chExt cx="1754691" cy="235769"/>
          </a:xfrm>
          <a:solidFill>
            <a:schemeClr val="bg1">
              <a:lumMod val="85000"/>
            </a:schemeClr>
          </a:solidFill>
        </p:grpSpPr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4490D51E-2C6A-9A85-BFC4-6004236FB809}"/>
                </a:ext>
              </a:extLst>
            </p:cNvPr>
            <p:cNvSpPr/>
            <p:nvPr/>
          </p:nvSpPr>
          <p:spPr>
            <a:xfrm>
              <a:off x="3440832" y="4005064"/>
              <a:ext cx="216024" cy="235769"/>
            </a:xfrm>
            <a:prstGeom prst="ellipse">
              <a:avLst/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D0E67DCB-C903-2A1A-83CA-D64754DFF1C7}"/>
                </a:ext>
              </a:extLst>
            </p:cNvPr>
            <p:cNvSpPr/>
            <p:nvPr/>
          </p:nvSpPr>
          <p:spPr>
            <a:xfrm>
              <a:off x="3746435" y="4005064"/>
              <a:ext cx="216024" cy="235769"/>
            </a:xfrm>
            <a:prstGeom prst="ellipse">
              <a:avLst/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8D271E31-810C-0C4F-210F-5753128C2D33}"/>
                </a:ext>
              </a:extLst>
            </p:cNvPr>
            <p:cNvSpPr/>
            <p:nvPr/>
          </p:nvSpPr>
          <p:spPr>
            <a:xfrm>
              <a:off x="4054701" y="4005064"/>
              <a:ext cx="216024" cy="235769"/>
            </a:xfrm>
            <a:prstGeom prst="ellipse">
              <a:avLst/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FA5981D1-61BE-5D4D-6531-FC6BD15C9871}"/>
                </a:ext>
              </a:extLst>
            </p:cNvPr>
            <p:cNvSpPr/>
            <p:nvPr/>
          </p:nvSpPr>
          <p:spPr>
            <a:xfrm>
              <a:off x="4362967" y="4005064"/>
              <a:ext cx="216024" cy="235769"/>
            </a:xfrm>
            <a:prstGeom prst="ellipse">
              <a:avLst/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D0A5C7C9-EF58-D3EC-A741-817A8A6AD3A0}"/>
                </a:ext>
              </a:extLst>
            </p:cNvPr>
            <p:cNvSpPr/>
            <p:nvPr/>
          </p:nvSpPr>
          <p:spPr>
            <a:xfrm>
              <a:off x="4671233" y="4005064"/>
              <a:ext cx="216024" cy="235769"/>
            </a:xfrm>
            <a:prstGeom prst="ellipse">
              <a:avLst/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45E7CAC0-EEA3-179C-FFB2-0C0A0A6E70D7}"/>
                </a:ext>
              </a:extLst>
            </p:cNvPr>
            <p:cNvSpPr/>
            <p:nvPr/>
          </p:nvSpPr>
          <p:spPr>
            <a:xfrm>
              <a:off x="4979499" y="4005064"/>
              <a:ext cx="216024" cy="235769"/>
            </a:xfrm>
            <a:prstGeom prst="ellipse">
              <a:avLst/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5D44AF20-0597-0999-5A61-651E9751CCC8}"/>
              </a:ext>
            </a:extLst>
          </p:cNvPr>
          <p:cNvGraphicFramePr>
            <a:graphicFrameLocks noGrp="1"/>
          </p:cNvGraphicFramePr>
          <p:nvPr/>
        </p:nvGraphicFramePr>
        <p:xfrm>
          <a:off x="3562651" y="2997000"/>
          <a:ext cx="2258697" cy="16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899">
                  <a:extLst>
                    <a:ext uri="{9D8B030D-6E8A-4147-A177-3AD203B41FA5}">
                      <a16:colId xmlns:a16="http://schemas.microsoft.com/office/drawing/2014/main" val="1808236804"/>
                    </a:ext>
                  </a:extLst>
                </a:gridCol>
                <a:gridCol w="752899">
                  <a:extLst>
                    <a:ext uri="{9D8B030D-6E8A-4147-A177-3AD203B41FA5}">
                      <a16:colId xmlns:a16="http://schemas.microsoft.com/office/drawing/2014/main" val="3067110694"/>
                    </a:ext>
                  </a:extLst>
                </a:gridCol>
                <a:gridCol w="752899">
                  <a:extLst>
                    <a:ext uri="{9D8B030D-6E8A-4147-A177-3AD203B41FA5}">
                      <a16:colId xmlns:a16="http://schemas.microsoft.com/office/drawing/2014/main" val="1567338698"/>
                    </a:ext>
                  </a:extLst>
                </a:gridCol>
              </a:tblGrid>
              <a:tr h="414000"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b="1" i="0" kern="1200">
                          <a:solidFill>
                            <a:srgbClr val="333333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</a:t>
                      </a:r>
                      <a:endParaRPr kumimoji="1" lang="ko-KR" altLang="en-US" sz="1100" b="1" i="0" kern="1200" dirty="0">
                        <a:solidFill>
                          <a:srgbClr val="333333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b="1" i="0" kern="1200">
                          <a:solidFill>
                            <a:srgbClr val="333333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2</a:t>
                      </a:r>
                      <a:endParaRPr kumimoji="1" lang="ko-KR" altLang="en-US" sz="1100" b="1" i="0" kern="1200" dirty="0">
                        <a:solidFill>
                          <a:srgbClr val="333333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b="1" i="0" kern="1200" dirty="0">
                          <a:solidFill>
                            <a:srgbClr val="333333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3</a:t>
                      </a:r>
                      <a:endParaRPr kumimoji="1" lang="ko-KR" altLang="en-US" sz="1100" b="1" i="0" kern="1200" dirty="0">
                        <a:solidFill>
                          <a:srgbClr val="333333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447279"/>
                  </a:ext>
                </a:extLst>
              </a:tr>
              <a:tr h="414000"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b="1" i="0" kern="1200">
                          <a:solidFill>
                            <a:srgbClr val="333333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4</a:t>
                      </a:r>
                      <a:endParaRPr kumimoji="1" lang="ko-KR" altLang="en-US" sz="1100" b="1" i="0" kern="1200" dirty="0">
                        <a:solidFill>
                          <a:srgbClr val="333333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b="1" i="0" kern="1200">
                          <a:solidFill>
                            <a:srgbClr val="333333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5 </a:t>
                      </a:r>
                      <a:endParaRPr kumimoji="1" lang="en-US" altLang="ko-KR" sz="1100" b="1" i="0" kern="1200" dirty="0">
                        <a:solidFill>
                          <a:srgbClr val="333333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b="1" i="0" kern="1200">
                          <a:solidFill>
                            <a:srgbClr val="333333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6</a:t>
                      </a:r>
                      <a:endParaRPr kumimoji="1" lang="ko-KR" altLang="en-US" sz="1100" b="1" i="0" kern="1200" dirty="0">
                        <a:solidFill>
                          <a:srgbClr val="333333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7053133"/>
                  </a:ext>
                </a:extLst>
              </a:tr>
              <a:tr h="414000"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b="1" i="0" kern="1200">
                          <a:solidFill>
                            <a:srgbClr val="333333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7</a:t>
                      </a:r>
                      <a:endParaRPr kumimoji="1" lang="ko-KR" altLang="en-US" sz="1100" b="1" i="0" kern="1200" dirty="0">
                        <a:solidFill>
                          <a:srgbClr val="333333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b="1" i="0" kern="1200">
                          <a:solidFill>
                            <a:srgbClr val="333333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8</a:t>
                      </a:r>
                      <a:endParaRPr kumimoji="1" lang="ko-KR" altLang="en-US" sz="1100" b="1" i="0" kern="1200" dirty="0">
                        <a:solidFill>
                          <a:srgbClr val="333333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b="1" i="0" kern="1200">
                          <a:solidFill>
                            <a:srgbClr val="333333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9</a:t>
                      </a:r>
                      <a:endParaRPr kumimoji="1" lang="ko-KR" altLang="en-US" sz="1100" b="1" i="0" kern="1200" dirty="0">
                        <a:solidFill>
                          <a:srgbClr val="333333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2835454"/>
                  </a:ext>
                </a:extLst>
              </a:tr>
              <a:tr h="414000"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100" b="1" i="0" kern="1200" dirty="0">
                        <a:solidFill>
                          <a:srgbClr val="333333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b="1" i="0" kern="1200" dirty="0">
                          <a:solidFill>
                            <a:srgbClr val="333333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0</a:t>
                      </a:r>
                      <a:endParaRPr kumimoji="1" lang="ko-KR" altLang="en-US" sz="1100" b="1" i="0" kern="1200" dirty="0">
                        <a:solidFill>
                          <a:srgbClr val="333333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100" b="1" i="0" kern="1200" dirty="0">
                        <a:solidFill>
                          <a:srgbClr val="333333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7665024"/>
                  </a:ext>
                </a:extLst>
              </a:tr>
            </a:tbl>
          </a:graphicData>
        </a:graphic>
      </p:graphicFrame>
      <p:pic>
        <p:nvPicPr>
          <p:cNvPr id="48" name="그림 47" descr="로고, 상징, 일렉트릭 블루, 블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A44A956-094D-7EC4-EFF7-BFFA45E653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2288" y="4340616"/>
            <a:ext cx="283911" cy="241324"/>
          </a:xfrm>
          <a:prstGeom prst="rect">
            <a:avLst/>
          </a:prstGeom>
        </p:spPr>
      </p:pic>
      <p:grpSp>
        <p:nvGrpSpPr>
          <p:cNvPr id="49" name="그룹 48">
            <a:extLst>
              <a:ext uri="{FF2B5EF4-FFF2-40B4-BE49-F238E27FC236}">
                <a16:creationId xmlns:a16="http://schemas.microsoft.com/office/drawing/2014/main" id="{1D46488C-480E-8770-A678-F85CC6F9AC92}"/>
              </a:ext>
            </a:extLst>
          </p:cNvPr>
          <p:cNvGrpSpPr/>
          <p:nvPr/>
        </p:nvGrpSpPr>
        <p:grpSpPr>
          <a:xfrm>
            <a:off x="3308861" y="5373000"/>
            <a:ext cx="2808000" cy="1485001"/>
            <a:chOff x="3308861" y="5373000"/>
            <a:chExt cx="2808000" cy="1485001"/>
          </a:xfrm>
        </p:grpSpPr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A09FDCC2-C4F5-D3E2-97CC-286ED7AC6E8A}"/>
                </a:ext>
              </a:extLst>
            </p:cNvPr>
            <p:cNvSpPr/>
            <p:nvPr/>
          </p:nvSpPr>
          <p:spPr>
            <a:xfrm>
              <a:off x="3308861" y="5373000"/>
              <a:ext cx="2808000" cy="1194745"/>
            </a:xfrm>
            <a:prstGeom prst="roundRect">
              <a:avLst>
                <a:gd name="adj" fmla="val 20592"/>
              </a:avLst>
            </a:prstGeom>
            <a:solidFill>
              <a:schemeClr val="bg1"/>
            </a:solidFill>
          </p:spPr>
          <p:txBody>
            <a:bodyPr wrap="square" rtlCol="0" anchor="ctr">
              <a:noAutofit/>
            </a:bodyPr>
            <a:lstStyle/>
            <a:p>
              <a:pPr algn="l"/>
              <a:endParaRPr kumimoji="0" lang="ko-KR" altLang="en-US" sz="9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2E17E939-0611-22B9-DC1A-EE54F522BF8A}"/>
                </a:ext>
              </a:extLst>
            </p:cNvPr>
            <p:cNvSpPr/>
            <p:nvPr/>
          </p:nvSpPr>
          <p:spPr>
            <a:xfrm>
              <a:off x="3308861" y="5970373"/>
              <a:ext cx="2808000" cy="887628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</p:spPr>
          <p:txBody>
            <a:bodyPr wrap="square" rtlCol="0" anchor="ctr">
              <a:noAutofit/>
            </a:bodyPr>
            <a:lstStyle/>
            <a:p>
              <a:pPr algn="l"/>
              <a:endParaRPr kumimoji="0" lang="ko-KR" altLang="en-US" sz="9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0C213481-BB49-5A97-9395-FB75F7BB26F6}"/>
              </a:ext>
            </a:extLst>
          </p:cNvPr>
          <p:cNvSpPr txBox="1"/>
          <p:nvPr/>
        </p:nvSpPr>
        <p:spPr bwMode="auto">
          <a:xfrm>
            <a:off x="3111471" y="6060188"/>
            <a:ext cx="3161058" cy="33855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i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경영 서비스</a:t>
            </a:r>
            <a:endParaRPr lang="en-US" altLang="ko-KR" i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E41D16FB-8441-1E25-431F-681330BD2BBB}"/>
              </a:ext>
            </a:extLst>
          </p:cNvPr>
          <p:cNvSpPr txBox="1"/>
          <p:nvPr/>
        </p:nvSpPr>
        <p:spPr bwMode="auto">
          <a:xfrm>
            <a:off x="2779560" y="6393096"/>
            <a:ext cx="3824880" cy="2308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내부 경영</a:t>
            </a:r>
            <a:r>
              <a:rPr lang="en-US" altLang="ko-KR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업무 지원 시스템 로그인</a:t>
            </a:r>
            <a:endParaRPr lang="ko-KR" altLang="en-US" sz="90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FF9497F-9261-4419-DC4A-7A771066CA33}"/>
              </a:ext>
            </a:extLst>
          </p:cNvPr>
          <p:cNvSpPr txBox="1"/>
          <p:nvPr/>
        </p:nvSpPr>
        <p:spPr bwMode="auto">
          <a:xfrm>
            <a:off x="3876955" y="1861853"/>
            <a:ext cx="1622123" cy="2616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altLang="ko-KR" sz="1100" i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PIN </a:t>
            </a:r>
            <a:r>
              <a:rPr lang="ko-KR" altLang="en-US" sz="1100" i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번호 인증</a:t>
            </a:r>
            <a:endParaRPr lang="en-US" altLang="ko-KR" sz="1100" i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" name="Chevron Down">
            <a:extLst>
              <a:ext uri="{FF2B5EF4-FFF2-40B4-BE49-F238E27FC236}">
                <a16:creationId xmlns:a16="http://schemas.microsoft.com/office/drawing/2014/main" id="{F7CCC2C4-EA52-C0D3-1732-B6B57C457012}"/>
              </a:ext>
            </a:extLst>
          </p:cNvPr>
          <p:cNvSpPr>
            <a:spLocks noChangeAspect="1"/>
          </p:cNvSpPr>
          <p:nvPr/>
        </p:nvSpPr>
        <p:spPr bwMode="auto">
          <a:xfrm rot="5400000">
            <a:off x="3457510" y="1966280"/>
            <a:ext cx="141428" cy="102230"/>
          </a:xfrm>
          <a:custGeom>
            <a:avLst/>
            <a:gdLst>
              <a:gd name="T0" fmla="*/ 594 w 594"/>
              <a:gd name="T1" fmla="*/ 27 h 324"/>
              <a:gd name="T2" fmla="*/ 566 w 594"/>
              <a:gd name="T3" fmla="*/ 0 h 324"/>
              <a:gd name="T4" fmla="*/ 297 w 594"/>
              <a:gd name="T5" fmla="*/ 268 h 324"/>
              <a:gd name="T6" fmla="*/ 28 w 594"/>
              <a:gd name="T7" fmla="*/ 0 h 324"/>
              <a:gd name="T8" fmla="*/ 0 w 594"/>
              <a:gd name="T9" fmla="*/ 27 h 324"/>
              <a:gd name="T10" fmla="*/ 297 w 594"/>
              <a:gd name="T11" fmla="*/ 324 h 324"/>
              <a:gd name="T12" fmla="*/ 594 w 594"/>
              <a:gd name="T13" fmla="*/ 27 h 3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594" h="324">
                <a:moveTo>
                  <a:pt x="594" y="27"/>
                </a:moveTo>
                <a:lnTo>
                  <a:pt x="566" y="0"/>
                </a:lnTo>
                <a:lnTo>
                  <a:pt x="297" y="268"/>
                </a:lnTo>
                <a:lnTo>
                  <a:pt x="28" y="0"/>
                </a:lnTo>
                <a:lnTo>
                  <a:pt x="0" y="27"/>
                </a:lnTo>
                <a:lnTo>
                  <a:pt x="297" y="324"/>
                </a:lnTo>
                <a:lnTo>
                  <a:pt x="594" y="27"/>
                </a:lnTo>
                <a:close/>
              </a:path>
            </a:pathLst>
          </a:custGeom>
          <a:solidFill>
            <a:srgbClr val="5F5F5F"/>
          </a:solidFill>
          <a:ln w="6350">
            <a:solidFill>
              <a:schemeClr val="tx1">
                <a:lumMod val="85000"/>
                <a:lumOff val="15000"/>
              </a:schemeClr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1B722F64-222E-7D3F-3FBF-287192A46F12}"/>
              </a:ext>
            </a:extLst>
          </p:cNvPr>
          <p:cNvSpPr/>
          <p:nvPr/>
        </p:nvSpPr>
        <p:spPr>
          <a:xfrm>
            <a:off x="3361473" y="1660457"/>
            <a:ext cx="2636750" cy="3064543"/>
          </a:xfrm>
          <a:prstGeom prst="rect">
            <a:avLst/>
          </a:prstGeom>
          <a:noFill/>
          <a:ln>
            <a:solidFill>
              <a:srgbClr val="00B050"/>
            </a:solidFill>
            <a:prstDash val="sysDot"/>
          </a:ln>
        </p:spPr>
        <p:txBody>
          <a:bodyPr wrap="square" rtlCol="0" anchor="ctr">
            <a:noAutofit/>
          </a:bodyPr>
          <a:lstStyle/>
          <a:p>
            <a:pPr algn="l"/>
            <a:endParaRPr kumimoji="0" lang="ko-KR" altLang="en-US" sz="9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3D4FD778-FE51-EC8F-04DE-778EFE4B0122}"/>
              </a:ext>
            </a:extLst>
          </p:cNvPr>
          <p:cNvSpPr/>
          <p:nvPr/>
        </p:nvSpPr>
        <p:spPr>
          <a:xfrm>
            <a:off x="3422433" y="1873818"/>
            <a:ext cx="401583" cy="254480"/>
          </a:xfrm>
          <a:prstGeom prst="rect">
            <a:avLst/>
          </a:prstGeom>
          <a:noFill/>
          <a:ln>
            <a:solidFill>
              <a:srgbClr val="00B050"/>
            </a:solidFill>
            <a:prstDash val="sysDot"/>
          </a:ln>
        </p:spPr>
        <p:txBody>
          <a:bodyPr wrap="square" rtlCol="0" anchor="ctr">
            <a:noAutofit/>
          </a:bodyPr>
          <a:lstStyle/>
          <a:p>
            <a:pPr algn="l"/>
            <a:endParaRPr kumimoji="0" lang="ko-KR" altLang="en-US" sz="9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모서리가 둥근 직사각형 209">
            <a:extLst>
              <a:ext uri="{FF2B5EF4-FFF2-40B4-BE49-F238E27FC236}">
                <a16:creationId xmlns:a16="http://schemas.microsoft.com/office/drawing/2014/main" id="{1B50FA6B-5807-BEF0-5A2A-82D65ECAB9E5}"/>
              </a:ext>
            </a:extLst>
          </p:cNvPr>
          <p:cNvSpPr/>
          <p:nvPr/>
        </p:nvSpPr>
        <p:spPr>
          <a:xfrm>
            <a:off x="3146601" y="1866991"/>
            <a:ext cx="280468" cy="1414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700" b="0">
                <a:latin typeface="+mn-ea"/>
              </a:rPr>
              <a:t>1-1</a:t>
            </a:r>
            <a:endParaRPr lang="ko-KR" altLang="en-US" sz="700" b="0" dirty="0">
              <a:latin typeface="+mn-ea"/>
            </a:endParaRPr>
          </a:p>
        </p:txBody>
      </p:sp>
      <p:sp>
        <p:nvSpPr>
          <p:cNvPr id="6" name="모서리가 둥근 직사각형 209">
            <a:extLst>
              <a:ext uri="{FF2B5EF4-FFF2-40B4-BE49-F238E27FC236}">
                <a16:creationId xmlns:a16="http://schemas.microsoft.com/office/drawing/2014/main" id="{D1E488EF-93AE-5FC9-5099-967F4A464A2E}"/>
              </a:ext>
            </a:extLst>
          </p:cNvPr>
          <p:cNvSpPr/>
          <p:nvPr/>
        </p:nvSpPr>
        <p:spPr>
          <a:xfrm>
            <a:off x="3361473" y="1667862"/>
            <a:ext cx="231272" cy="1661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700" b="0">
                <a:latin typeface="+mn-ea"/>
              </a:rPr>
              <a:t>1</a:t>
            </a:r>
            <a:endParaRPr lang="ko-KR" altLang="en-US" sz="700" b="0" dirty="0">
              <a:latin typeface="+mn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38DC20D-202E-2B4D-0D42-CAB6141FA4F8}"/>
              </a:ext>
            </a:extLst>
          </p:cNvPr>
          <p:cNvSpPr txBox="1"/>
          <p:nvPr/>
        </p:nvSpPr>
        <p:spPr bwMode="auto">
          <a:xfrm>
            <a:off x="3648000" y="4274163"/>
            <a:ext cx="568544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7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전체</a:t>
            </a:r>
            <a:endParaRPr lang="en-US" altLang="ko-KR" sz="700" b="0" i="0">
              <a:solidFill>
                <a:srgbClr val="333333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7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삭제</a:t>
            </a:r>
            <a:endParaRPr lang="ko-KR" altLang="en-US" sz="700"/>
          </a:p>
        </p:txBody>
      </p:sp>
      <p:graphicFrame>
        <p:nvGraphicFramePr>
          <p:cNvPr id="20" name="Group 87">
            <a:extLst>
              <a:ext uri="{FF2B5EF4-FFF2-40B4-BE49-F238E27FC236}">
                <a16:creationId xmlns:a16="http://schemas.microsoft.com/office/drawing/2014/main" id="{F4AA77D4-20CE-EE52-8332-CCEA7D34F1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7876782"/>
              </p:ext>
            </p:extLst>
          </p:nvPr>
        </p:nvGraphicFramePr>
        <p:xfrm>
          <a:off x="9491386" y="520961"/>
          <a:ext cx="2698234" cy="5413538"/>
        </p:xfrm>
        <a:graphic>
          <a:graphicData uri="http://schemas.openxmlformats.org/drawingml/2006/table">
            <a:tbl>
              <a:tblPr/>
              <a:tblGrid>
                <a:gridCol w="1743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3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5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40">
                <a:tc gridSpan="2"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No.</a:t>
                      </a:r>
                      <a:endParaRPr kumimoji="0" lang="ko-KR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ko-KR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Component</a:t>
                      </a:r>
                      <a:endParaRPr kumimoji="0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Descriptions</a:t>
                      </a:r>
                      <a:endParaRPr kumimoji="0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069"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600" dirty="0">
                        <a:latin typeface="+mn-ea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임시 </a:t>
                      </a:r>
                      <a:r>
                        <a:rPr kumimoji="0" lang="en-US" altLang="ko-KR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OTP PIN</a:t>
                      </a:r>
                      <a:r>
                        <a:rPr kumimoji="0" lang="ko-KR" altLang="en-US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입력 페이지 </a:t>
                      </a:r>
                      <a:endParaRPr kumimoji="0" lang="en-US" altLang="ko-KR" sz="6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1803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Button</a:t>
                      </a:r>
                      <a:endParaRPr kumimoji="0" lang="en-US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[&lt; ] </a:t>
                      </a:r>
                      <a:r>
                        <a:rPr kumimoji="0" lang="ko-KR" altLang="en-US" sz="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버튼 클릭 시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임시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OTP PIN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인증 승인 완료 페이지 로 이동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뒤로가기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5434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정보요소</a:t>
                      </a:r>
                      <a:endParaRPr kumimoji="0" lang="en-US" altLang="ko-KR" sz="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상태 정보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페이지 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** </a:t>
                      </a:r>
                      <a:r>
                        <a:rPr kumimoji="0" lang="ko-KR" altLang="en-US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새로고침 시 상태 변경 확인 가능</a:t>
                      </a:r>
                      <a:endParaRPr kumimoji="0" lang="en-US" altLang="ko-KR" sz="6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관리자 승인 전 </a:t>
                      </a:r>
                      <a:endParaRPr kumimoji="0" lang="en-US" altLang="ko-KR" sz="6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임시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OTP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대기중입니다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사원명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|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사원정보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|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사원휴대폰번호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[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 승인 대기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상태값 표기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 1-3 [OTP PIN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버튼 비활성화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전체 삭제 </a:t>
                      </a:r>
                      <a:endParaRPr kumimoji="0" lang="en-US" altLang="ko-KR" sz="6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클릭 시 입력한 값 모두 삭제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초기화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/>
                        <a:t>← </a:t>
                      </a:r>
                      <a:r>
                        <a:rPr kumimoji="0" lang="ko-KR" altLang="en-US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전</a:t>
                      </a:r>
                      <a:endParaRPr kumimoji="0" lang="en-US" altLang="ko-KR" sz="6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클릭 시 입력한 값 순차적으로 초기화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숫자 패드</a:t>
                      </a:r>
                      <a:endParaRPr kumimoji="0" lang="en-US" altLang="ko-KR" sz="6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-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클릭 시 입력 수 에 맞춰 인디케이터 영역에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다른색상으로 채워짐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- 6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자리 입력 후 인증 성공 시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0" lang="ko-KR" altLang="en-US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인증에 성공했습니다</a:t>
                      </a:r>
                      <a:r>
                        <a:rPr kumimoji="0" lang="en-US" altLang="ko-KR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Toast Message 2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초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유지 후 메인 페이지로지로 진입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(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후속 프로세스 진입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- 6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자리 입력 후 인증 실패 시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입력칸 초기화 후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인디케이터 영역 아래 오류 메시지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ko-KR" altLang="en-US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회 실패 </a:t>
                      </a:r>
                      <a:endParaRPr kumimoji="0" lang="en-US" altLang="ko-KR" sz="600" b="0" i="0" u="sng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0" lang="ko-KR" altLang="en-US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시 </a:t>
                      </a:r>
                      <a:r>
                        <a:rPr kumimoji="0" lang="en-US" altLang="ko-KR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OTP PIN </a:t>
                      </a:r>
                      <a:r>
                        <a:rPr kumimoji="0" lang="ko-KR" altLang="en-US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번호를 재설정해야합니다</a:t>
                      </a:r>
                      <a:r>
                        <a:rPr kumimoji="0" lang="en-US" altLang="ko-KR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(N/5)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표기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600" b="0" i="0" u="sng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0" lang="en-US" altLang="ko-KR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- 6</a:t>
                      </a:r>
                      <a:r>
                        <a:rPr kumimoji="0" lang="ko-KR" altLang="en-US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자리 입력 실패를 </a:t>
                      </a:r>
                      <a:r>
                        <a:rPr kumimoji="0" lang="en-US" altLang="ko-KR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ko-KR" altLang="en-US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회 했을 경우 비밀번호 </a:t>
                      </a:r>
                      <a:r>
                        <a:rPr kumimoji="0" lang="en-US" altLang="ko-KR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ko-KR" altLang="en-US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회 입력 실패로  비밀번호 재설정이 필요합니다</a:t>
                      </a:r>
                      <a:r>
                        <a:rPr kumimoji="0" lang="en-US" altLang="ko-KR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관리자에게 문의하세요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확인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] Alert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후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확인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버튼 클릭 시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OTP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발급 인증 페이지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초기화면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으로 진입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4872046"/>
                  </a:ext>
                </a:extLst>
              </a:tr>
              <a:tr h="285223">
                <a:tc gridSpan="4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REMARK</a:t>
                      </a: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9557">
                <a:tc gridSpan="4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5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6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5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5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6896">
                <a:tc gridSpan="4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FEEDBACK</a:t>
                      </a:r>
                      <a:endParaRPr kumimoji="0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5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5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12700" cmpd="sng">
                      <a:noFill/>
                      <a:prstDash val="solid"/>
                    </a:lnL>
                    <a:lnT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76000">
                <a:tc gridSpan="4">
                  <a:txBody>
                    <a:bodyPr/>
                    <a:lstStyle/>
                    <a:p>
                      <a:pPr marL="0" marR="0" lvl="0" indent="0" algn="l" defTabSz="852488" rtl="0" eaLnBrk="0" fontAlgn="base" latinLnBrk="1" hangingPunct="0">
                        <a:lnSpc>
                          <a:spcPct val="15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+mj-lt"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852488" rtl="0" eaLnBrk="0" fontAlgn="base" latinLnBrk="1" hangingPunct="0">
                        <a:lnSpc>
                          <a:spcPct val="15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+mj-lt"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1" name="직사각형 20">
            <a:extLst>
              <a:ext uri="{FF2B5EF4-FFF2-40B4-BE49-F238E27FC236}">
                <a16:creationId xmlns:a16="http://schemas.microsoft.com/office/drawing/2014/main" id="{EDC46567-F166-9707-58AE-50D3909F27F6}"/>
              </a:ext>
            </a:extLst>
          </p:cNvPr>
          <p:cNvSpPr/>
          <p:nvPr/>
        </p:nvSpPr>
        <p:spPr>
          <a:xfrm>
            <a:off x="3549433" y="2529138"/>
            <a:ext cx="2186567" cy="2123862"/>
          </a:xfrm>
          <a:prstGeom prst="rect">
            <a:avLst/>
          </a:prstGeom>
          <a:noFill/>
          <a:ln>
            <a:solidFill>
              <a:srgbClr val="00B050"/>
            </a:solidFill>
            <a:prstDash val="sysDot"/>
          </a:ln>
        </p:spPr>
        <p:txBody>
          <a:bodyPr wrap="square" rtlCol="0" anchor="ctr">
            <a:noAutofit/>
          </a:bodyPr>
          <a:lstStyle/>
          <a:p>
            <a:pPr algn="l"/>
            <a:endParaRPr kumimoji="0" lang="ko-KR" altLang="en-US" sz="9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모서리가 둥근 직사각형 209">
            <a:extLst>
              <a:ext uri="{FF2B5EF4-FFF2-40B4-BE49-F238E27FC236}">
                <a16:creationId xmlns:a16="http://schemas.microsoft.com/office/drawing/2014/main" id="{63EDB252-10E9-4D8B-64AC-E7B957B5669B}"/>
              </a:ext>
            </a:extLst>
          </p:cNvPr>
          <p:cNvSpPr/>
          <p:nvPr/>
        </p:nvSpPr>
        <p:spPr>
          <a:xfrm>
            <a:off x="3558476" y="2513926"/>
            <a:ext cx="280468" cy="1414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700" b="0">
                <a:latin typeface="+mn-ea"/>
              </a:rPr>
              <a:t>1-2</a:t>
            </a:r>
            <a:endParaRPr lang="ko-KR" altLang="en-US" sz="700" b="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897910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CBE9B1-BD43-2E6F-C625-DF6D8A7962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3C4D6755-F062-C3F4-CB24-4B828D5B61C6}"/>
              </a:ext>
            </a:extLst>
          </p:cNvPr>
          <p:cNvSpPr/>
          <p:nvPr/>
        </p:nvSpPr>
        <p:spPr>
          <a:xfrm>
            <a:off x="0" y="520961"/>
            <a:ext cx="9467081" cy="6337039"/>
          </a:xfrm>
          <a:prstGeom prst="rect">
            <a:avLst/>
          </a:prstGeom>
          <a:solidFill>
            <a:srgbClr val="FEE500"/>
          </a:solidFill>
        </p:spPr>
        <p:txBody>
          <a:bodyPr wrap="square" rtlCol="0" anchor="ctr">
            <a:noAutofit/>
          </a:bodyPr>
          <a:lstStyle/>
          <a:p>
            <a:pPr algn="l"/>
            <a:endParaRPr kumimoji="0" lang="ko-KR" altLang="en-US" sz="9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7" name="텍스트 개체 틀 28">
            <a:extLst>
              <a:ext uri="{FF2B5EF4-FFF2-40B4-BE49-F238E27FC236}">
                <a16:creationId xmlns:a16="http://schemas.microsoft.com/office/drawing/2014/main" id="{8AEBDEFC-B134-D7AE-22A8-10B5927238DD}"/>
              </a:ext>
            </a:extLst>
          </p:cNvPr>
          <p:cNvSpPr txBox="1">
            <a:spLocks/>
          </p:cNvSpPr>
          <p:nvPr/>
        </p:nvSpPr>
        <p:spPr>
          <a:xfrm>
            <a:off x="1225975" y="20616"/>
            <a:ext cx="2160000" cy="180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[ATON] </a:t>
            </a:r>
            <a:r>
              <a:rPr lang="ko-KR" altLang="en-US"/>
              <a:t>카카오뱅크 </a:t>
            </a:r>
            <a:r>
              <a:rPr lang="en-US" altLang="ko-KR"/>
              <a:t>OTP POC</a:t>
            </a:r>
            <a:endParaRPr lang="ko-KR" altLang="en-US"/>
          </a:p>
        </p:txBody>
      </p:sp>
      <p:sp>
        <p:nvSpPr>
          <p:cNvPr id="214" name="텍스트 개체 틀 28">
            <a:extLst>
              <a:ext uri="{FF2B5EF4-FFF2-40B4-BE49-F238E27FC236}">
                <a16:creationId xmlns:a16="http://schemas.microsoft.com/office/drawing/2014/main" id="{E3C8E0BA-4495-EE9A-3DE7-20B50E0D5936}"/>
              </a:ext>
            </a:extLst>
          </p:cNvPr>
          <p:cNvSpPr txBox="1">
            <a:spLocks/>
          </p:cNvSpPr>
          <p:nvPr/>
        </p:nvSpPr>
        <p:spPr>
          <a:xfrm>
            <a:off x="1235500" y="252000"/>
            <a:ext cx="2160000" cy="180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en-US" altLang="ko-KR" b="0"/>
              <a:t>PIN </a:t>
            </a:r>
            <a:r>
              <a:rPr kumimoji="0" lang="ko-KR" altLang="en-US" b="0"/>
              <a:t>번호 입력 </a:t>
            </a:r>
            <a:r>
              <a:rPr kumimoji="0" lang="en-US" altLang="ko-KR" b="0"/>
              <a:t>&gt;</a:t>
            </a:r>
            <a:r>
              <a:rPr kumimoji="0" lang="ko-KR" altLang="en-US" b="0"/>
              <a:t> 인증 완료</a:t>
            </a:r>
            <a:r>
              <a:rPr kumimoji="0" lang="en-US" altLang="ko-KR" b="0"/>
              <a:t> Alert</a:t>
            </a:r>
            <a:endParaRPr kumimoji="0" lang="en-US" altLang="ko-KR" b="0" dirty="0"/>
          </a:p>
        </p:txBody>
      </p:sp>
      <p:sp>
        <p:nvSpPr>
          <p:cNvPr id="228" name="텍스트 개체 틀 28">
            <a:extLst>
              <a:ext uri="{FF2B5EF4-FFF2-40B4-BE49-F238E27FC236}">
                <a16:creationId xmlns:a16="http://schemas.microsoft.com/office/drawing/2014/main" id="{9DA6F7B0-3EB8-685F-9DC9-5F892EBB2069}"/>
              </a:ext>
            </a:extLst>
          </p:cNvPr>
          <p:cNvSpPr txBox="1">
            <a:spLocks/>
          </p:cNvSpPr>
          <p:nvPr/>
        </p:nvSpPr>
        <p:spPr>
          <a:xfrm>
            <a:off x="4751298" y="252000"/>
            <a:ext cx="1080000" cy="180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b="0" dirty="0">
              <a:solidFill>
                <a:srgbClr val="000000"/>
              </a:solidFill>
            </a:endParaRPr>
          </a:p>
        </p:txBody>
      </p:sp>
      <p:sp>
        <p:nvSpPr>
          <p:cNvPr id="235" name="텍스트 개체 틀 28">
            <a:extLst>
              <a:ext uri="{FF2B5EF4-FFF2-40B4-BE49-F238E27FC236}">
                <a16:creationId xmlns:a16="http://schemas.microsoft.com/office/drawing/2014/main" id="{D6DA0B1E-3E8F-E6C4-A6EC-3A3E13A95473}"/>
              </a:ext>
            </a:extLst>
          </p:cNvPr>
          <p:cNvSpPr txBox="1">
            <a:spLocks/>
          </p:cNvSpPr>
          <p:nvPr/>
        </p:nvSpPr>
        <p:spPr>
          <a:xfrm>
            <a:off x="7088981" y="252000"/>
            <a:ext cx="2340000" cy="180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b="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1F10FFF-01D8-8528-5FBA-CA1578C8B277}"/>
              </a:ext>
            </a:extLst>
          </p:cNvPr>
          <p:cNvSpPr/>
          <p:nvPr/>
        </p:nvSpPr>
        <p:spPr bwMode="auto">
          <a:xfrm>
            <a:off x="4712861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1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7BDE43F-3E25-C8FD-031A-C81E5D2804EB}"/>
              </a:ext>
            </a:extLst>
          </p:cNvPr>
          <p:cNvSpPr/>
          <p:nvPr/>
        </p:nvSpPr>
        <p:spPr bwMode="auto">
          <a:xfrm>
            <a:off x="5927042" y="0"/>
            <a:ext cx="294701" cy="21938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2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EB64DE7-441B-38F3-5CA5-A0999F106EBF}"/>
              </a:ext>
            </a:extLst>
          </p:cNvPr>
          <p:cNvSpPr/>
          <p:nvPr/>
        </p:nvSpPr>
        <p:spPr bwMode="auto">
          <a:xfrm>
            <a:off x="7059464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3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2AD9C1F-C15A-E3EB-8A30-39201B65C51A}"/>
              </a:ext>
            </a:extLst>
          </p:cNvPr>
          <p:cNvSpPr/>
          <p:nvPr/>
        </p:nvSpPr>
        <p:spPr bwMode="auto">
          <a:xfrm>
            <a:off x="8264807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4</a:t>
            </a:r>
            <a:r>
              <a:rPr kumimoji="1" lang="en-US" altLang="ko-KR" sz="6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</a:t>
            </a: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00C90A4-986D-7698-1B7C-40D40F4DE1D3}"/>
              </a:ext>
            </a:extLst>
          </p:cNvPr>
          <p:cNvSpPr/>
          <p:nvPr/>
        </p:nvSpPr>
        <p:spPr bwMode="auto">
          <a:xfrm>
            <a:off x="9467081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5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39B50F1E-E441-742B-F4A4-C33FD3E6CACD}"/>
              </a:ext>
            </a:extLst>
          </p:cNvPr>
          <p:cNvSpPr/>
          <p:nvPr/>
        </p:nvSpPr>
        <p:spPr bwMode="auto">
          <a:xfrm>
            <a:off x="10574936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6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69" name="텍스트 개체 틀 28">
            <a:extLst>
              <a:ext uri="{FF2B5EF4-FFF2-40B4-BE49-F238E27FC236}">
                <a16:creationId xmlns:a16="http://schemas.microsoft.com/office/drawing/2014/main" id="{6E1478AB-F6AE-5EC4-AC2B-38D857DDED1E}"/>
              </a:ext>
            </a:extLst>
          </p:cNvPr>
          <p:cNvSpPr txBox="1">
            <a:spLocks/>
          </p:cNvSpPr>
          <p:nvPr/>
        </p:nvSpPr>
        <p:spPr>
          <a:xfrm>
            <a:off x="10612354" y="252000"/>
            <a:ext cx="1080000" cy="16977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0"/>
              <a:t>2025-12-12</a:t>
            </a:r>
            <a:endParaRPr lang="ko-KR" altLang="en-US" b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E2C7AC-7B6C-C1F1-AF58-871E8F304326}"/>
              </a:ext>
            </a:extLst>
          </p:cNvPr>
          <p:cNvSpPr txBox="1"/>
          <p:nvPr/>
        </p:nvSpPr>
        <p:spPr bwMode="auto">
          <a:xfrm>
            <a:off x="3111471" y="878353"/>
            <a:ext cx="3161058" cy="33855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b="1" i="0">
                <a:solidFill>
                  <a:srgbClr val="11111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카카오뱅크 </a:t>
            </a:r>
            <a:r>
              <a:rPr lang="en-US" altLang="ko-KR" b="1" i="0">
                <a:solidFill>
                  <a:srgbClr val="11111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OTP POC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983DA8C-5E44-1A02-8EB3-6FCF12A57D10}"/>
              </a:ext>
            </a:extLst>
          </p:cNvPr>
          <p:cNvSpPr txBox="1"/>
          <p:nvPr/>
        </p:nvSpPr>
        <p:spPr bwMode="auto">
          <a:xfrm>
            <a:off x="2779560" y="1216907"/>
            <a:ext cx="3824880" cy="21544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8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PC</a:t>
            </a:r>
            <a:r>
              <a:rPr lang="en-US" altLang="ko-KR" sz="8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/ Mobile Web</a:t>
            </a:r>
            <a:r>
              <a:rPr lang="ko-KR" altLang="en-US" sz="8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에</a:t>
            </a:r>
            <a:r>
              <a:rPr lang="ko-KR" altLang="en-US" sz="8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서 </a:t>
            </a:r>
            <a:r>
              <a:rPr lang="en-US" altLang="ko-KR" sz="8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OTP </a:t>
            </a:r>
            <a:r>
              <a:rPr lang="ko-KR" altLang="en-US" sz="8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인증을 요청하는 상황을 가정합니다</a:t>
            </a:r>
            <a:r>
              <a:rPr lang="en-US" altLang="ko-KR" sz="8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800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5AF374E3-5F66-9240-8BDC-3B30BDF06699}"/>
              </a:ext>
            </a:extLst>
          </p:cNvPr>
          <p:cNvSpPr/>
          <p:nvPr/>
        </p:nvSpPr>
        <p:spPr>
          <a:xfrm>
            <a:off x="3308861" y="1604255"/>
            <a:ext cx="2808000" cy="3192745"/>
          </a:xfrm>
          <a:prstGeom prst="roundRect">
            <a:avLst>
              <a:gd name="adj" fmla="val 8346"/>
            </a:avLst>
          </a:prstGeom>
          <a:solidFill>
            <a:schemeClr val="bg1"/>
          </a:solidFill>
        </p:spPr>
        <p:txBody>
          <a:bodyPr wrap="square" rtlCol="0" anchor="ctr">
            <a:noAutofit/>
          </a:bodyPr>
          <a:lstStyle/>
          <a:p>
            <a:pPr algn="l"/>
            <a:endParaRPr kumimoji="0" lang="ko-KR" altLang="en-US" sz="9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B224C66-168E-02C6-81F4-18AD57A00B99}"/>
              </a:ext>
            </a:extLst>
          </p:cNvPr>
          <p:cNvSpPr txBox="1"/>
          <p:nvPr/>
        </p:nvSpPr>
        <p:spPr bwMode="auto">
          <a:xfrm>
            <a:off x="3385778" y="2257214"/>
            <a:ext cx="2612445" cy="2308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임시 </a:t>
            </a:r>
            <a:r>
              <a:rPr lang="en-US" altLang="ko-KR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OTP </a:t>
            </a:r>
            <a:r>
              <a:rPr lang="ko-KR" altLang="en-US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인증을 위해 설정한 </a:t>
            </a:r>
            <a:r>
              <a:rPr lang="en-US" altLang="ko-KR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PIN</a:t>
            </a:r>
            <a:r>
              <a:rPr lang="ko-KR" altLang="en-US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을</a:t>
            </a:r>
            <a:r>
              <a:rPr lang="en-US" altLang="ko-KR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입력하세요</a:t>
            </a:r>
            <a:r>
              <a:rPr lang="en-US" altLang="ko-KR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900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B342ED7A-04C4-10AC-D3C8-463AE83B0810}"/>
              </a:ext>
            </a:extLst>
          </p:cNvPr>
          <p:cNvGrpSpPr/>
          <p:nvPr/>
        </p:nvGrpSpPr>
        <p:grpSpPr>
          <a:xfrm>
            <a:off x="4197021" y="2655288"/>
            <a:ext cx="900434" cy="109987"/>
            <a:chOff x="3440832" y="4005064"/>
            <a:chExt cx="1754691" cy="235769"/>
          </a:xfrm>
          <a:solidFill>
            <a:srgbClr val="FEE500"/>
          </a:solidFill>
        </p:grpSpPr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8B064AFF-CCB2-6B91-0023-2FFDE3D25EB7}"/>
                </a:ext>
              </a:extLst>
            </p:cNvPr>
            <p:cNvSpPr/>
            <p:nvPr/>
          </p:nvSpPr>
          <p:spPr>
            <a:xfrm>
              <a:off x="3440832" y="4005064"/>
              <a:ext cx="216024" cy="235769"/>
            </a:xfrm>
            <a:prstGeom prst="ellipse">
              <a:avLst/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91328322-28E5-8D90-36D9-4CB51EE29C61}"/>
                </a:ext>
              </a:extLst>
            </p:cNvPr>
            <p:cNvSpPr/>
            <p:nvPr/>
          </p:nvSpPr>
          <p:spPr>
            <a:xfrm>
              <a:off x="3746435" y="4005064"/>
              <a:ext cx="216024" cy="235769"/>
            </a:xfrm>
            <a:prstGeom prst="ellipse">
              <a:avLst/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5AD3200F-3004-0D9A-E58C-73F8374639B4}"/>
                </a:ext>
              </a:extLst>
            </p:cNvPr>
            <p:cNvSpPr/>
            <p:nvPr/>
          </p:nvSpPr>
          <p:spPr>
            <a:xfrm>
              <a:off x="4054701" y="4005064"/>
              <a:ext cx="216024" cy="235769"/>
            </a:xfrm>
            <a:prstGeom prst="ellipse">
              <a:avLst/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74BE54E4-8EF0-B019-0430-4DDAA8F0AB39}"/>
                </a:ext>
              </a:extLst>
            </p:cNvPr>
            <p:cNvSpPr/>
            <p:nvPr/>
          </p:nvSpPr>
          <p:spPr>
            <a:xfrm>
              <a:off x="4362967" y="4005064"/>
              <a:ext cx="216024" cy="235769"/>
            </a:xfrm>
            <a:prstGeom prst="ellipse">
              <a:avLst/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6B35E157-C843-B76C-989B-397412F1F997}"/>
                </a:ext>
              </a:extLst>
            </p:cNvPr>
            <p:cNvSpPr/>
            <p:nvPr/>
          </p:nvSpPr>
          <p:spPr>
            <a:xfrm>
              <a:off x="4671233" y="4005064"/>
              <a:ext cx="216024" cy="235769"/>
            </a:xfrm>
            <a:prstGeom prst="ellipse">
              <a:avLst/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64A3D9F7-93F7-4564-07DD-D121EF1CE8A8}"/>
                </a:ext>
              </a:extLst>
            </p:cNvPr>
            <p:cNvSpPr/>
            <p:nvPr/>
          </p:nvSpPr>
          <p:spPr>
            <a:xfrm>
              <a:off x="4979499" y="4005064"/>
              <a:ext cx="216024" cy="235769"/>
            </a:xfrm>
            <a:prstGeom prst="ellipse">
              <a:avLst/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1C250591-5DB0-F2BA-416A-EE778AAE1E37}"/>
              </a:ext>
            </a:extLst>
          </p:cNvPr>
          <p:cNvGraphicFramePr>
            <a:graphicFrameLocks noGrp="1"/>
          </p:cNvGraphicFramePr>
          <p:nvPr/>
        </p:nvGraphicFramePr>
        <p:xfrm>
          <a:off x="3562651" y="2997000"/>
          <a:ext cx="2258697" cy="16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899">
                  <a:extLst>
                    <a:ext uri="{9D8B030D-6E8A-4147-A177-3AD203B41FA5}">
                      <a16:colId xmlns:a16="http://schemas.microsoft.com/office/drawing/2014/main" val="1808236804"/>
                    </a:ext>
                  </a:extLst>
                </a:gridCol>
                <a:gridCol w="752899">
                  <a:extLst>
                    <a:ext uri="{9D8B030D-6E8A-4147-A177-3AD203B41FA5}">
                      <a16:colId xmlns:a16="http://schemas.microsoft.com/office/drawing/2014/main" val="3067110694"/>
                    </a:ext>
                  </a:extLst>
                </a:gridCol>
                <a:gridCol w="752899">
                  <a:extLst>
                    <a:ext uri="{9D8B030D-6E8A-4147-A177-3AD203B41FA5}">
                      <a16:colId xmlns:a16="http://schemas.microsoft.com/office/drawing/2014/main" val="1567338698"/>
                    </a:ext>
                  </a:extLst>
                </a:gridCol>
              </a:tblGrid>
              <a:tr h="414000"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b="1" i="0" kern="1200">
                          <a:solidFill>
                            <a:srgbClr val="333333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</a:t>
                      </a:r>
                      <a:endParaRPr kumimoji="1" lang="ko-KR" altLang="en-US" sz="1100" b="1" i="0" kern="1200" dirty="0">
                        <a:solidFill>
                          <a:srgbClr val="333333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b="1" i="0" kern="1200">
                          <a:solidFill>
                            <a:srgbClr val="333333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2</a:t>
                      </a:r>
                      <a:endParaRPr kumimoji="1" lang="ko-KR" altLang="en-US" sz="1100" b="1" i="0" kern="1200" dirty="0">
                        <a:solidFill>
                          <a:srgbClr val="333333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b="1" i="0" kern="1200" dirty="0">
                          <a:solidFill>
                            <a:srgbClr val="333333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3</a:t>
                      </a:r>
                      <a:endParaRPr kumimoji="1" lang="ko-KR" altLang="en-US" sz="1100" b="1" i="0" kern="1200" dirty="0">
                        <a:solidFill>
                          <a:srgbClr val="333333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447279"/>
                  </a:ext>
                </a:extLst>
              </a:tr>
              <a:tr h="414000"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b="1" i="0" kern="1200">
                          <a:solidFill>
                            <a:srgbClr val="333333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4</a:t>
                      </a:r>
                      <a:endParaRPr kumimoji="1" lang="ko-KR" altLang="en-US" sz="1100" b="1" i="0" kern="1200" dirty="0">
                        <a:solidFill>
                          <a:srgbClr val="333333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b="1" i="0" kern="1200">
                          <a:solidFill>
                            <a:srgbClr val="333333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5 </a:t>
                      </a:r>
                      <a:endParaRPr kumimoji="1" lang="en-US" altLang="ko-KR" sz="1100" b="1" i="0" kern="1200" dirty="0">
                        <a:solidFill>
                          <a:srgbClr val="333333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b="1" i="0" kern="1200">
                          <a:solidFill>
                            <a:srgbClr val="333333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6</a:t>
                      </a:r>
                      <a:endParaRPr kumimoji="1" lang="ko-KR" altLang="en-US" sz="1100" b="1" i="0" kern="1200" dirty="0">
                        <a:solidFill>
                          <a:srgbClr val="333333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7053133"/>
                  </a:ext>
                </a:extLst>
              </a:tr>
              <a:tr h="414000"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b="1" i="0" kern="1200">
                          <a:solidFill>
                            <a:srgbClr val="333333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7</a:t>
                      </a:r>
                      <a:endParaRPr kumimoji="1" lang="ko-KR" altLang="en-US" sz="1100" b="1" i="0" kern="1200" dirty="0">
                        <a:solidFill>
                          <a:srgbClr val="333333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b="1" i="0" kern="1200">
                          <a:solidFill>
                            <a:srgbClr val="333333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8</a:t>
                      </a:r>
                      <a:endParaRPr kumimoji="1" lang="ko-KR" altLang="en-US" sz="1100" b="1" i="0" kern="1200" dirty="0">
                        <a:solidFill>
                          <a:srgbClr val="333333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b="1" i="0" kern="1200">
                          <a:solidFill>
                            <a:srgbClr val="333333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9</a:t>
                      </a:r>
                      <a:endParaRPr kumimoji="1" lang="ko-KR" altLang="en-US" sz="1100" b="1" i="0" kern="1200" dirty="0">
                        <a:solidFill>
                          <a:srgbClr val="333333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2835454"/>
                  </a:ext>
                </a:extLst>
              </a:tr>
              <a:tr h="414000"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100" b="1" i="0" kern="1200" dirty="0">
                        <a:solidFill>
                          <a:srgbClr val="333333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b="1" i="0" kern="1200" dirty="0">
                          <a:solidFill>
                            <a:srgbClr val="333333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0</a:t>
                      </a:r>
                      <a:endParaRPr kumimoji="1" lang="ko-KR" altLang="en-US" sz="1100" b="1" i="0" kern="1200" dirty="0">
                        <a:solidFill>
                          <a:srgbClr val="333333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100" b="1" i="0" kern="1200" dirty="0">
                        <a:solidFill>
                          <a:srgbClr val="333333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7665024"/>
                  </a:ext>
                </a:extLst>
              </a:tr>
            </a:tbl>
          </a:graphicData>
        </a:graphic>
      </p:graphicFrame>
      <p:pic>
        <p:nvPicPr>
          <p:cNvPr id="48" name="그림 47" descr="로고, 상징, 일렉트릭 블루, 블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C453C31-627C-883E-8ED7-B13CEDD9C8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2288" y="4340616"/>
            <a:ext cx="283911" cy="241324"/>
          </a:xfrm>
          <a:prstGeom prst="rect">
            <a:avLst/>
          </a:prstGeom>
        </p:spPr>
      </p:pic>
      <p:grpSp>
        <p:nvGrpSpPr>
          <p:cNvPr id="49" name="그룹 48">
            <a:extLst>
              <a:ext uri="{FF2B5EF4-FFF2-40B4-BE49-F238E27FC236}">
                <a16:creationId xmlns:a16="http://schemas.microsoft.com/office/drawing/2014/main" id="{0EA4D373-76AE-281C-5EDD-6FED5B32BD1A}"/>
              </a:ext>
            </a:extLst>
          </p:cNvPr>
          <p:cNvGrpSpPr/>
          <p:nvPr/>
        </p:nvGrpSpPr>
        <p:grpSpPr>
          <a:xfrm>
            <a:off x="3308861" y="5373000"/>
            <a:ext cx="2808000" cy="1485001"/>
            <a:chOff x="3308861" y="5373000"/>
            <a:chExt cx="2808000" cy="1485001"/>
          </a:xfrm>
        </p:grpSpPr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BEAB80AD-6FA1-AA86-662F-80E4AC6B3EEF}"/>
                </a:ext>
              </a:extLst>
            </p:cNvPr>
            <p:cNvSpPr/>
            <p:nvPr/>
          </p:nvSpPr>
          <p:spPr>
            <a:xfrm>
              <a:off x="3308861" y="5373000"/>
              <a:ext cx="2808000" cy="1194745"/>
            </a:xfrm>
            <a:prstGeom prst="roundRect">
              <a:avLst>
                <a:gd name="adj" fmla="val 20592"/>
              </a:avLst>
            </a:prstGeom>
            <a:solidFill>
              <a:schemeClr val="bg1"/>
            </a:solidFill>
          </p:spPr>
          <p:txBody>
            <a:bodyPr wrap="square" rtlCol="0" anchor="ctr">
              <a:noAutofit/>
            </a:bodyPr>
            <a:lstStyle/>
            <a:p>
              <a:pPr algn="l"/>
              <a:endParaRPr kumimoji="0" lang="ko-KR" altLang="en-US" sz="9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AD8A3148-A326-2A6B-BEBF-EA56AB949960}"/>
                </a:ext>
              </a:extLst>
            </p:cNvPr>
            <p:cNvSpPr/>
            <p:nvPr/>
          </p:nvSpPr>
          <p:spPr>
            <a:xfrm>
              <a:off x="3308861" y="5970373"/>
              <a:ext cx="2808000" cy="887628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</p:spPr>
          <p:txBody>
            <a:bodyPr wrap="square" rtlCol="0" anchor="ctr">
              <a:noAutofit/>
            </a:bodyPr>
            <a:lstStyle/>
            <a:p>
              <a:pPr algn="l"/>
              <a:endParaRPr kumimoji="0" lang="ko-KR" altLang="en-US" sz="9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D38BF830-6E16-824B-507C-6AB0A7CE6BDC}"/>
              </a:ext>
            </a:extLst>
          </p:cNvPr>
          <p:cNvSpPr txBox="1"/>
          <p:nvPr/>
        </p:nvSpPr>
        <p:spPr bwMode="auto">
          <a:xfrm>
            <a:off x="3111471" y="6060188"/>
            <a:ext cx="3161058" cy="33855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i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경영 서비스</a:t>
            </a:r>
            <a:endParaRPr lang="en-US" altLang="ko-KR" i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65FF929E-F56F-3F02-B310-30F885AD9C8E}"/>
              </a:ext>
            </a:extLst>
          </p:cNvPr>
          <p:cNvSpPr txBox="1"/>
          <p:nvPr/>
        </p:nvSpPr>
        <p:spPr bwMode="auto">
          <a:xfrm>
            <a:off x="2779560" y="6393096"/>
            <a:ext cx="3824880" cy="2308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내부 경영</a:t>
            </a:r>
            <a:r>
              <a:rPr lang="en-US" altLang="ko-KR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업무 지원 시스템 로그인</a:t>
            </a:r>
            <a:endParaRPr lang="ko-KR" altLang="en-US" sz="90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736FD98-74C3-35CB-7451-E6B15F560EEE}"/>
              </a:ext>
            </a:extLst>
          </p:cNvPr>
          <p:cNvSpPr txBox="1"/>
          <p:nvPr/>
        </p:nvSpPr>
        <p:spPr bwMode="auto">
          <a:xfrm>
            <a:off x="3876955" y="1861853"/>
            <a:ext cx="1622123" cy="2616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altLang="ko-KR" sz="1100" i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PIN </a:t>
            </a:r>
            <a:r>
              <a:rPr lang="ko-KR" altLang="en-US" sz="1100" i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번호 인증</a:t>
            </a:r>
            <a:endParaRPr lang="en-US" altLang="ko-KR" sz="1100" i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4D0DE37-3051-17DC-F954-53022B60DEE6}"/>
              </a:ext>
            </a:extLst>
          </p:cNvPr>
          <p:cNvSpPr txBox="1"/>
          <p:nvPr/>
        </p:nvSpPr>
        <p:spPr bwMode="auto">
          <a:xfrm>
            <a:off x="3648000" y="4274163"/>
            <a:ext cx="568544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7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전체</a:t>
            </a:r>
            <a:endParaRPr lang="en-US" altLang="ko-KR" sz="700" b="0" i="0">
              <a:solidFill>
                <a:srgbClr val="333333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7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삭제</a:t>
            </a:r>
            <a:endParaRPr lang="ko-KR" altLang="en-US" sz="700"/>
          </a:p>
        </p:txBody>
      </p:sp>
      <p:sp>
        <p:nvSpPr>
          <p:cNvPr id="47" name="사각형: 둥근 모서리 46">
            <a:extLst>
              <a:ext uri="{FF2B5EF4-FFF2-40B4-BE49-F238E27FC236}">
                <a16:creationId xmlns:a16="http://schemas.microsoft.com/office/drawing/2014/main" id="{F574BC69-C5C3-6F4E-1628-692D2C3AFCEA}"/>
              </a:ext>
            </a:extLst>
          </p:cNvPr>
          <p:cNvSpPr/>
          <p:nvPr/>
        </p:nvSpPr>
        <p:spPr>
          <a:xfrm>
            <a:off x="6406393" y="2087138"/>
            <a:ext cx="2808000" cy="469430"/>
          </a:xfrm>
          <a:prstGeom prst="roundRect">
            <a:avLst>
              <a:gd name="adj" fmla="val 21213"/>
            </a:avLst>
          </a:prstGeom>
          <a:solidFill>
            <a:schemeClr val="bg1"/>
          </a:solidFill>
        </p:spPr>
        <p:txBody>
          <a:bodyPr wrap="square" rtlCol="0" anchor="ctr">
            <a:noAutofit/>
          </a:bodyPr>
          <a:lstStyle/>
          <a:p>
            <a:pPr algn="l"/>
            <a:endParaRPr kumimoji="0" lang="ko-KR" altLang="en-US" sz="9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0EDCFB89-C329-E786-21D6-03857D554D62}"/>
              </a:ext>
            </a:extLst>
          </p:cNvPr>
          <p:cNvGrpSpPr/>
          <p:nvPr/>
        </p:nvGrpSpPr>
        <p:grpSpPr>
          <a:xfrm>
            <a:off x="8945742" y="2283091"/>
            <a:ext cx="100766" cy="91605"/>
            <a:chOff x="3912160" y="-747000"/>
            <a:chExt cx="216000" cy="216000"/>
          </a:xfrm>
        </p:grpSpPr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4A7E3855-876F-62D6-2214-15503E33188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12160" y="-747000"/>
              <a:ext cx="216000" cy="2160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DC1D9630-6A8C-D812-0666-58033234AAD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912160" y="-747000"/>
              <a:ext cx="216000" cy="2160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4" name="그림 43" descr="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48D086C-EFD9-FC5B-8CC4-AD30BA1212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0518" y="2212095"/>
            <a:ext cx="224440" cy="212579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5E0027F4-AFFA-2280-D8ED-9D75BAB11B90}"/>
              </a:ext>
            </a:extLst>
          </p:cNvPr>
          <p:cNvSpPr txBox="1"/>
          <p:nvPr/>
        </p:nvSpPr>
        <p:spPr bwMode="auto">
          <a:xfrm>
            <a:off x="6685906" y="2215510"/>
            <a:ext cx="2159045" cy="2308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ko-KR" altLang="en-US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인증이 완료되었습니다</a:t>
            </a:r>
            <a:r>
              <a:rPr lang="en-US" altLang="ko-KR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</a:t>
            </a:r>
            <a:endParaRPr lang="ko-KR" altLang="en-US" sz="900" b="0"/>
          </a:p>
        </p:txBody>
      </p:sp>
      <p:graphicFrame>
        <p:nvGraphicFramePr>
          <p:cNvPr id="66" name="Group 87">
            <a:extLst>
              <a:ext uri="{FF2B5EF4-FFF2-40B4-BE49-F238E27FC236}">
                <a16:creationId xmlns:a16="http://schemas.microsoft.com/office/drawing/2014/main" id="{6D6D64CD-9821-824F-28AB-D1742672D5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3259568"/>
              </p:ext>
            </p:extLst>
          </p:nvPr>
        </p:nvGraphicFramePr>
        <p:xfrm>
          <a:off x="9491386" y="520961"/>
          <a:ext cx="2698234" cy="5709170"/>
        </p:xfrm>
        <a:graphic>
          <a:graphicData uri="http://schemas.openxmlformats.org/drawingml/2006/table">
            <a:tbl>
              <a:tblPr/>
              <a:tblGrid>
                <a:gridCol w="1743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3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5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40">
                <a:tc gridSpan="2"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No.</a:t>
                      </a:r>
                      <a:endParaRPr kumimoji="0" lang="ko-KR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ko-KR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Component</a:t>
                      </a:r>
                      <a:endParaRPr kumimoji="0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Descriptions</a:t>
                      </a:r>
                      <a:endParaRPr kumimoji="0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069"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600" dirty="0">
                        <a:latin typeface="+mn-ea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임시 </a:t>
                      </a:r>
                      <a:r>
                        <a:rPr kumimoji="0" lang="en-US" altLang="ko-KR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OTP PIN</a:t>
                      </a:r>
                      <a:r>
                        <a:rPr kumimoji="0" lang="ko-KR" altLang="en-US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입력 페이지 </a:t>
                      </a:r>
                      <a:endParaRPr kumimoji="0" lang="en-US" altLang="ko-KR" sz="6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1803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Button</a:t>
                      </a:r>
                      <a:endParaRPr kumimoji="0" lang="en-US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[&lt; ] </a:t>
                      </a:r>
                      <a:r>
                        <a:rPr kumimoji="0" lang="ko-KR" altLang="en-US" sz="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버튼 클릭 시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임시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OTP PIN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인증 승인 완료 페이지 로 이동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뒤로가기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5434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정보요소</a:t>
                      </a:r>
                      <a:endParaRPr kumimoji="0" lang="en-US" altLang="ko-KR" sz="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상태 정보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페이지 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** </a:t>
                      </a:r>
                      <a:r>
                        <a:rPr kumimoji="0" lang="ko-KR" altLang="en-US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새로고침 시 상태 변경 확인 가능</a:t>
                      </a:r>
                      <a:endParaRPr kumimoji="0" lang="en-US" altLang="ko-KR" sz="6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관리자 승인 전 </a:t>
                      </a:r>
                      <a:endParaRPr kumimoji="0" lang="en-US" altLang="ko-KR" sz="6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임시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OTP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대기중입니다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사원명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|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사원정보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|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사원휴대폰번호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[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 승인 대기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상태값 표기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 1-3 [OTP PIN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버튼 비활성화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전체 삭제 </a:t>
                      </a:r>
                      <a:endParaRPr kumimoji="0" lang="en-US" altLang="ko-KR" sz="6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클릭 시 입력한 값 모두 삭제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초기화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/>
                        <a:t>← </a:t>
                      </a:r>
                      <a:r>
                        <a:rPr kumimoji="0" lang="ko-KR" altLang="en-US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전</a:t>
                      </a:r>
                      <a:endParaRPr kumimoji="0" lang="en-US" altLang="ko-KR" sz="6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클릭 시 입력한 값 순차적으로 초기화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숫자 패드</a:t>
                      </a:r>
                      <a:endParaRPr kumimoji="0" lang="en-US" altLang="ko-KR" sz="6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-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클릭 시 입력 수 에 맞춰 인디케이터 영역에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다른색상으로 채워짐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- 6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자리 입력 후 인증 성공 시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0" lang="ko-KR" altLang="en-US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인증에 성공했습니다</a:t>
                      </a:r>
                      <a:r>
                        <a:rPr kumimoji="0" lang="en-US" altLang="ko-KR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Toast Message 2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초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유지 후 메인 페이지로지로 진입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(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후속 프로세스 진입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- 6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자리 입력 후 인증 실패 시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입력칸 초기화 후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인디케이터 영역 아래 오류 메시지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ko-KR" altLang="en-US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회 실패 </a:t>
                      </a:r>
                      <a:endParaRPr kumimoji="0" lang="en-US" altLang="ko-KR" sz="600" b="0" i="0" u="sng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0" lang="ko-KR" altLang="en-US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시 </a:t>
                      </a:r>
                      <a:r>
                        <a:rPr kumimoji="0" lang="en-US" altLang="ko-KR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OTP PIN </a:t>
                      </a:r>
                      <a:r>
                        <a:rPr kumimoji="0" lang="ko-KR" altLang="en-US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번호를 재설정해야합니다</a:t>
                      </a:r>
                      <a:r>
                        <a:rPr kumimoji="0" lang="en-US" altLang="ko-KR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(N/5)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표기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600" b="0" i="0" u="sng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0" lang="en-US" altLang="ko-KR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- 6</a:t>
                      </a:r>
                      <a:r>
                        <a:rPr kumimoji="0" lang="ko-KR" altLang="en-US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자리 입력 실패를 </a:t>
                      </a:r>
                      <a:r>
                        <a:rPr kumimoji="0" lang="en-US" altLang="ko-KR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ko-KR" altLang="en-US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회 했을 경우 비밀번호 </a:t>
                      </a:r>
                      <a:r>
                        <a:rPr kumimoji="0" lang="en-US" altLang="ko-KR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ko-KR" altLang="en-US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회 입력 실패로  비밀번호 재설정이 필요합니다</a:t>
                      </a:r>
                      <a:r>
                        <a:rPr kumimoji="0" lang="en-US" altLang="ko-KR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관리자에게 문의하세요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확인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] Alert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후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확인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또는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[X]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버튼 클릭 시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OTP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발급 인증 페이지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초기화면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으로 진입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4872046"/>
                  </a:ext>
                </a:extLst>
              </a:tr>
              <a:tr h="285223">
                <a:tc gridSpan="4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REMARK</a:t>
                      </a: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9557">
                <a:tc gridSpan="4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5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공통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)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데모 구현 시 메인페이지 진입의 경우 에도 초기 페이지도 진입 하는 것으로 설정함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852488" rtl="0" eaLnBrk="0" fontAlgn="base" latinLnBrk="1" hangingPunct="0">
                        <a:lnSpc>
                          <a:spcPct val="15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6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5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5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6896">
                <a:tc gridSpan="4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FEEDBACK</a:t>
                      </a:r>
                      <a:endParaRPr kumimoji="0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5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5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12700" cmpd="sng">
                      <a:noFill/>
                      <a:prstDash val="solid"/>
                    </a:lnL>
                    <a:lnT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76000">
                <a:tc gridSpan="4">
                  <a:txBody>
                    <a:bodyPr/>
                    <a:lstStyle/>
                    <a:p>
                      <a:pPr marL="0" marR="0" lvl="0" indent="0" algn="l" defTabSz="852488" rtl="0" eaLnBrk="0" fontAlgn="base" latinLnBrk="1" hangingPunct="0">
                        <a:lnSpc>
                          <a:spcPct val="15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+mj-lt"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852488" rtl="0" eaLnBrk="0" fontAlgn="base" latinLnBrk="1" hangingPunct="0">
                        <a:lnSpc>
                          <a:spcPct val="15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+mj-lt"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67" name="직사각형 66">
            <a:extLst>
              <a:ext uri="{FF2B5EF4-FFF2-40B4-BE49-F238E27FC236}">
                <a16:creationId xmlns:a16="http://schemas.microsoft.com/office/drawing/2014/main" id="{75434F8A-24C4-5F73-CD9E-EFB58BDD1426}"/>
              </a:ext>
            </a:extLst>
          </p:cNvPr>
          <p:cNvSpPr/>
          <p:nvPr/>
        </p:nvSpPr>
        <p:spPr>
          <a:xfrm>
            <a:off x="3361473" y="1660457"/>
            <a:ext cx="2636750" cy="3064543"/>
          </a:xfrm>
          <a:prstGeom prst="rect">
            <a:avLst/>
          </a:prstGeom>
          <a:noFill/>
          <a:ln>
            <a:solidFill>
              <a:srgbClr val="00B050"/>
            </a:solidFill>
            <a:prstDash val="sysDot"/>
          </a:ln>
        </p:spPr>
        <p:txBody>
          <a:bodyPr wrap="square" rtlCol="0" anchor="ctr">
            <a:noAutofit/>
          </a:bodyPr>
          <a:lstStyle/>
          <a:p>
            <a:pPr algn="l"/>
            <a:endParaRPr kumimoji="0" lang="ko-KR" altLang="en-US" sz="9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21CF9B8F-85F1-45B9-9855-DEC48F17677D}"/>
              </a:ext>
            </a:extLst>
          </p:cNvPr>
          <p:cNvSpPr/>
          <p:nvPr/>
        </p:nvSpPr>
        <p:spPr>
          <a:xfrm>
            <a:off x="3422433" y="1873818"/>
            <a:ext cx="401583" cy="254480"/>
          </a:xfrm>
          <a:prstGeom prst="rect">
            <a:avLst/>
          </a:prstGeom>
          <a:noFill/>
          <a:ln>
            <a:solidFill>
              <a:srgbClr val="00B050"/>
            </a:solidFill>
            <a:prstDash val="sysDot"/>
          </a:ln>
        </p:spPr>
        <p:txBody>
          <a:bodyPr wrap="square" rtlCol="0" anchor="ctr">
            <a:noAutofit/>
          </a:bodyPr>
          <a:lstStyle/>
          <a:p>
            <a:pPr algn="l"/>
            <a:endParaRPr kumimoji="0" lang="ko-KR" altLang="en-US" sz="9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모서리가 둥근 직사각형 209">
            <a:extLst>
              <a:ext uri="{FF2B5EF4-FFF2-40B4-BE49-F238E27FC236}">
                <a16:creationId xmlns:a16="http://schemas.microsoft.com/office/drawing/2014/main" id="{D5406F36-B7F5-D5A6-6DFA-BCC0894A3F27}"/>
              </a:ext>
            </a:extLst>
          </p:cNvPr>
          <p:cNvSpPr/>
          <p:nvPr/>
        </p:nvSpPr>
        <p:spPr>
          <a:xfrm>
            <a:off x="3146601" y="1866991"/>
            <a:ext cx="280468" cy="1414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700" b="0">
                <a:latin typeface="+mn-ea"/>
              </a:rPr>
              <a:t>1-1</a:t>
            </a:r>
            <a:endParaRPr lang="ko-KR" altLang="en-US" sz="700" b="0" dirty="0">
              <a:latin typeface="+mn-ea"/>
            </a:endParaRPr>
          </a:p>
        </p:txBody>
      </p:sp>
      <p:sp>
        <p:nvSpPr>
          <p:cNvPr id="70" name="모서리가 둥근 직사각형 209">
            <a:extLst>
              <a:ext uri="{FF2B5EF4-FFF2-40B4-BE49-F238E27FC236}">
                <a16:creationId xmlns:a16="http://schemas.microsoft.com/office/drawing/2014/main" id="{C60BACDA-CF8A-F835-DC20-161C5D052A41}"/>
              </a:ext>
            </a:extLst>
          </p:cNvPr>
          <p:cNvSpPr/>
          <p:nvPr/>
        </p:nvSpPr>
        <p:spPr>
          <a:xfrm>
            <a:off x="3361473" y="1667862"/>
            <a:ext cx="231272" cy="1661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700" b="0">
                <a:latin typeface="+mn-ea"/>
              </a:rPr>
              <a:t>1</a:t>
            </a:r>
            <a:endParaRPr lang="ko-KR" altLang="en-US" sz="700" b="0" dirty="0">
              <a:latin typeface="+mn-ea"/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AAC23CB8-8552-1C38-7939-A49111B420F8}"/>
              </a:ext>
            </a:extLst>
          </p:cNvPr>
          <p:cNvSpPr/>
          <p:nvPr/>
        </p:nvSpPr>
        <p:spPr>
          <a:xfrm>
            <a:off x="3549433" y="2529138"/>
            <a:ext cx="2186567" cy="2123862"/>
          </a:xfrm>
          <a:prstGeom prst="rect">
            <a:avLst/>
          </a:prstGeom>
          <a:noFill/>
          <a:ln>
            <a:solidFill>
              <a:srgbClr val="00B050"/>
            </a:solidFill>
            <a:prstDash val="sysDot"/>
          </a:ln>
        </p:spPr>
        <p:txBody>
          <a:bodyPr wrap="square" rtlCol="0" anchor="ctr">
            <a:noAutofit/>
          </a:bodyPr>
          <a:lstStyle/>
          <a:p>
            <a:pPr algn="l"/>
            <a:endParaRPr kumimoji="0" lang="ko-KR" altLang="en-US" sz="9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2" name="모서리가 둥근 직사각형 209">
            <a:extLst>
              <a:ext uri="{FF2B5EF4-FFF2-40B4-BE49-F238E27FC236}">
                <a16:creationId xmlns:a16="http://schemas.microsoft.com/office/drawing/2014/main" id="{4FE2FD7C-2B05-A99D-F565-C40F63F884A8}"/>
              </a:ext>
            </a:extLst>
          </p:cNvPr>
          <p:cNvSpPr/>
          <p:nvPr/>
        </p:nvSpPr>
        <p:spPr>
          <a:xfrm>
            <a:off x="3558476" y="2513926"/>
            <a:ext cx="280468" cy="1414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700" b="0">
                <a:latin typeface="+mn-ea"/>
              </a:rPr>
              <a:t>1-2</a:t>
            </a:r>
            <a:endParaRPr lang="ko-KR" altLang="en-US" sz="700" b="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136545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99DD1-9145-257A-C511-DDD592EA4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B5A18ECE-C39F-0D79-0896-6D0563F8388C}"/>
              </a:ext>
            </a:extLst>
          </p:cNvPr>
          <p:cNvSpPr/>
          <p:nvPr/>
        </p:nvSpPr>
        <p:spPr>
          <a:xfrm>
            <a:off x="0" y="520961"/>
            <a:ext cx="9467081" cy="6337039"/>
          </a:xfrm>
          <a:prstGeom prst="rect">
            <a:avLst/>
          </a:prstGeom>
          <a:solidFill>
            <a:srgbClr val="FEE500"/>
          </a:solidFill>
        </p:spPr>
        <p:txBody>
          <a:bodyPr wrap="square" rtlCol="0" anchor="ctr">
            <a:noAutofit/>
          </a:bodyPr>
          <a:lstStyle/>
          <a:p>
            <a:pPr algn="l"/>
            <a:endParaRPr kumimoji="0" lang="ko-KR" altLang="en-US" sz="9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7" name="텍스트 개체 틀 28">
            <a:extLst>
              <a:ext uri="{FF2B5EF4-FFF2-40B4-BE49-F238E27FC236}">
                <a16:creationId xmlns:a16="http://schemas.microsoft.com/office/drawing/2014/main" id="{29942286-4EC0-5040-B267-1D9CAC4F841A}"/>
              </a:ext>
            </a:extLst>
          </p:cNvPr>
          <p:cNvSpPr txBox="1">
            <a:spLocks/>
          </p:cNvSpPr>
          <p:nvPr/>
        </p:nvSpPr>
        <p:spPr>
          <a:xfrm>
            <a:off x="1225975" y="20616"/>
            <a:ext cx="2160000" cy="180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[ATON] </a:t>
            </a:r>
            <a:r>
              <a:rPr lang="ko-KR" altLang="en-US"/>
              <a:t>카카오뱅크 </a:t>
            </a:r>
            <a:r>
              <a:rPr lang="en-US" altLang="ko-KR"/>
              <a:t>OTP POC</a:t>
            </a:r>
            <a:endParaRPr lang="ko-KR" altLang="en-US"/>
          </a:p>
        </p:txBody>
      </p:sp>
      <p:sp>
        <p:nvSpPr>
          <p:cNvPr id="214" name="텍스트 개체 틀 28">
            <a:extLst>
              <a:ext uri="{FF2B5EF4-FFF2-40B4-BE49-F238E27FC236}">
                <a16:creationId xmlns:a16="http://schemas.microsoft.com/office/drawing/2014/main" id="{0BF5AE46-D6D3-9180-C901-E1C75ABE4AFB}"/>
              </a:ext>
            </a:extLst>
          </p:cNvPr>
          <p:cNvSpPr txBox="1">
            <a:spLocks/>
          </p:cNvSpPr>
          <p:nvPr/>
        </p:nvSpPr>
        <p:spPr>
          <a:xfrm>
            <a:off x="1235500" y="252000"/>
            <a:ext cx="2160000" cy="180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en-US" altLang="ko-KR" b="0"/>
              <a:t>PIN </a:t>
            </a:r>
            <a:r>
              <a:rPr kumimoji="0" lang="ko-KR" altLang="en-US" b="0"/>
              <a:t>번호 입력 </a:t>
            </a:r>
            <a:r>
              <a:rPr kumimoji="0" lang="en-US" altLang="ko-KR" b="0"/>
              <a:t>&gt;</a:t>
            </a:r>
            <a:r>
              <a:rPr kumimoji="0" lang="ko-KR" altLang="en-US" b="0"/>
              <a:t> 인증 실패</a:t>
            </a:r>
            <a:r>
              <a:rPr kumimoji="0" lang="en-US" altLang="ko-KR" b="0"/>
              <a:t> (n/5)</a:t>
            </a:r>
            <a:endParaRPr kumimoji="0" lang="en-US" altLang="ko-KR" b="0" dirty="0"/>
          </a:p>
        </p:txBody>
      </p:sp>
      <p:sp>
        <p:nvSpPr>
          <p:cNvPr id="228" name="텍스트 개체 틀 28">
            <a:extLst>
              <a:ext uri="{FF2B5EF4-FFF2-40B4-BE49-F238E27FC236}">
                <a16:creationId xmlns:a16="http://schemas.microsoft.com/office/drawing/2014/main" id="{28159473-9495-506B-B8C0-CDFFB7EF2147}"/>
              </a:ext>
            </a:extLst>
          </p:cNvPr>
          <p:cNvSpPr txBox="1">
            <a:spLocks/>
          </p:cNvSpPr>
          <p:nvPr/>
        </p:nvSpPr>
        <p:spPr>
          <a:xfrm>
            <a:off x="4751298" y="252000"/>
            <a:ext cx="1080000" cy="180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b="0" dirty="0">
              <a:solidFill>
                <a:srgbClr val="000000"/>
              </a:solidFill>
            </a:endParaRPr>
          </a:p>
        </p:txBody>
      </p:sp>
      <p:sp>
        <p:nvSpPr>
          <p:cNvPr id="235" name="텍스트 개체 틀 28">
            <a:extLst>
              <a:ext uri="{FF2B5EF4-FFF2-40B4-BE49-F238E27FC236}">
                <a16:creationId xmlns:a16="http://schemas.microsoft.com/office/drawing/2014/main" id="{7634E0E6-6EA3-8FAC-54BE-65C470E8E3C8}"/>
              </a:ext>
            </a:extLst>
          </p:cNvPr>
          <p:cNvSpPr txBox="1">
            <a:spLocks/>
          </p:cNvSpPr>
          <p:nvPr/>
        </p:nvSpPr>
        <p:spPr>
          <a:xfrm>
            <a:off x="7088981" y="252000"/>
            <a:ext cx="2340000" cy="180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b="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3E2B638C-20DD-F04B-A6A7-343A7AA186C2}"/>
              </a:ext>
            </a:extLst>
          </p:cNvPr>
          <p:cNvSpPr/>
          <p:nvPr/>
        </p:nvSpPr>
        <p:spPr bwMode="auto">
          <a:xfrm>
            <a:off x="4712861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1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A7AA192-2738-9B23-99F6-515B60517A83}"/>
              </a:ext>
            </a:extLst>
          </p:cNvPr>
          <p:cNvSpPr/>
          <p:nvPr/>
        </p:nvSpPr>
        <p:spPr bwMode="auto">
          <a:xfrm>
            <a:off x="5927042" y="0"/>
            <a:ext cx="294701" cy="21938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2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FACADAE-2446-3FAC-6572-56D5D306E647}"/>
              </a:ext>
            </a:extLst>
          </p:cNvPr>
          <p:cNvSpPr/>
          <p:nvPr/>
        </p:nvSpPr>
        <p:spPr bwMode="auto">
          <a:xfrm>
            <a:off x="7059464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3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88DF1747-9CDC-D80B-2EA7-188F5250C1FC}"/>
              </a:ext>
            </a:extLst>
          </p:cNvPr>
          <p:cNvSpPr/>
          <p:nvPr/>
        </p:nvSpPr>
        <p:spPr bwMode="auto">
          <a:xfrm>
            <a:off x="8264807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4</a:t>
            </a:r>
            <a:r>
              <a:rPr kumimoji="1" lang="en-US" altLang="ko-KR" sz="6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</a:t>
            </a: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9AF69B3-E855-B06F-FDA1-9CE869C91516}"/>
              </a:ext>
            </a:extLst>
          </p:cNvPr>
          <p:cNvSpPr/>
          <p:nvPr/>
        </p:nvSpPr>
        <p:spPr bwMode="auto">
          <a:xfrm>
            <a:off x="9467081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5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46B3C338-2B56-2672-8EF7-F805A34443BF}"/>
              </a:ext>
            </a:extLst>
          </p:cNvPr>
          <p:cNvSpPr/>
          <p:nvPr/>
        </p:nvSpPr>
        <p:spPr bwMode="auto">
          <a:xfrm>
            <a:off x="10574936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6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69" name="텍스트 개체 틀 28">
            <a:extLst>
              <a:ext uri="{FF2B5EF4-FFF2-40B4-BE49-F238E27FC236}">
                <a16:creationId xmlns:a16="http://schemas.microsoft.com/office/drawing/2014/main" id="{3D6DBF9C-1FD2-4C66-6D44-08718D2683F8}"/>
              </a:ext>
            </a:extLst>
          </p:cNvPr>
          <p:cNvSpPr txBox="1">
            <a:spLocks/>
          </p:cNvSpPr>
          <p:nvPr/>
        </p:nvSpPr>
        <p:spPr>
          <a:xfrm>
            <a:off x="10612354" y="252000"/>
            <a:ext cx="1080000" cy="16977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0"/>
              <a:t>2025-12-12</a:t>
            </a:r>
            <a:endParaRPr lang="ko-KR" altLang="en-US" b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81EA45-36AF-2D75-BBAD-C01877CA9664}"/>
              </a:ext>
            </a:extLst>
          </p:cNvPr>
          <p:cNvSpPr txBox="1"/>
          <p:nvPr/>
        </p:nvSpPr>
        <p:spPr bwMode="auto">
          <a:xfrm>
            <a:off x="3111471" y="878353"/>
            <a:ext cx="3161058" cy="33855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b="1" i="0">
                <a:solidFill>
                  <a:srgbClr val="11111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카카오뱅크 </a:t>
            </a:r>
            <a:r>
              <a:rPr lang="en-US" altLang="ko-KR" b="1" i="0">
                <a:solidFill>
                  <a:srgbClr val="11111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OTP POC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DA12C12D-3D90-F222-36B6-4E4DCC48E7B8}"/>
              </a:ext>
            </a:extLst>
          </p:cNvPr>
          <p:cNvSpPr/>
          <p:nvPr/>
        </p:nvSpPr>
        <p:spPr>
          <a:xfrm>
            <a:off x="3308861" y="1604255"/>
            <a:ext cx="2808000" cy="3192745"/>
          </a:xfrm>
          <a:prstGeom prst="roundRect">
            <a:avLst>
              <a:gd name="adj" fmla="val 8346"/>
            </a:avLst>
          </a:prstGeom>
          <a:solidFill>
            <a:schemeClr val="bg1"/>
          </a:solidFill>
        </p:spPr>
        <p:txBody>
          <a:bodyPr wrap="square" rtlCol="0" anchor="ctr">
            <a:noAutofit/>
          </a:bodyPr>
          <a:lstStyle/>
          <a:p>
            <a:pPr algn="l"/>
            <a:endParaRPr kumimoji="0" lang="ko-KR" altLang="en-US" sz="9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ECD61A-D3B3-EB6B-2FA3-056C585A0B51}"/>
              </a:ext>
            </a:extLst>
          </p:cNvPr>
          <p:cNvSpPr txBox="1"/>
          <p:nvPr/>
        </p:nvSpPr>
        <p:spPr bwMode="auto">
          <a:xfrm>
            <a:off x="3385778" y="2257214"/>
            <a:ext cx="2612445" cy="2308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임시 </a:t>
            </a:r>
            <a:r>
              <a:rPr lang="en-US" altLang="ko-KR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OTP </a:t>
            </a:r>
            <a:r>
              <a:rPr lang="ko-KR" altLang="en-US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인증을 위해 설정한 </a:t>
            </a:r>
            <a:r>
              <a:rPr lang="en-US" altLang="ko-KR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PIN</a:t>
            </a:r>
            <a:r>
              <a:rPr lang="ko-KR" altLang="en-US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을</a:t>
            </a:r>
            <a:r>
              <a:rPr lang="en-US" altLang="ko-KR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입력하세요</a:t>
            </a:r>
            <a:r>
              <a:rPr lang="en-US" altLang="ko-KR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900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47324AAE-D7B9-A20F-F0F7-95B84B3C8004}"/>
              </a:ext>
            </a:extLst>
          </p:cNvPr>
          <p:cNvGrpSpPr/>
          <p:nvPr/>
        </p:nvGrpSpPr>
        <p:grpSpPr>
          <a:xfrm>
            <a:off x="4197021" y="2655288"/>
            <a:ext cx="900434" cy="109987"/>
            <a:chOff x="3440832" y="4005064"/>
            <a:chExt cx="1754691" cy="235769"/>
          </a:xfrm>
          <a:solidFill>
            <a:schemeClr val="bg1">
              <a:lumMod val="85000"/>
            </a:schemeClr>
          </a:solidFill>
        </p:grpSpPr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896F8A30-D0AC-A08A-BB96-944E7624A7B3}"/>
                </a:ext>
              </a:extLst>
            </p:cNvPr>
            <p:cNvSpPr/>
            <p:nvPr/>
          </p:nvSpPr>
          <p:spPr>
            <a:xfrm>
              <a:off x="3440832" y="4005064"/>
              <a:ext cx="216024" cy="235769"/>
            </a:xfrm>
            <a:prstGeom prst="ellipse">
              <a:avLst/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91FE5882-CF21-2274-4C78-EBAA517D8A71}"/>
                </a:ext>
              </a:extLst>
            </p:cNvPr>
            <p:cNvSpPr/>
            <p:nvPr/>
          </p:nvSpPr>
          <p:spPr>
            <a:xfrm>
              <a:off x="3746435" y="4005064"/>
              <a:ext cx="216024" cy="235769"/>
            </a:xfrm>
            <a:prstGeom prst="ellipse">
              <a:avLst/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2D86427A-F519-E51F-C14D-FB85432831A8}"/>
                </a:ext>
              </a:extLst>
            </p:cNvPr>
            <p:cNvSpPr/>
            <p:nvPr/>
          </p:nvSpPr>
          <p:spPr>
            <a:xfrm>
              <a:off x="4054701" y="4005064"/>
              <a:ext cx="216024" cy="235769"/>
            </a:xfrm>
            <a:prstGeom prst="ellipse">
              <a:avLst/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67387CE7-1CF4-8305-2070-66FF49A14735}"/>
                </a:ext>
              </a:extLst>
            </p:cNvPr>
            <p:cNvSpPr/>
            <p:nvPr/>
          </p:nvSpPr>
          <p:spPr>
            <a:xfrm>
              <a:off x="4362967" y="4005064"/>
              <a:ext cx="216024" cy="235769"/>
            </a:xfrm>
            <a:prstGeom prst="ellipse">
              <a:avLst/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C097C54D-D02A-8758-B29B-936198B7A58D}"/>
                </a:ext>
              </a:extLst>
            </p:cNvPr>
            <p:cNvSpPr/>
            <p:nvPr/>
          </p:nvSpPr>
          <p:spPr>
            <a:xfrm>
              <a:off x="4671233" y="4005064"/>
              <a:ext cx="216024" cy="235769"/>
            </a:xfrm>
            <a:prstGeom prst="ellipse">
              <a:avLst/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2F072CDA-58CE-82A6-3B67-DCDE2D9F5939}"/>
                </a:ext>
              </a:extLst>
            </p:cNvPr>
            <p:cNvSpPr/>
            <p:nvPr/>
          </p:nvSpPr>
          <p:spPr>
            <a:xfrm>
              <a:off x="4979499" y="4005064"/>
              <a:ext cx="216024" cy="235769"/>
            </a:xfrm>
            <a:prstGeom prst="ellipse">
              <a:avLst/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58653FF2-81C4-A628-6EB7-F07AC9EF778E}"/>
              </a:ext>
            </a:extLst>
          </p:cNvPr>
          <p:cNvGraphicFramePr>
            <a:graphicFrameLocks noGrp="1"/>
          </p:cNvGraphicFramePr>
          <p:nvPr/>
        </p:nvGraphicFramePr>
        <p:xfrm>
          <a:off x="3562651" y="2997000"/>
          <a:ext cx="2258697" cy="16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899">
                  <a:extLst>
                    <a:ext uri="{9D8B030D-6E8A-4147-A177-3AD203B41FA5}">
                      <a16:colId xmlns:a16="http://schemas.microsoft.com/office/drawing/2014/main" val="1808236804"/>
                    </a:ext>
                  </a:extLst>
                </a:gridCol>
                <a:gridCol w="752899">
                  <a:extLst>
                    <a:ext uri="{9D8B030D-6E8A-4147-A177-3AD203B41FA5}">
                      <a16:colId xmlns:a16="http://schemas.microsoft.com/office/drawing/2014/main" val="3067110694"/>
                    </a:ext>
                  </a:extLst>
                </a:gridCol>
                <a:gridCol w="752899">
                  <a:extLst>
                    <a:ext uri="{9D8B030D-6E8A-4147-A177-3AD203B41FA5}">
                      <a16:colId xmlns:a16="http://schemas.microsoft.com/office/drawing/2014/main" val="1567338698"/>
                    </a:ext>
                  </a:extLst>
                </a:gridCol>
              </a:tblGrid>
              <a:tr h="414000"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b="1" i="0" kern="1200">
                          <a:solidFill>
                            <a:srgbClr val="333333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</a:t>
                      </a:r>
                      <a:endParaRPr kumimoji="1" lang="ko-KR" altLang="en-US" sz="1100" b="1" i="0" kern="1200" dirty="0">
                        <a:solidFill>
                          <a:srgbClr val="333333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b="1" i="0" kern="1200">
                          <a:solidFill>
                            <a:srgbClr val="333333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2</a:t>
                      </a:r>
                      <a:endParaRPr kumimoji="1" lang="ko-KR" altLang="en-US" sz="1100" b="1" i="0" kern="1200" dirty="0">
                        <a:solidFill>
                          <a:srgbClr val="333333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b="1" i="0" kern="1200" dirty="0">
                          <a:solidFill>
                            <a:srgbClr val="333333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3</a:t>
                      </a:r>
                      <a:endParaRPr kumimoji="1" lang="ko-KR" altLang="en-US" sz="1100" b="1" i="0" kern="1200" dirty="0">
                        <a:solidFill>
                          <a:srgbClr val="333333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447279"/>
                  </a:ext>
                </a:extLst>
              </a:tr>
              <a:tr h="414000"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b="1" i="0" kern="1200">
                          <a:solidFill>
                            <a:srgbClr val="333333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4</a:t>
                      </a:r>
                      <a:endParaRPr kumimoji="1" lang="ko-KR" altLang="en-US" sz="1100" b="1" i="0" kern="1200" dirty="0">
                        <a:solidFill>
                          <a:srgbClr val="333333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b="1" i="0" kern="1200">
                          <a:solidFill>
                            <a:srgbClr val="333333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5 </a:t>
                      </a:r>
                      <a:endParaRPr kumimoji="1" lang="en-US" altLang="ko-KR" sz="1100" b="1" i="0" kern="1200" dirty="0">
                        <a:solidFill>
                          <a:srgbClr val="333333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b="1" i="0" kern="1200">
                          <a:solidFill>
                            <a:srgbClr val="333333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6</a:t>
                      </a:r>
                      <a:endParaRPr kumimoji="1" lang="ko-KR" altLang="en-US" sz="1100" b="1" i="0" kern="1200" dirty="0">
                        <a:solidFill>
                          <a:srgbClr val="333333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7053133"/>
                  </a:ext>
                </a:extLst>
              </a:tr>
              <a:tr h="414000"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b="1" i="0" kern="1200">
                          <a:solidFill>
                            <a:srgbClr val="333333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7</a:t>
                      </a:r>
                      <a:endParaRPr kumimoji="1" lang="ko-KR" altLang="en-US" sz="1100" b="1" i="0" kern="1200" dirty="0">
                        <a:solidFill>
                          <a:srgbClr val="333333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b="1" i="0" kern="1200">
                          <a:solidFill>
                            <a:srgbClr val="333333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8</a:t>
                      </a:r>
                      <a:endParaRPr kumimoji="1" lang="ko-KR" altLang="en-US" sz="1100" b="1" i="0" kern="1200" dirty="0">
                        <a:solidFill>
                          <a:srgbClr val="333333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b="1" i="0" kern="1200">
                          <a:solidFill>
                            <a:srgbClr val="333333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9</a:t>
                      </a:r>
                      <a:endParaRPr kumimoji="1" lang="ko-KR" altLang="en-US" sz="1100" b="1" i="0" kern="1200" dirty="0">
                        <a:solidFill>
                          <a:srgbClr val="333333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2835454"/>
                  </a:ext>
                </a:extLst>
              </a:tr>
              <a:tr h="414000"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100" b="1" i="0" kern="1200" dirty="0">
                        <a:solidFill>
                          <a:srgbClr val="333333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b="1" i="0" kern="1200" dirty="0">
                          <a:solidFill>
                            <a:srgbClr val="333333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0</a:t>
                      </a:r>
                      <a:endParaRPr kumimoji="1" lang="ko-KR" altLang="en-US" sz="1100" b="1" i="0" kern="1200" dirty="0">
                        <a:solidFill>
                          <a:srgbClr val="333333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100" b="1" i="0" kern="1200" dirty="0">
                        <a:solidFill>
                          <a:srgbClr val="333333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7665024"/>
                  </a:ext>
                </a:extLst>
              </a:tr>
            </a:tbl>
          </a:graphicData>
        </a:graphic>
      </p:graphicFrame>
      <p:pic>
        <p:nvPicPr>
          <p:cNvPr id="48" name="그림 47" descr="로고, 상징, 일렉트릭 블루, 블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A71EC77-39B0-6C7A-7397-8BDEDF71D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2288" y="4340616"/>
            <a:ext cx="283911" cy="241324"/>
          </a:xfrm>
          <a:prstGeom prst="rect">
            <a:avLst/>
          </a:prstGeom>
        </p:spPr>
      </p:pic>
      <p:grpSp>
        <p:nvGrpSpPr>
          <p:cNvPr id="49" name="그룹 48">
            <a:extLst>
              <a:ext uri="{FF2B5EF4-FFF2-40B4-BE49-F238E27FC236}">
                <a16:creationId xmlns:a16="http://schemas.microsoft.com/office/drawing/2014/main" id="{F43BCF3E-54E6-8C41-38F4-752C1DEB09DB}"/>
              </a:ext>
            </a:extLst>
          </p:cNvPr>
          <p:cNvGrpSpPr/>
          <p:nvPr/>
        </p:nvGrpSpPr>
        <p:grpSpPr>
          <a:xfrm>
            <a:off x="3308861" y="5373000"/>
            <a:ext cx="2808000" cy="1485001"/>
            <a:chOff x="3308861" y="5373000"/>
            <a:chExt cx="2808000" cy="1485001"/>
          </a:xfrm>
        </p:grpSpPr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B75579C7-527D-7108-37C6-12A6D55B674C}"/>
                </a:ext>
              </a:extLst>
            </p:cNvPr>
            <p:cNvSpPr/>
            <p:nvPr/>
          </p:nvSpPr>
          <p:spPr>
            <a:xfrm>
              <a:off x="3308861" y="5373000"/>
              <a:ext cx="2808000" cy="1194745"/>
            </a:xfrm>
            <a:prstGeom prst="roundRect">
              <a:avLst>
                <a:gd name="adj" fmla="val 20592"/>
              </a:avLst>
            </a:prstGeom>
            <a:solidFill>
              <a:schemeClr val="bg1"/>
            </a:solidFill>
          </p:spPr>
          <p:txBody>
            <a:bodyPr wrap="square" rtlCol="0" anchor="ctr">
              <a:noAutofit/>
            </a:bodyPr>
            <a:lstStyle/>
            <a:p>
              <a:pPr algn="l"/>
              <a:endParaRPr kumimoji="0" lang="ko-KR" altLang="en-US" sz="9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9B30A690-DBB9-F907-F05E-4C088AB1C4CF}"/>
                </a:ext>
              </a:extLst>
            </p:cNvPr>
            <p:cNvSpPr/>
            <p:nvPr/>
          </p:nvSpPr>
          <p:spPr>
            <a:xfrm>
              <a:off x="3308861" y="5970373"/>
              <a:ext cx="2808000" cy="887628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</p:spPr>
          <p:txBody>
            <a:bodyPr wrap="square" rtlCol="0" anchor="ctr">
              <a:noAutofit/>
            </a:bodyPr>
            <a:lstStyle/>
            <a:p>
              <a:pPr algn="l"/>
              <a:endParaRPr kumimoji="0" lang="ko-KR" altLang="en-US" sz="9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66559B31-6389-824E-48BD-230AD9E5C771}"/>
              </a:ext>
            </a:extLst>
          </p:cNvPr>
          <p:cNvSpPr txBox="1"/>
          <p:nvPr/>
        </p:nvSpPr>
        <p:spPr bwMode="auto">
          <a:xfrm>
            <a:off x="3111471" y="6060188"/>
            <a:ext cx="3161058" cy="33855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i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경영 서비스</a:t>
            </a:r>
            <a:endParaRPr lang="en-US" altLang="ko-KR" i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7148766-CF7E-C9CF-38E4-3EDFE8F709D7}"/>
              </a:ext>
            </a:extLst>
          </p:cNvPr>
          <p:cNvSpPr txBox="1"/>
          <p:nvPr/>
        </p:nvSpPr>
        <p:spPr bwMode="auto">
          <a:xfrm>
            <a:off x="2779560" y="6393096"/>
            <a:ext cx="3824880" cy="2308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내부 경영</a:t>
            </a:r>
            <a:r>
              <a:rPr lang="en-US" altLang="ko-KR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업무 지원 시스템 로그인</a:t>
            </a:r>
            <a:endParaRPr lang="ko-KR" altLang="en-US" sz="90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629412F-BCD6-0BB0-256A-B4AE03117FBC}"/>
              </a:ext>
            </a:extLst>
          </p:cNvPr>
          <p:cNvSpPr txBox="1"/>
          <p:nvPr/>
        </p:nvSpPr>
        <p:spPr bwMode="auto">
          <a:xfrm>
            <a:off x="3876955" y="1861853"/>
            <a:ext cx="1622123" cy="2616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altLang="ko-KR" sz="1100" i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PIN </a:t>
            </a:r>
            <a:r>
              <a:rPr lang="ko-KR" altLang="en-US" sz="1100" i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번호 인증</a:t>
            </a:r>
            <a:endParaRPr lang="en-US" altLang="ko-KR" sz="1100" i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954A20-B583-3C7B-D6EA-3608993DC1FD}"/>
              </a:ext>
            </a:extLst>
          </p:cNvPr>
          <p:cNvSpPr txBox="1"/>
          <p:nvPr/>
        </p:nvSpPr>
        <p:spPr>
          <a:xfrm>
            <a:off x="3467169" y="2816454"/>
            <a:ext cx="249138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800" b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5</a:t>
            </a:r>
            <a:r>
              <a:rPr lang="ko-KR" altLang="en-US" sz="800" b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회 실패 시 </a:t>
            </a:r>
            <a:r>
              <a:rPr lang="en-US" altLang="ko-KR" sz="800" b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OTP PIN</a:t>
            </a:r>
            <a:r>
              <a:rPr lang="ko-KR" altLang="en-US" sz="800" b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번호를 재설정 해야합니다</a:t>
            </a:r>
            <a:r>
              <a:rPr lang="en-US" altLang="ko-KR" sz="800" b="0">
                <a:solidFill>
                  <a:srgbClr val="C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 (1/5)</a:t>
            </a:r>
            <a:endParaRPr lang="ko-KR" altLang="en-US" sz="800" b="0" dirty="0">
              <a:solidFill>
                <a:srgbClr val="C00000"/>
              </a:solidFill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9D04EA-5E39-1766-8D44-06E7469B260C}"/>
              </a:ext>
            </a:extLst>
          </p:cNvPr>
          <p:cNvSpPr txBox="1"/>
          <p:nvPr/>
        </p:nvSpPr>
        <p:spPr bwMode="auto">
          <a:xfrm>
            <a:off x="2779560" y="1216907"/>
            <a:ext cx="3824880" cy="21544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8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PC</a:t>
            </a:r>
            <a:r>
              <a:rPr lang="en-US" altLang="ko-KR" sz="8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/ Mobile Web</a:t>
            </a:r>
            <a:r>
              <a:rPr lang="ko-KR" altLang="en-US" sz="8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에</a:t>
            </a:r>
            <a:r>
              <a:rPr lang="ko-KR" altLang="en-US" sz="8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서 </a:t>
            </a:r>
            <a:r>
              <a:rPr lang="en-US" altLang="ko-KR" sz="8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OTP </a:t>
            </a:r>
            <a:r>
              <a:rPr lang="ko-KR" altLang="en-US" sz="8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인증을 요청하는 상황을 가정합니다</a:t>
            </a:r>
            <a:r>
              <a:rPr lang="en-US" altLang="ko-KR" sz="8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2EEBA64-0B43-27E3-18FE-0D736512FF13}"/>
              </a:ext>
            </a:extLst>
          </p:cNvPr>
          <p:cNvSpPr txBox="1"/>
          <p:nvPr/>
        </p:nvSpPr>
        <p:spPr bwMode="auto">
          <a:xfrm>
            <a:off x="3648000" y="4274163"/>
            <a:ext cx="568544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7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전체</a:t>
            </a:r>
            <a:endParaRPr lang="en-US" altLang="ko-KR" sz="700" b="0" i="0">
              <a:solidFill>
                <a:srgbClr val="333333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7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삭제</a:t>
            </a:r>
            <a:endParaRPr lang="ko-KR" altLang="en-US" sz="700"/>
          </a:p>
        </p:txBody>
      </p:sp>
      <p:graphicFrame>
        <p:nvGraphicFramePr>
          <p:cNvPr id="31" name="Group 87">
            <a:extLst>
              <a:ext uri="{FF2B5EF4-FFF2-40B4-BE49-F238E27FC236}">
                <a16:creationId xmlns:a16="http://schemas.microsoft.com/office/drawing/2014/main" id="{5C04B3F7-7501-9D7B-0BDE-80B73EB75A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8668519"/>
              </p:ext>
            </p:extLst>
          </p:nvPr>
        </p:nvGraphicFramePr>
        <p:xfrm>
          <a:off x="9491386" y="520961"/>
          <a:ext cx="2698234" cy="5413538"/>
        </p:xfrm>
        <a:graphic>
          <a:graphicData uri="http://schemas.openxmlformats.org/drawingml/2006/table">
            <a:tbl>
              <a:tblPr/>
              <a:tblGrid>
                <a:gridCol w="1743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3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5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40">
                <a:tc gridSpan="2"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No.</a:t>
                      </a:r>
                      <a:endParaRPr kumimoji="0" lang="ko-KR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ko-KR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Component</a:t>
                      </a:r>
                      <a:endParaRPr kumimoji="0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Descriptions</a:t>
                      </a:r>
                      <a:endParaRPr kumimoji="0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069"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600" dirty="0">
                        <a:latin typeface="+mn-ea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임시 </a:t>
                      </a:r>
                      <a:r>
                        <a:rPr kumimoji="0" lang="en-US" altLang="ko-KR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OTP PIN</a:t>
                      </a:r>
                      <a:r>
                        <a:rPr kumimoji="0" lang="ko-KR" altLang="en-US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입력 페이지 </a:t>
                      </a:r>
                      <a:endParaRPr kumimoji="0" lang="en-US" altLang="ko-KR" sz="6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1803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Button</a:t>
                      </a:r>
                      <a:endParaRPr kumimoji="0" lang="en-US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[&lt; ] </a:t>
                      </a:r>
                      <a:r>
                        <a:rPr kumimoji="0" lang="ko-KR" altLang="en-US" sz="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버튼 클릭 시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임시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OTP PIN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인증 승인 완료 페이지 로 이동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뒤로가기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5434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정보요소</a:t>
                      </a:r>
                      <a:endParaRPr kumimoji="0" lang="en-US" altLang="ko-KR" sz="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상태 정보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페이지 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** </a:t>
                      </a:r>
                      <a:r>
                        <a:rPr kumimoji="0" lang="ko-KR" altLang="en-US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새로고침 시 상태 변경 확인 가능</a:t>
                      </a:r>
                      <a:endParaRPr kumimoji="0" lang="en-US" altLang="ko-KR" sz="6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관리자 승인 전 </a:t>
                      </a:r>
                      <a:endParaRPr kumimoji="0" lang="en-US" altLang="ko-KR" sz="6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임시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OTP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대기중입니다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사원명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|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사원정보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|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사원휴대폰번호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[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 승인 대기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상태값 표기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 1-3 [OTP PIN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버튼 비활성화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전체 삭제 </a:t>
                      </a:r>
                      <a:endParaRPr kumimoji="0" lang="en-US" altLang="ko-KR" sz="6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클릭 시 입력한 값 모두 삭제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초기화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/>
                        <a:t>← </a:t>
                      </a:r>
                      <a:r>
                        <a:rPr kumimoji="0" lang="ko-KR" altLang="en-US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전</a:t>
                      </a:r>
                      <a:endParaRPr kumimoji="0" lang="en-US" altLang="ko-KR" sz="6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클릭 시 입력한 값 순차적으로 초기화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숫자 패드</a:t>
                      </a:r>
                      <a:endParaRPr kumimoji="0" lang="en-US" altLang="ko-KR" sz="6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-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클릭 시 입력 수 에 맞춰 인디케이터 영역에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다른색상으로 채워짐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- 6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자리 입력 후 인증 성공 시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0" lang="ko-KR" altLang="en-US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인증에 성공했습니다</a:t>
                      </a:r>
                      <a:r>
                        <a:rPr kumimoji="0" lang="en-US" altLang="ko-KR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Toast Message 2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초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유지 후 메인 페이지로지로 진입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(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후속 프로세스 진입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- 6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자리 입력 후 인증 실패 시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입력칸 초기화 후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인디케이터 영역 아래 오류 메시지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ko-KR" altLang="en-US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회 실패 </a:t>
                      </a:r>
                      <a:endParaRPr kumimoji="0" lang="en-US" altLang="ko-KR" sz="600" b="0" i="0" u="sng" strike="noStrike" kern="1200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0" lang="ko-KR" altLang="en-US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시 </a:t>
                      </a:r>
                      <a:r>
                        <a:rPr kumimoji="0" lang="en-US" altLang="ko-KR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OTP PIN </a:t>
                      </a:r>
                      <a:r>
                        <a:rPr kumimoji="0" lang="ko-KR" altLang="en-US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번호를 재설정해야합니다</a:t>
                      </a:r>
                      <a:r>
                        <a:rPr kumimoji="0" lang="en-US" altLang="ko-KR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(N/5)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표기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0" lang="en-US" altLang="ko-KR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- 6</a:t>
                      </a:r>
                      <a:r>
                        <a:rPr kumimoji="0" lang="ko-KR" altLang="en-US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자리 입력 실패를 </a:t>
                      </a:r>
                      <a:r>
                        <a:rPr kumimoji="0" lang="en-US" altLang="ko-KR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ko-KR" altLang="en-US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회 했을 경우 비밀번호 </a:t>
                      </a:r>
                      <a:r>
                        <a:rPr kumimoji="0" lang="en-US" altLang="ko-KR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ko-KR" altLang="en-US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회 입력 실패로  비밀번호 재설정이 필요합니다</a:t>
                      </a:r>
                      <a:r>
                        <a:rPr kumimoji="0" lang="en-US" altLang="ko-KR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관리자에게 문의하세요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확인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] Alert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후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확인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또는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[X]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버튼 클릭 시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OTP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발급 인증 페이지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초기화면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으로 진입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4872046"/>
                  </a:ext>
                </a:extLst>
              </a:tr>
              <a:tr h="285223">
                <a:tc gridSpan="4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REMARK</a:t>
                      </a: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9557">
                <a:tc gridSpan="4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5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6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5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5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6896">
                <a:tc gridSpan="4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FEEDBACK</a:t>
                      </a:r>
                      <a:endParaRPr kumimoji="0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5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5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12700" cmpd="sng">
                      <a:noFill/>
                      <a:prstDash val="solid"/>
                    </a:lnL>
                    <a:lnT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76000">
                <a:tc gridSpan="4">
                  <a:txBody>
                    <a:bodyPr/>
                    <a:lstStyle/>
                    <a:p>
                      <a:pPr marL="0" marR="0" lvl="0" indent="0" algn="l" defTabSz="852488" rtl="0" eaLnBrk="0" fontAlgn="base" latinLnBrk="1" hangingPunct="0">
                        <a:lnSpc>
                          <a:spcPct val="15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+mj-lt"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852488" rtl="0" eaLnBrk="0" fontAlgn="base" latinLnBrk="1" hangingPunct="0">
                        <a:lnSpc>
                          <a:spcPct val="15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+mj-lt"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32" name="직사각형 31">
            <a:extLst>
              <a:ext uri="{FF2B5EF4-FFF2-40B4-BE49-F238E27FC236}">
                <a16:creationId xmlns:a16="http://schemas.microsoft.com/office/drawing/2014/main" id="{AA32E453-F4E1-C1C6-118F-D2F45BDCD7BB}"/>
              </a:ext>
            </a:extLst>
          </p:cNvPr>
          <p:cNvSpPr/>
          <p:nvPr/>
        </p:nvSpPr>
        <p:spPr>
          <a:xfrm>
            <a:off x="3361473" y="1660457"/>
            <a:ext cx="2636750" cy="3064543"/>
          </a:xfrm>
          <a:prstGeom prst="rect">
            <a:avLst/>
          </a:prstGeom>
          <a:noFill/>
          <a:ln>
            <a:solidFill>
              <a:srgbClr val="00B050"/>
            </a:solidFill>
            <a:prstDash val="sysDot"/>
          </a:ln>
        </p:spPr>
        <p:txBody>
          <a:bodyPr wrap="square" rtlCol="0" anchor="ctr">
            <a:noAutofit/>
          </a:bodyPr>
          <a:lstStyle/>
          <a:p>
            <a:pPr algn="l"/>
            <a:endParaRPr kumimoji="0" lang="ko-KR" altLang="en-US" sz="9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B78A668F-1C97-B47F-AFD2-FE28FFFEA9A9}"/>
              </a:ext>
            </a:extLst>
          </p:cNvPr>
          <p:cNvSpPr/>
          <p:nvPr/>
        </p:nvSpPr>
        <p:spPr>
          <a:xfrm>
            <a:off x="3422433" y="1873818"/>
            <a:ext cx="401583" cy="254480"/>
          </a:xfrm>
          <a:prstGeom prst="rect">
            <a:avLst/>
          </a:prstGeom>
          <a:noFill/>
          <a:ln>
            <a:solidFill>
              <a:srgbClr val="00B050"/>
            </a:solidFill>
            <a:prstDash val="sysDot"/>
          </a:ln>
        </p:spPr>
        <p:txBody>
          <a:bodyPr wrap="square" rtlCol="0" anchor="ctr">
            <a:noAutofit/>
          </a:bodyPr>
          <a:lstStyle/>
          <a:p>
            <a:pPr algn="l"/>
            <a:endParaRPr kumimoji="0" lang="ko-KR" altLang="en-US" sz="9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모서리가 둥근 직사각형 209">
            <a:extLst>
              <a:ext uri="{FF2B5EF4-FFF2-40B4-BE49-F238E27FC236}">
                <a16:creationId xmlns:a16="http://schemas.microsoft.com/office/drawing/2014/main" id="{FC09A409-4744-333B-6E82-751C0C7E87DF}"/>
              </a:ext>
            </a:extLst>
          </p:cNvPr>
          <p:cNvSpPr/>
          <p:nvPr/>
        </p:nvSpPr>
        <p:spPr>
          <a:xfrm>
            <a:off x="3146601" y="1866991"/>
            <a:ext cx="280468" cy="1414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700" b="0">
                <a:latin typeface="+mn-ea"/>
              </a:rPr>
              <a:t>1-1</a:t>
            </a:r>
            <a:endParaRPr lang="ko-KR" altLang="en-US" sz="700" b="0" dirty="0">
              <a:latin typeface="+mn-ea"/>
            </a:endParaRPr>
          </a:p>
        </p:txBody>
      </p:sp>
      <p:sp>
        <p:nvSpPr>
          <p:cNvPr id="35" name="모서리가 둥근 직사각형 209">
            <a:extLst>
              <a:ext uri="{FF2B5EF4-FFF2-40B4-BE49-F238E27FC236}">
                <a16:creationId xmlns:a16="http://schemas.microsoft.com/office/drawing/2014/main" id="{797A7910-00D7-EB93-A29E-91A3B2B711B9}"/>
              </a:ext>
            </a:extLst>
          </p:cNvPr>
          <p:cNvSpPr/>
          <p:nvPr/>
        </p:nvSpPr>
        <p:spPr>
          <a:xfrm>
            <a:off x="3361473" y="1667862"/>
            <a:ext cx="231272" cy="1661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700" b="0">
                <a:latin typeface="+mn-ea"/>
              </a:rPr>
              <a:t>1</a:t>
            </a:r>
            <a:endParaRPr lang="ko-KR" altLang="en-US" sz="700" b="0" dirty="0">
              <a:latin typeface="+mn-ea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2FAD014-AEF9-99B0-69BD-CA0F6D5E2CEE}"/>
              </a:ext>
            </a:extLst>
          </p:cNvPr>
          <p:cNvSpPr/>
          <p:nvPr/>
        </p:nvSpPr>
        <p:spPr>
          <a:xfrm>
            <a:off x="3549433" y="2529138"/>
            <a:ext cx="2186567" cy="2123862"/>
          </a:xfrm>
          <a:prstGeom prst="rect">
            <a:avLst/>
          </a:prstGeom>
          <a:noFill/>
          <a:ln>
            <a:solidFill>
              <a:srgbClr val="00B050"/>
            </a:solidFill>
            <a:prstDash val="sysDot"/>
          </a:ln>
        </p:spPr>
        <p:txBody>
          <a:bodyPr wrap="square" rtlCol="0" anchor="ctr">
            <a:noAutofit/>
          </a:bodyPr>
          <a:lstStyle/>
          <a:p>
            <a:pPr algn="l"/>
            <a:endParaRPr kumimoji="0" lang="ko-KR" altLang="en-US" sz="9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모서리가 둥근 직사각형 209">
            <a:extLst>
              <a:ext uri="{FF2B5EF4-FFF2-40B4-BE49-F238E27FC236}">
                <a16:creationId xmlns:a16="http://schemas.microsoft.com/office/drawing/2014/main" id="{925EC205-4AEB-5BD6-B2D4-42DD00E6B08A}"/>
              </a:ext>
            </a:extLst>
          </p:cNvPr>
          <p:cNvSpPr/>
          <p:nvPr/>
        </p:nvSpPr>
        <p:spPr>
          <a:xfrm>
            <a:off x="3558476" y="2513926"/>
            <a:ext cx="280468" cy="1414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700" b="0">
                <a:latin typeface="+mn-ea"/>
              </a:rPr>
              <a:t>1-2</a:t>
            </a:r>
            <a:endParaRPr lang="ko-KR" altLang="en-US" sz="700" b="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3833699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059C1F-4368-AF14-A952-ABF6ABC02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0BF153E2-BA94-49E7-B833-B9ACB2C7C901}"/>
              </a:ext>
            </a:extLst>
          </p:cNvPr>
          <p:cNvSpPr/>
          <p:nvPr/>
        </p:nvSpPr>
        <p:spPr>
          <a:xfrm>
            <a:off x="0" y="520961"/>
            <a:ext cx="9467081" cy="6337039"/>
          </a:xfrm>
          <a:prstGeom prst="rect">
            <a:avLst/>
          </a:prstGeom>
          <a:solidFill>
            <a:srgbClr val="FEE500"/>
          </a:solidFill>
        </p:spPr>
        <p:txBody>
          <a:bodyPr wrap="square" rtlCol="0" anchor="ctr">
            <a:noAutofit/>
          </a:bodyPr>
          <a:lstStyle/>
          <a:p>
            <a:pPr algn="l"/>
            <a:endParaRPr kumimoji="0" lang="ko-KR" altLang="en-US" sz="9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7" name="텍스트 개체 틀 28">
            <a:extLst>
              <a:ext uri="{FF2B5EF4-FFF2-40B4-BE49-F238E27FC236}">
                <a16:creationId xmlns:a16="http://schemas.microsoft.com/office/drawing/2014/main" id="{EAA6785A-33BA-A804-933E-EDC6301C6E51}"/>
              </a:ext>
            </a:extLst>
          </p:cNvPr>
          <p:cNvSpPr txBox="1">
            <a:spLocks/>
          </p:cNvSpPr>
          <p:nvPr/>
        </p:nvSpPr>
        <p:spPr>
          <a:xfrm>
            <a:off x="1225975" y="20616"/>
            <a:ext cx="2160000" cy="180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/>
              <a:t>[ATON] </a:t>
            </a:r>
            <a:r>
              <a:rPr lang="ko-KR" altLang="en-US"/>
              <a:t>카카오뱅크 </a:t>
            </a:r>
            <a:r>
              <a:rPr lang="en-US" altLang="ko-KR"/>
              <a:t>OTP POC</a:t>
            </a:r>
            <a:endParaRPr lang="ko-KR" altLang="en-US"/>
          </a:p>
        </p:txBody>
      </p:sp>
      <p:sp>
        <p:nvSpPr>
          <p:cNvPr id="214" name="텍스트 개체 틀 28">
            <a:extLst>
              <a:ext uri="{FF2B5EF4-FFF2-40B4-BE49-F238E27FC236}">
                <a16:creationId xmlns:a16="http://schemas.microsoft.com/office/drawing/2014/main" id="{04810401-76B0-5092-FDA9-7038ED41E4FA}"/>
              </a:ext>
            </a:extLst>
          </p:cNvPr>
          <p:cNvSpPr txBox="1">
            <a:spLocks/>
          </p:cNvSpPr>
          <p:nvPr/>
        </p:nvSpPr>
        <p:spPr>
          <a:xfrm>
            <a:off x="1235500" y="252000"/>
            <a:ext cx="2160000" cy="180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en-US" altLang="ko-KR" b="0"/>
              <a:t>PIN </a:t>
            </a:r>
            <a:r>
              <a:rPr kumimoji="0" lang="ko-KR" altLang="en-US" b="0"/>
              <a:t>번호 입력 </a:t>
            </a:r>
            <a:r>
              <a:rPr kumimoji="0" lang="en-US" altLang="ko-KR" b="0"/>
              <a:t>&gt;</a:t>
            </a:r>
            <a:r>
              <a:rPr kumimoji="0" lang="ko-KR" altLang="en-US" b="0"/>
              <a:t> 인증 실패</a:t>
            </a:r>
            <a:r>
              <a:rPr kumimoji="0" lang="en-US" altLang="ko-KR" b="0"/>
              <a:t>(</a:t>
            </a:r>
            <a:r>
              <a:rPr kumimoji="0" lang="ko-KR" altLang="en-US" b="0"/>
              <a:t>계정 잠김</a:t>
            </a:r>
            <a:r>
              <a:rPr kumimoji="0" lang="en-US" altLang="ko-KR" b="0"/>
              <a:t>) Alert</a:t>
            </a:r>
            <a:endParaRPr kumimoji="0" lang="en-US" altLang="ko-KR" b="0" dirty="0"/>
          </a:p>
        </p:txBody>
      </p:sp>
      <p:sp>
        <p:nvSpPr>
          <p:cNvPr id="228" name="텍스트 개체 틀 28">
            <a:extLst>
              <a:ext uri="{FF2B5EF4-FFF2-40B4-BE49-F238E27FC236}">
                <a16:creationId xmlns:a16="http://schemas.microsoft.com/office/drawing/2014/main" id="{59DC255C-D56E-2EF7-A0F9-5069273DE6F9}"/>
              </a:ext>
            </a:extLst>
          </p:cNvPr>
          <p:cNvSpPr txBox="1">
            <a:spLocks/>
          </p:cNvSpPr>
          <p:nvPr/>
        </p:nvSpPr>
        <p:spPr>
          <a:xfrm>
            <a:off x="4751298" y="252000"/>
            <a:ext cx="1080000" cy="180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b="0" dirty="0">
              <a:solidFill>
                <a:srgbClr val="000000"/>
              </a:solidFill>
            </a:endParaRPr>
          </a:p>
        </p:txBody>
      </p:sp>
      <p:sp>
        <p:nvSpPr>
          <p:cNvPr id="235" name="텍스트 개체 틀 28">
            <a:extLst>
              <a:ext uri="{FF2B5EF4-FFF2-40B4-BE49-F238E27FC236}">
                <a16:creationId xmlns:a16="http://schemas.microsoft.com/office/drawing/2014/main" id="{45FCFCB5-E771-C325-7CAB-A963023CD997}"/>
              </a:ext>
            </a:extLst>
          </p:cNvPr>
          <p:cNvSpPr txBox="1">
            <a:spLocks/>
          </p:cNvSpPr>
          <p:nvPr/>
        </p:nvSpPr>
        <p:spPr>
          <a:xfrm>
            <a:off x="7088981" y="252000"/>
            <a:ext cx="2340000" cy="180000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ko-KR" b="0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0B6C30CC-754A-66E1-DAC4-58469D8C98B2}"/>
              </a:ext>
            </a:extLst>
          </p:cNvPr>
          <p:cNvSpPr/>
          <p:nvPr/>
        </p:nvSpPr>
        <p:spPr bwMode="auto">
          <a:xfrm>
            <a:off x="4712861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1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A8F5176-BFE1-8736-B60C-9A41F07CC98A}"/>
              </a:ext>
            </a:extLst>
          </p:cNvPr>
          <p:cNvSpPr/>
          <p:nvPr/>
        </p:nvSpPr>
        <p:spPr bwMode="auto">
          <a:xfrm>
            <a:off x="5927042" y="0"/>
            <a:ext cx="294701" cy="21938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2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523EA435-B9B8-751C-1FD6-9B5E47877665}"/>
              </a:ext>
            </a:extLst>
          </p:cNvPr>
          <p:cNvSpPr/>
          <p:nvPr/>
        </p:nvSpPr>
        <p:spPr bwMode="auto">
          <a:xfrm>
            <a:off x="7059464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3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1D286E5-D903-3FB6-7DAC-AACA818F81EC}"/>
              </a:ext>
            </a:extLst>
          </p:cNvPr>
          <p:cNvSpPr/>
          <p:nvPr/>
        </p:nvSpPr>
        <p:spPr bwMode="auto">
          <a:xfrm>
            <a:off x="8264807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4</a:t>
            </a:r>
            <a:r>
              <a:rPr kumimoji="1" lang="en-US" altLang="ko-KR" sz="600" b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 </a:t>
            </a: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1914970-D4A1-24A8-0BE8-43380EC84341}"/>
              </a:ext>
            </a:extLst>
          </p:cNvPr>
          <p:cNvSpPr/>
          <p:nvPr/>
        </p:nvSpPr>
        <p:spPr bwMode="auto">
          <a:xfrm>
            <a:off x="9467081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5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838E1353-3658-6D9E-E4D1-5C51B54BA3DA}"/>
              </a:ext>
            </a:extLst>
          </p:cNvPr>
          <p:cNvSpPr/>
          <p:nvPr/>
        </p:nvSpPr>
        <p:spPr bwMode="auto">
          <a:xfrm>
            <a:off x="10574936" y="0"/>
            <a:ext cx="362702" cy="21550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600" b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</a:rPr>
              <a:t>6 Depth</a:t>
            </a:r>
            <a:endParaRPr kumimoji="1" lang="ko-KR" altLang="en-US" sz="600" b="0">
              <a:solidFill>
                <a:schemeClr val="tx1">
                  <a:lumMod val="65000"/>
                  <a:lumOff val="3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69" name="텍스트 개체 틀 28">
            <a:extLst>
              <a:ext uri="{FF2B5EF4-FFF2-40B4-BE49-F238E27FC236}">
                <a16:creationId xmlns:a16="http://schemas.microsoft.com/office/drawing/2014/main" id="{E1EC8D57-6152-FE0A-F391-F7E867C2C38C}"/>
              </a:ext>
            </a:extLst>
          </p:cNvPr>
          <p:cNvSpPr txBox="1">
            <a:spLocks/>
          </p:cNvSpPr>
          <p:nvPr/>
        </p:nvSpPr>
        <p:spPr>
          <a:xfrm>
            <a:off x="10612354" y="252000"/>
            <a:ext cx="1080000" cy="169777"/>
          </a:xfrm>
          <a:prstGeom prst="rect">
            <a:avLst/>
          </a:prstGeom>
        </p:spPr>
        <p:txBody>
          <a:bodyPr vert="horz" wrap="square" lIns="0" tIns="0" rIns="0" bIns="0" rtlCol="0" anchor="ctr" anchorCtr="0">
            <a:normAutofit/>
          </a:bodyPr>
          <a:lstStyle>
            <a:lvl1pPr marL="0" indent="0" algn="l" defTabSz="914411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800" kern="1200" baseline="0"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68580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14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20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26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31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37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42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48" indent="-228602" algn="l" defTabSz="914411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b="0"/>
              <a:t>2025-12-12</a:t>
            </a:r>
            <a:endParaRPr lang="ko-KR" altLang="en-US" b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463183-03DE-7FD8-108E-80320C2590AF}"/>
              </a:ext>
            </a:extLst>
          </p:cNvPr>
          <p:cNvSpPr txBox="1"/>
          <p:nvPr/>
        </p:nvSpPr>
        <p:spPr bwMode="auto">
          <a:xfrm>
            <a:off x="3111471" y="878353"/>
            <a:ext cx="3161058" cy="33855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b="1" i="0">
                <a:solidFill>
                  <a:srgbClr val="11111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카카오뱅크 </a:t>
            </a:r>
            <a:r>
              <a:rPr lang="en-US" altLang="ko-KR" b="1" i="0">
                <a:solidFill>
                  <a:srgbClr val="111111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OTP POC</a:t>
            </a: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20A10BEE-9CD0-F961-6A4F-6A3EDD568C8A}"/>
              </a:ext>
            </a:extLst>
          </p:cNvPr>
          <p:cNvSpPr/>
          <p:nvPr/>
        </p:nvSpPr>
        <p:spPr>
          <a:xfrm>
            <a:off x="3308861" y="1604255"/>
            <a:ext cx="2808000" cy="3192745"/>
          </a:xfrm>
          <a:prstGeom prst="roundRect">
            <a:avLst>
              <a:gd name="adj" fmla="val 8346"/>
            </a:avLst>
          </a:prstGeom>
          <a:solidFill>
            <a:schemeClr val="bg1"/>
          </a:solidFill>
        </p:spPr>
        <p:txBody>
          <a:bodyPr wrap="square" rtlCol="0" anchor="ctr">
            <a:noAutofit/>
          </a:bodyPr>
          <a:lstStyle/>
          <a:p>
            <a:pPr algn="l"/>
            <a:endParaRPr kumimoji="0" lang="ko-KR" altLang="en-US" sz="9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F843331-1231-B883-E451-1CFAE7E4B6AA}"/>
              </a:ext>
            </a:extLst>
          </p:cNvPr>
          <p:cNvSpPr txBox="1"/>
          <p:nvPr/>
        </p:nvSpPr>
        <p:spPr bwMode="auto">
          <a:xfrm>
            <a:off x="3385778" y="2257214"/>
            <a:ext cx="2612445" cy="2308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임시 </a:t>
            </a:r>
            <a:r>
              <a:rPr lang="en-US" altLang="ko-KR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OTP </a:t>
            </a:r>
            <a:r>
              <a:rPr lang="ko-KR" altLang="en-US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인증을 위해 설정한 </a:t>
            </a:r>
            <a:r>
              <a:rPr lang="en-US" altLang="ko-KR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PIN</a:t>
            </a:r>
            <a:r>
              <a:rPr lang="ko-KR" altLang="en-US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을</a:t>
            </a:r>
            <a:r>
              <a:rPr lang="en-US" altLang="ko-KR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</a:t>
            </a:r>
            <a:r>
              <a:rPr lang="ko-KR" altLang="en-US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입력하세요</a:t>
            </a:r>
            <a:r>
              <a:rPr lang="en-US" altLang="ko-KR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900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320127A4-5A18-4288-FABF-7F34A8D03962}"/>
              </a:ext>
            </a:extLst>
          </p:cNvPr>
          <p:cNvGrpSpPr/>
          <p:nvPr/>
        </p:nvGrpSpPr>
        <p:grpSpPr>
          <a:xfrm>
            <a:off x="4197021" y="2655288"/>
            <a:ext cx="900434" cy="109987"/>
            <a:chOff x="3440832" y="4005064"/>
            <a:chExt cx="1754691" cy="235769"/>
          </a:xfrm>
          <a:solidFill>
            <a:schemeClr val="bg1">
              <a:lumMod val="85000"/>
            </a:schemeClr>
          </a:solidFill>
        </p:grpSpPr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776CA416-D0FE-4C84-0985-5EFA08E41931}"/>
                </a:ext>
              </a:extLst>
            </p:cNvPr>
            <p:cNvSpPr/>
            <p:nvPr/>
          </p:nvSpPr>
          <p:spPr>
            <a:xfrm>
              <a:off x="3440832" y="4005064"/>
              <a:ext cx="216024" cy="235769"/>
            </a:xfrm>
            <a:prstGeom prst="ellipse">
              <a:avLst/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타원 23">
              <a:extLst>
                <a:ext uri="{FF2B5EF4-FFF2-40B4-BE49-F238E27FC236}">
                  <a16:creationId xmlns:a16="http://schemas.microsoft.com/office/drawing/2014/main" id="{F8D6445D-CF1A-D167-67BD-71C83EB2128B}"/>
                </a:ext>
              </a:extLst>
            </p:cNvPr>
            <p:cNvSpPr/>
            <p:nvPr/>
          </p:nvSpPr>
          <p:spPr>
            <a:xfrm>
              <a:off x="3746435" y="4005064"/>
              <a:ext cx="216024" cy="235769"/>
            </a:xfrm>
            <a:prstGeom prst="ellipse">
              <a:avLst/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타원 24">
              <a:extLst>
                <a:ext uri="{FF2B5EF4-FFF2-40B4-BE49-F238E27FC236}">
                  <a16:creationId xmlns:a16="http://schemas.microsoft.com/office/drawing/2014/main" id="{66DD1504-20C3-2A31-8A49-84F8DDA516F4}"/>
                </a:ext>
              </a:extLst>
            </p:cNvPr>
            <p:cNvSpPr/>
            <p:nvPr/>
          </p:nvSpPr>
          <p:spPr>
            <a:xfrm>
              <a:off x="4054701" y="4005064"/>
              <a:ext cx="216024" cy="235769"/>
            </a:xfrm>
            <a:prstGeom prst="ellipse">
              <a:avLst/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7A1F1264-21BF-02BF-1075-E5085AE02FAF}"/>
                </a:ext>
              </a:extLst>
            </p:cNvPr>
            <p:cNvSpPr/>
            <p:nvPr/>
          </p:nvSpPr>
          <p:spPr>
            <a:xfrm>
              <a:off x="4362967" y="4005064"/>
              <a:ext cx="216024" cy="235769"/>
            </a:xfrm>
            <a:prstGeom prst="ellipse">
              <a:avLst/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타원 27">
              <a:extLst>
                <a:ext uri="{FF2B5EF4-FFF2-40B4-BE49-F238E27FC236}">
                  <a16:creationId xmlns:a16="http://schemas.microsoft.com/office/drawing/2014/main" id="{7B6FC3CC-3701-AB79-C551-6C1EA9FC3FB3}"/>
                </a:ext>
              </a:extLst>
            </p:cNvPr>
            <p:cNvSpPr/>
            <p:nvPr/>
          </p:nvSpPr>
          <p:spPr>
            <a:xfrm>
              <a:off x="4671233" y="4005064"/>
              <a:ext cx="216024" cy="235769"/>
            </a:xfrm>
            <a:prstGeom prst="ellipse">
              <a:avLst/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타원 28">
              <a:extLst>
                <a:ext uri="{FF2B5EF4-FFF2-40B4-BE49-F238E27FC236}">
                  <a16:creationId xmlns:a16="http://schemas.microsoft.com/office/drawing/2014/main" id="{9940C419-E005-422D-1BB8-2E82D332007D}"/>
                </a:ext>
              </a:extLst>
            </p:cNvPr>
            <p:cNvSpPr/>
            <p:nvPr/>
          </p:nvSpPr>
          <p:spPr>
            <a:xfrm>
              <a:off x="4979499" y="4005064"/>
              <a:ext cx="216024" cy="235769"/>
            </a:xfrm>
            <a:prstGeom prst="ellipse">
              <a:avLst/>
            </a:prstGeom>
            <a:grpFill/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aphicFrame>
        <p:nvGraphicFramePr>
          <p:cNvPr id="37" name="표 36">
            <a:extLst>
              <a:ext uri="{FF2B5EF4-FFF2-40B4-BE49-F238E27FC236}">
                <a16:creationId xmlns:a16="http://schemas.microsoft.com/office/drawing/2014/main" id="{D586F95A-E950-105D-CCC8-65BE65639BBC}"/>
              </a:ext>
            </a:extLst>
          </p:cNvPr>
          <p:cNvGraphicFramePr>
            <a:graphicFrameLocks noGrp="1"/>
          </p:cNvGraphicFramePr>
          <p:nvPr/>
        </p:nvGraphicFramePr>
        <p:xfrm>
          <a:off x="3562651" y="2997000"/>
          <a:ext cx="2258697" cy="16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2899">
                  <a:extLst>
                    <a:ext uri="{9D8B030D-6E8A-4147-A177-3AD203B41FA5}">
                      <a16:colId xmlns:a16="http://schemas.microsoft.com/office/drawing/2014/main" val="1808236804"/>
                    </a:ext>
                  </a:extLst>
                </a:gridCol>
                <a:gridCol w="752899">
                  <a:extLst>
                    <a:ext uri="{9D8B030D-6E8A-4147-A177-3AD203B41FA5}">
                      <a16:colId xmlns:a16="http://schemas.microsoft.com/office/drawing/2014/main" val="3067110694"/>
                    </a:ext>
                  </a:extLst>
                </a:gridCol>
                <a:gridCol w="752899">
                  <a:extLst>
                    <a:ext uri="{9D8B030D-6E8A-4147-A177-3AD203B41FA5}">
                      <a16:colId xmlns:a16="http://schemas.microsoft.com/office/drawing/2014/main" val="1567338698"/>
                    </a:ext>
                  </a:extLst>
                </a:gridCol>
              </a:tblGrid>
              <a:tr h="414000"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b="1" i="0" kern="1200">
                          <a:solidFill>
                            <a:srgbClr val="333333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1</a:t>
                      </a:r>
                      <a:endParaRPr kumimoji="1" lang="ko-KR" altLang="en-US" sz="1100" b="1" i="0" kern="1200" dirty="0">
                        <a:solidFill>
                          <a:srgbClr val="333333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b="1" i="0" kern="1200">
                          <a:solidFill>
                            <a:srgbClr val="333333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2</a:t>
                      </a:r>
                      <a:endParaRPr kumimoji="1" lang="ko-KR" altLang="en-US" sz="1100" b="1" i="0" kern="1200" dirty="0">
                        <a:solidFill>
                          <a:srgbClr val="333333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b="1" i="0" kern="1200" dirty="0">
                          <a:solidFill>
                            <a:srgbClr val="333333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3</a:t>
                      </a:r>
                      <a:endParaRPr kumimoji="1" lang="ko-KR" altLang="en-US" sz="1100" b="1" i="0" kern="1200" dirty="0">
                        <a:solidFill>
                          <a:srgbClr val="333333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1447279"/>
                  </a:ext>
                </a:extLst>
              </a:tr>
              <a:tr h="414000"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b="1" i="0" kern="1200">
                          <a:solidFill>
                            <a:srgbClr val="333333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4</a:t>
                      </a:r>
                      <a:endParaRPr kumimoji="1" lang="ko-KR" altLang="en-US" sz="1100" b="1" i="0" kern="1200" dirty="0">
                        <a:solidFill>
                          <a:srgbClr val="333333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b="1" i="0" kern="1200">
                          <a:solidFill>
                            <a:srgbClr val="333333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5 </a:t>
                      </a:r>
                      <a:endParaRPr kumimoji="1" lang="en-US" altLang="ko-KR" sz="1100" b="1" i="0" kern="1200" dirty="0">
                        <a:solidFill>
                          <a:srgbClr val="333333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b="1" i="0" kern="1200">
                          <a:solidFill>
                            <a:srgbClr val="333333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6</a:t>
                      </a:r>
                      <a:endParaRPr kumimoji="1" lang="ko-KR" altLang="en-US" sz="1100" b="1" i="0" kern="1200" dirty="0">
                        <a:solidFill>
                          <a:srgbClr val="333333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7053133"/>
                  </a:ext>
                </a:extLst>
              </a:tr>
              <a:tr h="414000"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b="1" i="0" kern="1200">
                          <a:solidFill>
                            <a:srgbClr val="333333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7</a:t>
                      </a:r>
                      <a:endParaRPr kumimoji="1" lang="ko-KR" altLang="en-US" sz="1100" b="1" i="0" kern="1200" dirty="0">
                        <a:solidFill>
                          <a:srgbClr val="333333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b="1" i="0" kern="1200">
                          <a:solidFill>
                            <a:srgbClr val="333333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8</a:t>
                      </a:r>
                      <a:endParaRPr kumimoji="1" lang="ko-KR" altLang="en-US" sz="1100" b="1" i="0" kern="1200" dirty="0">
                        <a:solidFill>
                          <a:srgbClr val="333333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b="1" i="0" kern="1200">
                          <a:solidFill>
                            <a:srgbClr val="333333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9</a:t>
                      </a:r>
                      <a:endParaRPr kumimoji="1" lang="ko-KR" altLang="en-US" sz="1100" b="1" i="0" kern="1200" dirty="0">
                        <a:solidFill>
                          <a:srgbClr val="333333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2835454"/>
                  </a:ext>
                </a:extLst>
              </a:tr>
              <a:tr h="414000"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100" b="1" i="0" kern="1200" dirty="0">
                        <a:solidFill>
                          <a:srgbClr val="333333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1" lang="en-US" altLang="ko-KR" sz="1100" b="1" i="0" kern="1200" dirty="0">
                          <a:solidFill>
                            <a:srgbClr val="333333"/>
                          </a:solidFill>
                          <a:effectLst/>
                          <a:latin typeface="Noto Sans KR" panose="020B0200000000000000" pitchFamily="50" charset="-127"/>
                          <a:ea typeface="Noto Sans KR" panose="020B0200000000000000" pitchFamily="50" charset="-127"/>
                          <a:cs typeface="+mn-cs"/>
                        </a:rPr>
                        <a:t>0</a:t>
                      </a:r>
                      <a:endParaRPr kumimoji="1" lang="ko-KR" altLang="en-US" sz="1100" b="1" i="0" kern="1200" dirty="0">
                        <a:solidFill>
                          <a:srgbClr val="333333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kumimoji="1" lang="ko-KR" altLang="en-US" sz="1100" b="1" i="0" kern="1200" dirty="0">
                        <a:solidFill>
                          <a:srgbClr val="333333"/>
                        </a:solidFill>
                        <a:effectLst/>
                        <a:latin typeface="Noto Sans KR" panose="020B0200000000000000" pitchFamily="50" charset="-127"/>
                        <a:ea typeface="Noto Sans KR" panose="020B0200000000000000" pitchFamily="50" charset="-127"/>
                        <a:cs typeface="+mn-cs"/>
                      </a:endParaRPr>
                    </a:p>
                  </a:txBody>
                  <a:tcPr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7665024"/>
                  </a:ext>
                </a:extLst>
              </a:tr>
            </a:tbl>
          </a:graphicData>
        </a:graphic>
      </p:graphicFrame>
      <p:pic>
        <p:nvPicPr>
          <p:cNvPr id="48" name="그림 47" descr="로고, 상징, 일렉트릭 블루, 블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8E22261-11FD-2B56-F382-99149D0C91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2288" y="4340616"/>
            <a:ext cx="283911" cy="241324"/>
          </a:xfrm>
          <a:prstGeom prst="rect">
            <a:avLst/>
          </a:prstGeom>
        </p:spPr>
      </p:pic>
      <p:grpSp>
        <p:nvGrpSpPr>
          <p:cNvPr id="49" name="그룹 48">
            <a:extLst>
              <a:ext uri="{FF2B5EF4-FFF2-40B4-BE49-F238E27FC236}">
                <a16:creationId xmlns:a16="http://schemas.microsoft.com/office/drawing/2014/main" id="{20628BFA-5F64-EAD8-9B8D-1C1701A0EC76}"/>
              </a:ext>
            </a:extLst>
          </p:cNvPr>
          <p:cNvGrpSpPr/>
          <p:nvPr/>
        </p:nvGrpSpPr>
        <p:grpSpPr>
          <a:xfrm>
            <a:off x="3308861" y="5373000"/>
            <a:ext cx="2808000" cy="1485001"/>
            <a:chOff x="3308861" y="5373000"/>
            <a:chExt cx="2808000" cy="1485001"/>
          </a:xfrm>
        </p:grpSpPr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2358369C-27D6-BB65-03DC-39F8CC262F42}"/>
                </a:ext>
              </a:extLst>
            </p:cNvPr>
            <p:cNvSpPr/>
            <p:nvPr/>
          </p:nvSpPr>
          <p:spPr>
            <a:xfrm>
              <a:off x="3308861" y="5373000"/>
              <a:ext cx="2808000" cy="1194745"/>
            </a:xfrm>
            <a:prstGeom prst="roundRect">
              <a:avLst>
                <a:gd name="adj" fmla="val 20592"/>
              </a:avLst>
            </a:prstGeom>
            <a:solidFill>
              <a:schemeClr val="bg1"/>
            </a:solidFill>
          </p:spPr>
          <p:txBody>
            <a:bodyPr wrap="square" rtlCol="0" anchor="ctr">
              <a:noAutofit/>
            </a:bodyPr>
            <a:lstStyle/>
            <a:p>
              <a:pPr algn="l"/>
              <a:endParaRPr kumimoji="0" lang="ko-KR" altLang="en-US" sz="9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1" name="사각형: 둥근 모서리 50">
              <a:extLst>
                <a:ext uri="{FF2B5EF4-FFF2-40B4-BE49-F238E27FC236}">
                  <a16:creationId xmlns:a16="http://schemas.microsoft.com/office/drawing/2014/main" id="{0438155F-4DD0-B241-6419-0588FB4DB47B}"/>
                </a:ext>
              </a:extLst>
            </p:cNvPr>
            <p:cNvSpPr/>
            <p:nvPr/>
          </p:nvSpPr>
          <p:spPr>
            <a:xfrm>
              <a:off x="3308861" y="5970373"/>
              <a:ext cx="2808000" cy="887628"/>
            </a:xfrm>
            <a:prstGeom prst="roundRect">
              <a:avLst>
                <a:gd name="adj" fmla="val 0"/>
              </a:avLst>
            </a:prstGeom>
            <a:solidFill>
              <a:schemeClr val="bg1"/>
            </a:solidFill>
          </p:spPr>
          <p:txBody>
            <a:bodyPr wrap="square" rtlCol="0" anchor="ctr">
              <a:noAutofit/>
            </a:bodyPr>
            <a:lstStyle/>
            <a:p>
              <a:pPr algn="l"/>
              <a:endParaRPr kumimoji="0" lang="ko-KR" altLang="en-US" sz="9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5B03D7D5-CC78-C645-4A32-5E11ED09D07B}"/>
              </a:ext>
            </a:extLst>
          </p:cNvPr>
          <p:cNvSpPr txBox="1"/>
          <p:nvPr/>
        </p:nvSpPr>
        <p:spPr bwMode="auto">
          <a:xfrm>
            <a:off x="3111471" y="6060188"/>
            <a:ext cx="3161058" cy="33855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ko-KR" altLang="en-US" i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경영 서비스</a:t>
            </a:r>
            <a:endParaRPr lang="en-US" altLang="ko-KR" i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063309A-D33F-011B-B5F9-A8088B362EE2}"/>
              </a:ext>
            </a:extLst>
          </p:cNvPr>
          <p:cNvSpPr txBox="1"/>
          <p:nvPr/>
        </p:nvSpPr>
        <p:spPr bwMode="auto">
          <a:xfrm>
            <a:off x="2779560" y="6393096"/>
            <a:ext cx="3824880" cy="2308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내부 경영</a:t>
            </a:r>
            <a:r>
              <a:rPr lang="en-US" altLang="ko-KR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·</a:t>
            </a:r>
            <a:r>
              <a:rPr lang="ko-KR" altLang="en-US" sz="9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업무 지원 시스템 로그인</a:t>
            </a:r>
            <a:endParaRPr lang="ko-KR" altLang="en-US" sz="90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AE2A660-61F8-F21C-11C8-A759D8AB96FF}"/>
              </a:ext>
            </a:extLst>
          </p:cNvPr>
          <p:cNvSpPr txBox="1"/>
          <p:nvPr/>
        </p:nvSpPr>
        <p:spPr bwMode="auto">
          <a:xfrm>
            <a:off x="3876955" y="1861853"/>
            <a:ext cx="1622123" cy="2616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altLang="ko-KR" sz="1100" i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PIN </a:t>
            </a:r>
            <a:r>
              <a:rPr lang="ko-KR" altLang="en-US" sz="1100" i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번호 인증</a:t>
            </a:r>
            <a:endParaRPr lang="en-US" altLang="ko-KR" sz="1100" i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B6CEF1A8-5550-6309-ED91-CF90AA4F73E7}"/>
              </a:ext>
            </a:extLst>
          </p:cNvPr>
          <p:cNvGrpSpPr/>
          <p:nvPr/>
        </p:nvGrpSpPr>
        <p:grpSpPr>
          <a:xfrm>
            <a:off x="6472498" y="3859916"/>
            <a:ext cx="2808000" cy="1636364"/>
            <a:chOff x="5075077" y="11660360"/>
            <a:chExt cx="2808000" cy="1800000"/>
          </a:xfrm>
        </p:grpSpPr>
        <p:sp>
          <p:nvSpPr>
            <p:cNvPr id="4" name="사각형: 둥근 모서리 3">
              <a:extLst>
                <a:ext uri="{FF2B5EF4-FFF2-40B4-BE49-F238E27FC236}">
                  <a16:creationId xmlns:a16="http://schemas.microsoft.com/office/drawing/2014/main" id="{39AEC5CA-0DCE-1B33-8EF0-01474EB8F743}"/>
                </a:ext>
              </a:extLst>
            </p:cNvPr>
            <p:cNvSpPr/>
            <p:nvPr/>
          </p:nvSpPr>
          <p:spPr>
            <a:xfrm>
              <a:off x="5075077" y="11660360"/>
              <a:ext cx="2808000" cy="1800000"/>
            </a:xfrm>
            <a:prstGeom prst="roundRect">
              <a:avLst>
                <a:gd name="adj" fmla="val 6660"/>
              </a:avLst>
            </a:prstGeom>
            <a:solidFill>
              <a:schemeClr val="bg1"/>
            </a:solidFill>
          </p:spPr>
          <p:txBody>
            <a:bodyPr wrap="square" rtlCol="0" anchor="ctr">
              <a:noAutofit/>
            </a:bodyPr>
            <a:lstStyle/>
            <a:p>
              <a:pPr algn="l"/>
              <a:endParaRPr kumimoji="0" lang="ko-KR" altLang="en-US" sz="9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FBA24A5-75AF-400C-1F65-59EF7C791630}"/>
                </a:ext>
              </a:extLst>
            </p:cNvPr>
            <p:cNvSpPr txBox="1"/>
            <p:nvPr/>
          </p:nvSpPr>
          <p:spPr bwMode="auto">
            <a:xfrm>
              <a:off x="5198159" y="11822890"/>
              <a:ext cx="2347952" cy="28777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>
                <a:buNone/>
              </a:pPr>
              <a:r>
                <a:rPr lang="en-US" altLang="ko-KR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PIN </a:t>
              </a:r>
              <a:r>
                <a:rPr lang="ko-KR" altLang="en-US" sz="1100">
                  <a:solidFill>
                    <a:schemeClr val="tx1">
                      <a:lumMod val="75000"/>
                      <a:lumOff val="25000"/>
                    </a:schemeClr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번호 인증</a:t>
              </a:r>
              <a:endParaRPr lang="en-US" altLang="ko-KR" sz="1100">
                <a:solidFill>
                  <a:schemeClr val="tx1">
                    <a:lumMod val="75000"/>
                    <a:lumOff val="25000"/>
                  </a:schemeClr>
                </a:solidFill>
                <a:latin typeface="Noto Sans KR" panose="020B0200000000000000" pitchFamily="50" charset="-127"/>
                <a:ea typeface="Noto Sans KR" panose="020B0200000000000000" pitchFamily="50" charset="-127"/>
              </a:endParaRP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D25E4DF0-C6E2-996A-1F31-996E1E7F4C79}"/>
                </a:ext>
              </a:extLst>
            </p:cNvPr>
            <p:cNvGrpSpPr/>
            <p:nvPr/>
          </p:nvGrpSpPr>
          <p:grpSpPr>
            <a:xfrm>
              <a:off x="7546111" y="11852929"/>
              <a:ext cx="100766" cy="100766"/>
              <a:chOff x="3912160" y="-747000"/>
              <a:chExt cx="216000" cy="216000"/>
            </a:xfrm>
          </p:grpSpPr>
          <p:cxnSp>
            <p:nvCxnSpPr>
              <p:cNvPr id="18" name="직선 연결선 17">
                <a:extLst>
                  <a:ext uri="{FF2B5EF4-FFF2-40B4-BE49-F238E27FC236}">
                    <a16:creationId xmlns:a16="http://schemas.microsoft.com/office/drawing/2014/main" id="{7C385271-C32B-9A38-74AF-C8B80A74E76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912160" y="-747000"/>
                <a:ext cx="216000" cy="21600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직선 연결선 19">
                <a:extLst>
                  <a:ext uri="{FF2B5EF4-FFF2-40B4-BE49-F238E27FC236}">
                    <a16:creationId xmlns:a16="http://schemas.microsoft.com/office/drawing/2014/main" id="{E9BA79B0-F8AF-5CE4-3FF5-E6452E36087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912160" y="-747000"/>
                <a:ext cx="216000" cy="216000"/>
              </a:xfrm>
              <a:prstGeom prst="line">
                <a:avLst/>
              </a:prstGeom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D0C541D-53FE-4D93-B1B2-68EBBBF85B20}"/>
                </a:ext>
              </a:extLst>
            </p:cNvPr>
            <p:cNvSpPr txBox="1"/>
            <p:nvPr/>
          </p:nvSpPr>
          <p:spPr bwMode="auto">
            <a:xfrm>
              <a:off x="5387066" y="12664571"/>
              <a:ext cx="2159045" cy="44012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ko-KR" altLang="en-US" sz="1000">
                  <a:solidFill>
                    <a:srgbClr val="33333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비밀번호 </a:t>
              </a:r>
              <a:r>
                <a:rPr lang="en-US" altLang="ko-KR" sz="1000">
                  <a:solidFill>
                    <a:srgbClr val="33333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5</a:t>
              </a:r>
              <a:r>
                <a:rPr lang="ko-KR" altLang="en-US" sz="1000">
                  <a:solidFill>
                    <a:srgbClr val="33333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회 입력 실패로 </a:t>
              </a:r>
            </a:p>
            <a:p>
              <a:pPr algn="ctr"/>
              <a:r>
                <a:rPr lang="ko-KR" altLang="en-US" sz="1000">
                  <a:solidFill>
                    <a:srgbClr val="33333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비밀번호 재설정이 필요합니다</a:t>
              </a:r>
              <a:r>
                <a:rPr lang="en-US" altLang="ko-KR" sz="1000">
                  <a:solidFill>
                    <a:srgbClr val="333333"/>
                  </a:solidFill>
                  <a:latin typeface="Noto Sans KR" panose="020B0200000000000000" pitchFamily="50" charset="-127"/>
                  <a:ea typeface="Noto Sans KR" panose="020B0200000000000000" pitchFamily="50" charset="-127"/>
                </a:rPr>
                <a:t>. </a:t>
              </a:r>
            </a:p>
          </p:txBody>
        </p:sp>
      </p:grpSp>
      <p:pic>
        <p:nvPicPr>
          <p:cNvPr id="21" name="그림 20">
            <a:extLst>
              <a:ext uri="{FF2B5EF4-FFF2-40B4-BE49-F238E27FC236}">
                <a16:creationId xmlns:a16="http://schemas.microsoft.com/office/drawing/2014/main" id="{B6A9C531-14CB-DEA7-79BE-F0033DB64BC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4051" y="4505581"/>
            <a:ext cx="231009" cy="231009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08ED7326-4446-1D19-7F9D-62027FAE88ED}"/>
              </a:ext>
            </a:extLst>
          </p:cNvPr>
          <p:cNvSpPr txBox="1"/>
          <p:nvPr/>
        </p:nvSpPr>
        <p:spPr bwMode="auto">
          <a:xfrm>
            <a:off x="7039723" y="5173115"/>
            <a:ext cx="1784335" cy="21544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8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관리자에게 문의하세요</a:t>
            </a:r>
            <a:r>
              <a:rPr lang="en-US" altLang="ko-KR" sz="8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80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768631B-96E3-8204-9C4D-C9834585BB23}"/>
              </a:ext>
            </a:extLst>
          </p:cNvPr>
          <p:cNvSpPr txBox="1"/>
          <p:nvPr/>
        </p:nvSpPr>
        <p:spPr bwMode="auto">
          <a:xfrm>
            <a:off x="2779560" y="1216907"/>
            <a:ext cx="3824880" cy="215444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8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PC</a:t>
            </a:r>
            <a:r>
              <a:rPr lang="en-US" altLang="ko-KR" sz="8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/ Mobile Web</a:t>
            </a:r>
            <a:r>
              <a:rPr lang="ko-KR" altLang="en-US" sz="800" b="0">
                <a:solidFill>
                  <a:srgbClr val="333333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 에</a:t>
            </a:r>
            <a:r>
              <a:rPr lang="ko-KR" altLang="en-US" sz="8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서 </a:t>
            </a:r>
            <a:r>
              <a:rPr lang="en-US" altLang="ko-KR" sz="8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OTP </a:t>
            </a:r>
            <a:r>
              <a:rPr lang="ko-KR" altLang="en-US" sz="8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인증을 요청하는 상황을 가정합니다</a:t>
            </a:r>
            <a:r>
              <a:rPr lang="en-US" altLang="ko-KR" sz="8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.</a:t>
            </a:r>
            <a:endParaRPr lang="ko-KR" altLang="en-US" sz="80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FE8384-486C-E367-1DCB-05A97A431EFF}"/>
              </a:ext>
            </a:extLst>
          </p:cNvPr>
          <p:cNvSpPr txBox="1"/>
          <p:nvPr/>
        </p:nvSpPr>
        <p:spPr bwMode="auto">
          <a:xfrm>
            <a:off x="3648000" y="4274163"/>
            <a:ext cx="568544" cy="30777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7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전체</a:t>
            </a:r>
            <a:endParaRPr lang="en-US" altLang="ko-KR" sz="700" b="0" i="0">
              <a:solidFill>
                <a:srgbClr val="333333"/>
              </a:solidFill>
              <a:effectLst/>
              <a:latin typeface="Noto Sans KR" panose="020B0200000000000000" pitchFamily="50" charset="-127"/>
              <a:ea typeface="Noto Sans KR" panose="020B0200000000000000" pitchFamily="50" charset="-127"/>
            </a:endParaRPr>
          </a:p>
          <a:p>
            <a:pPr algn="ctr"/>
            <a:r>
              <a:rPr lang="ko-KR" altLang="en-US" sz="700" b="0" i="0">
                <a:solidFill>
                  <a:srgbClr val="333333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삭제</a:t>
            </a:r>
            <a:endParaRPr lang="ko-KR" altLang="en-US" sz="700"/>
          </a:p>
        </p:txBody>
      </p:sp>
      <p:graphicFrame>
        <p:nvGraphicFramePr>
          <p:cNvPr id="31" name="Group 87">
            <a:extLst>
              <a:ext uri="{FF2B5EF4-FFF2-40B4-BE49-F238E27FC236}">
                <a16:creationId xmlns:a16="http://schemas.microsoft.com/office/drawing/2014/main" id="{678377C1-5C6F-436A-EF40-46BAB66ABA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5873655"/>
              </p:ext>
            </p:extLst>
          </p:nvPr>
        </p:nvGraphicFramePr>
        <p:xfrm>
          <a:off x="9491386" y="520961"/>
          <a:ext cx="2698234" cy="5413538"/>
        </p:xfrm>
        <a:graphic>
          <a:graphicData uri="http://schemas.openxmlformats.org/drawingml/2006/table">
            <a:tbl>
              <a:tblPr/>
              <a:tblGrid>
                <a:gridCol w="1743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3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5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0040">
                <a:tc gridSpan="2"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No.</a:t>
                      </a:r>
                      <a:endParaRPr kumimoji="0" lang="ko-KR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ko-KR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Component</a:t>
                      </a:r>
                      <a:endParaRPr kumimoji="0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Descriptions</a:t>
                      </a:r>
                      <a:endParaRPr kumimoji="0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069"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600" dirty="0">
                        <a:latin typeface="+mn-ea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임시 </a:t>
                      </a:r>
                      <a:r>
                        <a:rPr kumimoji="0" lang="en-US" altLang="ko-KR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OTP PIN</a:t>
                      </a:r>
                      <a:r>
                        <a:rPr kumimoji="0" lang="ko-KR" altLang="en-US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입력 페이지 </a:t>
                      </a:r>
                      <a:endParaRPr kumimoji="0" lang="en-US" altLang="ko-KR" sz="6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18036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1</a:t>
                      </a: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Button</a:t>
                      </a:r>
                      <a:endParaRPr kumimoji="0" lang="en-US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[&lt; ] </a:t>
                      </a:r>
                      <a:r>
                        <a:rPr kumimoji="0" lang="ko-KR" altLang="en-US" sz="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버튼 클릭 시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임시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OTP PIN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인증 승인 완료 페이지 로 이동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뒤로가기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5434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-</a:t>
                      </a: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2</a:t>
                      </a:r>
                      <a:endParaRPr kumimoji="0" lang="ko-KR" altLang="ko-KR" sz="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정보요소</a:t>
                      </a:r>
                      <a:endParaRPr kumimoji="0" lang="en-US" altLang="ko-KR" sz="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상태 정보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페이지 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** </a:t>
                      </a:r>
                      <a:r>
                        <a:rPr kumimoji="0" lang="ko-KR" altLang="en-US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새로고침 시 상태 변경 확인 가능</a:t>
                      </a:r>
                      <a:endParaRPr kumimoji="0" lang="en-US" altLang="ko-KR" sz="6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관리자 승인 전 </a:t>
                      </a:r>
                      <a:endParaRPr kumimoji="0" lang="en-US" altLang="ko-KR" sz="6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임시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OTP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대기중입니다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.</a:t>
                      </a: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사원명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|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사원정보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|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사원휴대폰번호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[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 승인 대기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상태값 표기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 1-3 [OTP PIN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버튼 비활성화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전체 삭제 </a:t>
                      </a:r>
                      <a:endParaRPr kumimoji="0" lang="en-US" altLang="ko-KR" sz="6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클릭 시 입력한 값 모두 삭제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,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초기화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800"/>
                        <a:t>← </a:t>
                      </a:r>
                      <a:r>
                        <a:rPr kumimoji="0" lang="ko-KR" altLang="en-US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전</a:t>
                      </a:r>
                      <a:endParaRPr kumimoji="0" lang="en-US" altLang="ko-KR" sz="6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클릭 시 입력한 값 순차적으로 초기화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171450" marR="0" lvl="0" indent="-17145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600" b="1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숫자 패드</a:t>
                      </a:r>
                      <a:endParaRPr kumimoji="0" lang="en-US" altLang="ko-KR" sz="600" b="1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-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클릭 시 입력 수 에 맞춰 인디케이터 영역에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다른색상으로 채워짐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- 6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자리 입력 후 인증 성공 시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0" lang="ko-KR" altLang="en-US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인증에 성공했습니다</a:t>
                      </a:r>
                      <a:r>
                        <a:rPr kumimoji="0" lang="en-US" altLang="ko-KR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.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Toast Message 2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초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유지 후 메인 페이지로지로 진입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(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후속 프로세스 진입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- 6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자리 입력 후 인증 실패 시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입력칸 초기화 후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 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인디케이터 영역 아래 오류 메시지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altLang="ko-KR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ko-KR" altLang="en-US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회 실패 </a:t>
                      </a:r>
                      <a:endParaRPr kumimoji="0" lang="en-US" altLang="ko-KR" sz="600" b="0" i="0" u="sng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0" lang="ko-KR" altLang="en-US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시 </a:t>
                      </a:r>
                      <a:r>
                        <a:rPr kumimoji="0" lang="en-US" altLang="ko-KR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OTP PIN </a:t>
                      </a:r>
                      <a:r>
                        <a:rPr kumimoji="0" lang="ko-KR" altLang="en-US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번호를 재설정해야합니다</a:t>
                      </a:r>
                      <a:r>
                        <a:rPr kumimoji="0" lang="en-US" altLang="ko-KR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(N/5)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표기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    </a:t>
                      </a:r>
                      <a:r>
                        <a:rPr kumimoji="0" lang="en-US" altLang="ko-KR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- 6</a:t>
                      </a:r>
                      <a:r>
                        <a:rPr kumimoji="0" lang="ko-KR" altLang="en-US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자리 입력 실패를 </a:t>
                      </a:r>
                      <a:r>
                        <a:rPr kumimoji="0" lang="en-US" altLang="ko-KR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ko-KR" altLang="en-US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회 했을 경우 비밀번호 </a:t>
                      </a:r>
                      <a:r>
                        <a:rPr kumimoji="0" lang="en-US" altLang="ko-KR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5</a:t>
                      </a:r>
                      <a:r>
                        <a:rPr kumimoji="0" lang="ko-KR" altLang="en-US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회 입력 실패로  비밀번호 재설정이 필요합니다</a:t>
                      </a:r>
                      <a:r>
                        <a:rPr kumimoji="0" lang="en-US" altLang="ko-KR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. </a:t>
                      </a:r>
                      <a:r>
                        <a:rPr kumimoji="0" lang="ko-KR" altLang="en-US" sz="600" b="0" i="0" u="sng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관리자에게 문의하세요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확인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] Alert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후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[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확인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]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또는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[X] 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버튼 클릭 시 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OTP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 발급 인증 페이지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초기화면</a:t>
                      </a:r>
                      <a:r>
                        <a:rPr kumimoji="0" lang="en-US" altLang="ko-KR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)</a:t>
                      </a:r>
                      <a:r>
                        <a:rPr kumimoji="0" lang="ko-KR" altLang="en-US" sz="600" b="0" i="0" u="none" strike="noStrike" kern="1200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맑은 고딕" pitchFamily="50" charset="-127"/>
                          <a:ea typeface="+mn-ea"/>
                          <a:cs typeface="+mn-cs"/>
                        </a:rPr>
                        <a:t>으로 진입</a:t>
                      </a: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1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0" lang="en-US" altLang="ko-KR" sz="6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8644" marR="0" marT="38677" marB="38677" anchor="ctr" horzOverflow="overflow">
                    <a:lnL w="3175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24872046"/>
                  </a:ext>
                </a:extLst>
              </a:tr>
              <a:tr h="285223">
                <a:tc gridSpan="4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+mn-ea"/>
                        </a:rPr>
                        <a:t>REMARK</a:t>
                      </a: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맑은 고딕" pitchFamily="50" charset="-127"/>
                        <a:ea typeface="+mn-ea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9557">
                <a:tc gridSpan="4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5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6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5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en-US" altLang="ko-KR" sz="5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+mn-ea"/>
                        <a:cs typeface="+mn-cs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6896">
                <a:tc gridSpan="4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0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FEEDBACK</a:t>
                      </a:r>
                      <a:endParaRPr kumimoji="0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5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171450" marR="0" lvl="0" indent="-171450" algn="l" defTabSz="852488" rtl="0" eaLnBrk="0" fontAlgn="base" latinLnBrk="1" hangingPunct="0">
                        <a:lnSpc>
                          <a:spcPct val="10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Arial" panose="020B0604020202020204" pitchFamily="34" charset="0"/>
                        <a:buChar char="•"/>
                        <a:tabLst/>
                      </a:pPr>
                      <a:endParaRPr kumimoji="0" lang="ko-KR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BE5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12700" cmpd="sng">
                      <a:noFill/>
                      <a:prstDash val="solid"/>
                    </a:lnL>
                    <a:lnT w="12700" cap="flat" cmpd="sng" algn="ctr">
                      <a:solidFill>
                        <a:srgbClr val="D1D1D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76000">
                <a:tc gridSpan="4">
                  <a:txBody>
                    <a:bodyPr/>
                    <a:lstStyle/>
                    <a:p>
                      <a:pPr marL="0" marR="0" lvl="0" indent="0" algn="l" defTabSz="852488" rtl="0" eaLnBrk="0" fontAlgn="base" latinLnBrk="1" hangingPunct="0">
                        <a:lnSpc>
                          <a:spcPct val="15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+mj-lt"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852488" rtl="0" eaLnBrk="0" fontAlgn="base" latinLnBrk="1" hangingPunct="0">
                        <a:lnSpc>
                          <a:spcPct val="150000"/>
                        </a:lnSpc>
                        <a:spcBef>
                          <a:spcPct val="70000"/>
                        </a:spcBef>
                        <a:spcAft>
                          <a:spcPct val="0"/>
                        </a:spcAft>
                        <a:buClrTx/>
                        <a:buSzPct val="70000"/>
                        <a:buFont typeface="+mj-lt"/>
                        <a:buNone/>
                        <a:tabLst/>
                      </a:pPr>
                      <a:endParaRPr kumimoji="0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accent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ash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ys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EBF7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38644" marR="0" marT="38677" marB="38677" anchor="ctr" horzOverflow="overflow"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32" name="직사각형 31">
            <a:extLst>
              <a:ext uri="{FF2B5EF4-FFF2-40B4-BE49-F238E27FC236}">
                <a16:creationId xmlns:a16="http://schemas.microsoft.com/office/drawing/2014/main" id="{EA5F8583-8CB6-D8A7-FB3E-EA1D161FDA21}"/>
              </a:ext>
            </a:extLst>
          </p:cNvPr>
          <p:cNvSpPr/>
          <p:nvPr/>
        </p:nvSpPr>
        <p:spPr>
          <a:xfrm>
            <a:off x="3361473" y="1660457"/>
            <a:ext cx="2636750" cy="3064543"/>
          </a:xfrm>
          <a:prstGeom prst="rect">
            <a:avLst/>
          </a:prstGeom>
          <a:noFill/>
          <a:ln>
            <a:solidFill>
              <a:srgbClr val="00B050"/>
            </a:solidFill>
            <a:prstDash val="sysDot"/>
          </a:ln>
        </p:spPr>
        <p:txBody>
          <a:bodyPr wrap="square" rtlCol="0" anchor="ctr">
            <a:noAutofit/>
          </a:bodyPr>
          <a:lstStyle/>
          <a:p>
            <a:pPr algn="l"/>
            <a:endParaRPr kumimoji="0" lang="ko-KR" altLang="en-US" sz="9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E5940E4-0E9F-2F31-32AE-FA584C536919}"/>
              </a:ext>
            </a:extLst>
          </p:cNvPr>
          <p:cNvSpPr/>
          <p:nvPr/>
        </p:nvSpPr>
        <p:spPr>
          <a:xfrm>
            <a:off x="3422433" y="1873818"/>
            <a:ext cx="401583" cy="254480"/>
          </a:xfrm>
          <a:prstGeom prst="rect">
            <a:avLst/>
          </a:prstGeom>
          <a:noFill/>
          <a:ln>
            <a:solidFill>
              <a:srgbClr val="00B050"/>
            </a:solidFill>
            <a:prstDash val="sysDot"/>
          </a:ln>
        </p:spPr>
        <p:txBody>
          <a:bodyPr wrap="square" rtlCol="0" anchor="ctr">
            <a:noAutofit/>
          </a:bodyPr>
          <a:lstStyle/>
          <a:p>
            <a:pPr algn="l"/>
            <a:endParaRPr kumimoji="0" lang="ko-KR" altLang="en-US" sz="9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4" name="모서리가 둥근 직사각형 209">
            <a:extLst>
              <a:ext uri="{FF2B5EF4-FFF2-40B4-BE49-F238E27FC236}">
                <a16:creationId xmlns:a16="http://schemas.microsoft.com/office/drawing/2014/main" id="{0BF3E7BA-5FBC-8318-F202-971EAED83CC8}"/>
              </a:ext>
            </a:extLst>
          </p:cNvPr>
          <p:cNvSpPr/>
          <p:nvPr/>
        </p:nvSpPr>
        <p:spPr>
          <a:xfrm>
            <a:off x="3146601" y="1866991"/>
            <a:ext cx="280468" cy="1414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700" b="0">
                <a:latin typeface="+mn-ea"/>
              </a:rPr>
              <a:t>1-1</a:t>
            </a:r>
            <a:endParaRPr lang="ko-KR" altLang="en-US" sz="700" b="0" dirty="0">
              <a:latin typeface="+mn-ea"/>
            </a:endParaRPr>
          </a:p>
        </p:txBody>
      </p:sp>
      <p:sp>
        <p:nvSpPr>
          <p:cNvPr id="35" name="모서리가 둥근 직사각형 209">
            <a:extLst>
              <a:ext uri="{FF2B5EF4-FFF2-40B4-BE49-F238E27FC236}">
                <a16:creationId xmlns:a16="http://schemas.microsoft.com/office/drawing/2014/main" id="{9B38CBA1-11F5-2F3B-5E84-66B00DD86776}"/>
              </a:ext>
            </a:extLst>
          </p:cNvPr>
          <p:cNvSpPr/>
          <p:nvPr/>
        </p:nvSpPr>
        <p:spPr>
          <a:xfrm>
            <a:off x="3361473" y="1667862"/>
            <a:ext cx="231272" cy="1661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700" b="0">
                <a:latin typeface="+mn-ea"/>
              </a:rPr>
              <a:t>1</a:t>
            </a:r>
            <a:endParaRPr lang="ko-KR" altLang="en-US" sz="700" b="0" dirty="0">
              <a:latin typeface="+mn-ea"/>
            </a:endParaRPr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18D6B40B-B638-6D5F-E1ED-0646523BC4AA}"/>
              </a:ext>
            </a:extLst>
          </p:cNvPr>
          <p:cNvSpPr/>
          <p:nvPr/>
        </p:nvSpPr>
        <p:spPr>
          <a:xfrm>
            <a:off x="3549433" y="2529138"/>
            <a:ext cx="2186567" cy="2123862"/>
          </a:xfrm>
          <a:prstGeom prst="rect">
            <a:avLst/>
          </a:prstGeom>
          <a:noFill/>
          <a:ln>
            <a:solidFill>
              <a:srgbClr val="00B050"/>
            </a:solidFill>
            <a:prstDash val="sysDot"/>
          </a:ln>
        </p:spPr>
        <p:txBody>
          <a:bodyPr wrap="square" rtlCol="0" anchor="ctr">
            <a:noAutofit/>
          </a:bodyPr>
          <a:lstStyle/>
          <a:p>
            <a:pPr algn="l"/>
            <a:endParaRPr kumimoji="0" lang="ko-KR" altLang="en-US" sz="9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8" name="모서리가 둥근 직사각형 209">
            <a:extLst>
              <a:ext uri="{FF2B5EF4-FFF2-40B4-BE49-F238E27FC236}">
                <a16:creationId xmlns:a16="http://schemas.microsoft.com/office/drawing/2014/main" id="{4250BA9E-896A-45B3-D9B0-4423B5AECCAB}"/>
              </a:ext>
            </a:extLst>
          </p:cNvPr>
          <p:cNvSpPr/>
          <p:nvPr/>
        </p:nvSpPr>
        <p:spPr>
          <a:xfrm>
            <a:off x="3558476" y="2513926"/>
            <a:ext cx="280468" cy="14142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r>
              <a:rPr lang="en-US" altLang="ko-KR" sz="700" b="0">
                <a:latin typeface="+mn-ea"/>
              </a:rPr>
              <a:t>1-2</a:t>
            </a:r>
            <a:endParaRPr lang="ko-KR" altLang="en-US" sz="700" b="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9936634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</a:spPr>
      <a:bodyPr wrap="square" rtlCol="0" anchor="ctr">
        <a:spAutoFit/>
      </a:bodyPr>
      <a:lstStyle>
        <a:defPPr algn="l">
          <a:defRPr kumimoji="0" sz="900" dirty="0" err="1">
            <a:solidFill>
              <a:schemeClr val="tx1"/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spDef>
    <a:txDef>
      <a:spPr bwMode="auto">
        <a:noFill/>
        <a:ln w="9525">
          <a:noFill/>
        </a:ln>
      </a:spPr>
      <a:bodyPr wrap="square" lIns="72000" tIns="36000" rIns="72000" bIns="36000">
        <a:spAutoFit/>
      </a:bodyPr>
      <a:lstStyle>
        <a:defPPr algn="l" fontAlgn="auto" latinLnBrk="0">
          <a:spcBef>
            <a:spcPts val="0"/>
          </a:spcBef>
          <a:spcAft>
            <a:spcPts val="0"/>
          </a:spcAft>
          <a:defRPr sz="600" b="0" kern="0" spc="-100" dirty="0" err="1" smtClean="0">
            <a:ln>
              <a:solidFill>
                <a:srgbClr val="D9D9D9">
                  <a:alpha val="0"/>
                </a:srgbClr>
              </a:solidFill>
            </a:ln>
            <a:solidFill>
              <a:schemeClr val="tx1">
                <a:lumMod val="50000"/>
                <a:lumOff val="50000"/>
              </a:schemeClr>
            </a:solidFill>
            <a:latin typeface="+mn-ea"/>
            <a:ea typeface="+mn-ea"/>
            <a:cs typeface="Arial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5922</TotalTime>
  <Words>4687</Words>
  <Application>Microsoft Office PowerPoint</Application>
  <PresentationFormat>와이드스크린</PresentationFormat>
  <Paragraphs>1467</Paragraphs>
  <Slides>19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7" baseType="lpstr">
      <vt:lpstr>Noto Sans KR</vt:lpstr>
      <vt:lpstr>Pretendard</vt:lpstr>
      <vt:lpstr>굴림</vt:lpstr>
      <vt:lpstr>맑은 고딕</vt:lpstr>
      <vt:lpstr>Arial</vt:lpstr>
      <vt:lpstr>Segoe UI</vt:lpstr>
      <vt:lpstr>Wingdings</vt:lpstr>
      <vt:lpstr>1_Office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이복음</dc:creator>
  <cp:lastModifiedBy>이 복음</cp:lastModifiedBy>
  <cp:revision>143</cp:revision>
  <dcterms:created xsi:type="dcterms:W3CDTF">2021-12-13T04:03:10Z</dcterms:created>
  <dcterms:modified xsi:type="dcterms:W3CDTF">2025-12-12T05:22:45Z</dcterms:modified>
</cp:coreProperties>
</file>